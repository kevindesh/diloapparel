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47"/>
  </p:notesMasterIdLst>
  <p:sldIdLst>
    <p:sldId id="390" r:id="rId2"/>
    <p:sldId id="389" r:id="rId3"/>
    <p:sldId id="257" r:id="rId4"/>
    <p:sldId id="314" r:id="rId5"/>
    <p:sldId id="263" r:id="rId6"/>
    <p:sldId id="315" r:id="rId7"/>
    <p:sldId id="316" r:id="rId8"/>
    <p:sldId id="317" r:id="rId9"/>
    <p:sldId id="319" r:id="rId10"/>
    <p:sldId id="320" r:id="rId11"/>
    <p:sldId id="391" r:id="rId12"/>
    <p:sldId id="392" r:id="rId13"/>
    <p:sldId id="393" r:id="rId14"/>
    <p:sldId id="321" r:id="rId15"/>
    <p:sldId id="386" r:id="rId16"/>
    <p:sldId id="325" r:id="rId17"/>
    <p:sldId id="326" r:id="rId18"/>
    <p:sldId id="328" r:id="rId19"/>
    <p:sldId id="327" r:id="rId20"/>
    <p:sldId id="329" r:id="rId21"/>
    <p:sldId id="330" r:id="rId22"/>
    <p:sldId id="332" r:id="rId23"/>
    <p:sldId id="340" r:id="rId24"/>
    <p:sldId id="341" r:id="rId25"/>
    <p:sldId id="342" r:id="rId26"/>
    <p:sldId id="343" r:id="rId27"/>
    <p:sldId id="344" r:id="rId28"/>
    <p:sldId id="346" r:id="rId29"/>
    <p:sldId id="367" r:id="rId30"/>
    <p:sldId id="368" r:id="rId31"/>
    <p:sldId id="369" r:id="rId32"/>
    <p:sldId id="347" r:id="rId33"/>
    <p:sldId id="345" r:id="rId34"/>
    <p:sldId id="348" r:id="rId35"/>
    <p:sldId id="351" r:id="rId36"/>
    <p:sldId id="350" r:id="rId37"/>
    <p:sldId id="352" r:id="rId38"/>
    <p:sldId id="353" r:id="rId39"/>
    <p:sldId id="354" r:id="rId40"/>
    <p:sldId id="358" r:id="rId41"/>
    <p:sldId id="359" r:id="rId42"/>
    <p:sldId id="360" r:id="rId43"/>
    <p:sldId id="361" r:id="rId44"/>
    <p:sldId id="362" r:id="rId45"/>
    <p:sldId id="363" r:id="rId4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816" userDrawn="1">
          <p15:clr>
            <a:srgbClr val="A4A3A4"/>
          </p15:clr>
        </p15:guide>
        <p15:guide id="2" pos="2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3E3"/>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6" autoAdjust="0"/>
    <p:restoredTop sz="96408" autoAdjust="0"/>
  </p:normalViewPr>
  <p:slideViewPr>
    <p:cSldViewPr>
      <p:cViewPr varScale="1">
        <p:scale>
          <a:sx n="84" d="100"/>
          <a:sy n="84" d="100"/>
        </p:scale>
        <p:origin x="1158" y="54"/>
      </p:cViewPr>
      <p:guideLst>
        <p:guide orient="horz" pos="816"/>
        <p:guide pos="2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7577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757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578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7578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F06089B-A18B-42EE-A5B7-9ADFD56020F0}" type="slidenum">
              <a:rPr lang="en-US" altLang="en-US"/>
              <a:pPr/>
              <a:t>‹#›</a:t>
            </a:fld>
            <a:endParaRPr lang="en-US" altLang="en-US"/>
          </a:p>
        </p:txBody>
      </p:sp>
    </p:spTree>
    <p:extLst>
      <p:ext uri="{BB962C8B-B14F-4D97-AF65-F5344CB8AC3E}">
        <p14:creationId xmlns:p14="http://schemas.microsoft.com/office/powerpoint/2010/main" val="247776700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DDA5E8-8C8A-45D2-900C-38DCD629ADF3}" type="slidenum">
              <a:rPr lang="en-US" altLang="en-US"/>
              <a:pPr/>
              <a:t>3</a:t>
            </a:fld>
            <a:endParaRPr lang="en-US" altLang="en-US"/>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77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4"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5" name="Footer Placeholder 3"/>
          <p:cNvSpPr>
            <a:spLocks noGrp="1"/>
          </p:cNvSpPr>
          <p:nvPr>
            <p:ph type="ftr" sz="quarter" idx="3"/>
          </p:nvPr>
        </p:nvSpPr>
        <p:spPr>
          <a:xfrm>
            <a:off x="0" y="6244046"/>
            <a:ext cx="7391400" cy="457200"/>
          </a:xfrm>
          <a:prstGeom prst="rect">
            <a:avLst/>
          </a:prstGeom>
        </p:spPr>
        <p:txBody>
          <a:bodyPr/>
          <a:lstStyle>
            <a:lvl1pPr algn="l">
              <a:defRPr sz="1200"/>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317971369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11">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4"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5" name="Footer Placeholder 3"/>
          <p:cNvSpPr>
            <a:spLocks noGrp="1"/>
          </p:cNvSpPr>
          <p:nvPr>
            <p:ph type="ftr" sz="quarter" idx="3"/>
          </p:nvPr>
        </p:nvSpPr>
        <p:spPr>
          <a:xfrm>
            <a:off x="0" y="6244046"/>
            <a:ext cx="7391400" cy="457200"/>
          </a:xfrm>
          <a:prstGeom prst="rect">
            <a:avLst/>
          </a:prstGeom>
        </p:spPr>
        <p:txBody>
          <a:bodyPr/>
          <a:lstStyle>
            <a:lvl1pPr algn="l">
              <a:defRPr sz="1200"/>
            </a:lvl1pPr>
          </a:lstStyle>
          <a:p>
            <a:r>
              <a:rPr lang="en-US" altLang="en-US" dirty="0"/>
              <a:t>Systems Analysis and Design in a Changing World, 7th Edition – Chapter 4 ©2016. Cengage Learning. All rights reserved.</a:t>
            </a:r>
          </a:p>
        </p:txBody>
      </p:sp>
      <p:sp>
        <p:nvSpPr>
          <p:cNvPr id="7" name="Content Placeholder 6"/>
          <p:cNvSpPr>
            <a:spLocks noGrp="1"/>
          </p:cNvSpPr>
          <p:nvPr>
            <p:ph sz="quarter" idx="10"/>
          </p:nvPr>
        </p:nvSpPr>
        <p:spPr>
          <a:xfrm>
            <a:off x="730250" y="3581400"/>
            <a:ext cx="7681913"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663713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
        <p:nvSpPr>
          <p:cNvPr id="5"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6" name="Footer Placeholder 3"/>
          <p:cNvSpPr>
            <a:spLocks noGrp="1"/>
          </p:cNvSpPr>
          <p:nvPr>
            <p:ph type="ftr" sz="quarter" idx="3"/>
          </p:nvPr>
        </p:nvSpPr>
        <p:spPr>
          <a:xfrm>
            <a:off x="0" y="6244046"/>
            <a:ext cx="7391400" cy="457200"/>
          </a:xfrm>
          <a:prstGeom prst="rect">
            <a:avLst/>
          </a:prstGeom>
        </p:spPr>
        <p:txBody>
          <a:bodyPr/>
          <a:lstStyle>
            <a:lvl1pPr algn="l">
              <a:defRPr sz="1200"/>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403728333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4"/>
          <p:cNvSpPr>
            <a:spLocks noGrp="1"/>
          </p:cNvSpPr>
          <p:nvPr>
            <p:ph type="sldNum" sz="quarter" idx="4"/>
          </p:nvPr>
        </p:nvSpPr>
        <p:spPr>
          <a:xfrm>
            <a:off x="7848600" y="6248400"/>
            <a:ext cx="838200" cy="457200"/>
          </a:xfrm>
          <a:prstGeom prst="rect">
            <a:avLst/>
          </a:prstGeom>
        </p:spPr>
        <p:txBody>
          <a:bodyPr/>
          <a:lstStyle>
            <a:lvl1pPr>
              <a:defRPr sz="1200">
                <a:latin typeface="+mn-lt"/>
              </a:defRPr>
            </a:lvl1pPr>
          </a:lstStyle>
          <a:p>
            <a:fld id="{009A3541-B7EF-4A1D-9612-A6ED665B4012}" type="slidenum">
              <a:rPr lang="en-US" altLang="en-US" smtClean="0"/>
              <a:pPr/>
              <a:t>‹#›</a:t>
            </a:fld>
            <a:endParaRPr lang="en-US" altLang="en-US" dirty="0"/>
          </a:p>
        </p:txBody>
      </p:sp>
      <p:sp>
        <p:nvSpPr>
          <p:cNvPr id="5" name="Footer Placeholder 3"/>
          <p:cNvSpPr>
            <a:spLocks noGrp="1"/>
          </p:cNvSpPr>
          <p:nvPr>
            <p:ph type="ftr" sz="quarter" idx="3"/>
          </p:nvPr>
        </p:nvSpPr>
        <p:spPr>
          <a:xfrm>
            <a:off x="0" y="6244046"/>
            <a:ext cx="7391400" cy="457200"/>
          </a:xfrm>
          <a:prstGeom prst="rect">
            <a:avLst/>
          </a:prstGeom>
        </p:spPr>
        <p:txBody>
          <a:bodyPr/>
          <a:lstStyle>
            <a:lvl1pPr algn="l">
              <a:defRPr sz="1200">
                <a:latin typeface="+mn-lt"/>
              </a:defRPr>
            </a:lvl1pPr>
          </a:lstStyle>
          <a:p>
            <a:r>
              <a:rPr lang="en-US" altLang="en-US" dirty="0"/>
              <a:t>Systems Analysis and Design in a Changing World, 7th Edition – Chapter 4 ©2016. Cengage Learning. All rights reserved.</a:t>
            </a:r>
          </a:p>
        </p:txBody>
      </p:sp>
      <p:sp>
        <p:nvSpPr>
          <p:cNvPr id="7" name="Content Placeholder 6"/>
          <p:cNvSpPr>
            <a:spLocks noGrp="1"/>
          </p:cNvSpPr>
          <p:nvPr>
            <p:ph sz="quarter" idx="11"/>
          </p:nvPr>
        </p:nvSpPr>
        <p:spPr>
          <a:xfrm>
            <a:off x="381000" y="3733800"/>
            <a:ext cx="8382000" cy="443198"/>
          </a:xfrm>
        </p:spPr>
        <p:txBody>
          <a:bodyPr/>
          <a:lstStyle/>
          <a:p>
            <a:pPr lvl="0"/>
            <a:endParaRPr lang="en-IN" dirty="0"/>
          </a:p>
        </p:txBody>
      </p:sp>
      <p:sp>
        <p:nvSpPr>
          <p:cNvPr id="8" name="Content Placeholder 6"/>
          <p:cNvSpPr>
            <a:spLocks noGrp="1"/>
          </p:cNvSpPr>
          <p:nvPr>
            <p:ph sz="quarter" idx="12"/>
          </p:nvPr>
        </p:nvSpPr>
        <p:spPr>
          <a:xfrm>
            <a:off x="389462" y="4428067"/>
            <a:ext cx="8382000" cy="443198"/>
          </a:xfrm>
        </p:spPr>
        <p:txBody>
          <a:bodyPr/>
          <a:lstStyle/>
          <a:p>
            <a:pPr lvl="0"/>
            <a:endParaRPr lang="en-IN" dirty="0"/>
          </a:p>
        </p:txBody>
      </p:sp>
      <p:sp>
        <p:nvSpPr>
          <p:cNvPr id="9" name="Content Placeholder 6"/>
          <p:cNvSpPr>
            <a:spLocks noGrp="1"/>
          </p:cNvSpPr>
          <p:nvPr>
            <p:ph sz="quarter" idx="13"/>
          </p:nvPr>
        </p:nvSpPr>
        <p:spPr>
          <a:xfrm>
            <a:off x="389467" y="4969934"/>
            <a:ext cx="8382000" cy="443198"/>
          </a:xfrm>
        </p:spPr>
        <p:txBody>
          <a:bodyPr/>
          <a:lstStyle/>
          <a:p>
            <a:pPr lvl="0"/>
            <a:endParaRPr lang="en-IN" dirty="0"/>
          </a:p>
        </p:txBody>
      </p:sp>
      <p:sp>
        <p:nvSpPr>
          <p:cNvPr id="10" name="Content Placeholder 6"/>
          <p:cNvSpPr>
            <a:spLocks noGrp="1"/>
          </p:cNvSpPr>
          <p:nvPr>
            <p:ph sz="quarter" idx="14"/>
          </p:nvPr>
        </p:nvSpPr>
        <p:spPr>
          <a:xfrm>
            <a:off x="389467" y="5520268"/>
            <a:ext cx="8382000" cy="443198"/>
          </a:xfrm>
        </p:spPr>
        <p:txBody>
          <a:bodyPr/>
          <a:lstStyle/>
          <a:p>
            <a:pPr lvl="0"/>
            <a:endParaRPr lang="en-IN" dirty="0"/>
          </a:p>
        </p:txBody>
      </p:sp>
    </p:spTree>
    <p:extLst>
      <p:ext uri="{BB962C8B-B14F-4D97-AF65-F5344CB8AC3E}">
        <p14:creationId xmlns:p14="http://schemas.microsoft.com/office/powerpoint/2010/main" val="96958662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and Content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381000" y="1411552"/>
            <a:ext cx="8382000" cy="2113912"/>
          </a:xfrm>
        </p:spPr>
        <p:txBody>
          <a:bodyPr/>
          <a:lstStyle>
            <a:lvl1pPr marL="291600" indent="-291600">
              <a:lnSpc>
                <a:spcPct val="90000"/>
              </a:lnSpc>
              <a:spcBef>
                <a:spcPts val="1000"/>
              </a:spcBef>
              <a:defRPr/>
            </a:lvl1pPr>
            <a:lvl2pPr indent="-291600">
              <a:lnSpc>
                <a:spcPct val="90000"/>
              </a:lnSpc>
              <a:spcBef>
                <a:spcPts val="500"/>
              </a:spcBef>
              <a:defRPr/>
            </a:lvl2pPr>
            <a:lvl3pPr>
              <a:lnSpc>
                <a:spcPct val="90000"/>
              </a:lnSpc>
              <a:defRPr/>
            </a:lvl3pPr>
            <a:lvl4pPr>
              <a:lnSpc>
                <a:spcPct val="90000"/>
              </a:lnSpc>
              <a:defRPr/>
            </a:lvl4pPr>
            <a:lvl5pPr>
              <a:lnSpc>
                <a:spcPct val="9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4"/>
          <p:cNvSpPr>
            <a:spLocks noGrp="1"/>
          </p:cNvSpPr>
          <p:nvPr>
            <p:ph type="sldNum" sz="quarter" idx="4"/>
          </p:nvPr>
        </p:nvSpPr>
        <p:spPr>
          <a:xfrm>
            <a:off x="7848600" y="6248400"/>
            <a:ext cx="838200" cy="457200"/>
          </a:xfrm>
          <a:prstGeom prst="rect">
            <a:avLst/>
          </a:prstGeom>
        </p:spPr>
        <p:txBody>
          <a:bodyPr/>
          <a:lstStyle>
            <a:lvl1pPr>
              <a:defRPr sz="1200">
                <a:latin typeface="+mn-lt"/>
              </a:defRPr>
            </a:lvl1pPr>
          </a:lstStyle>
          <a:p>
            <a:fld id="{009A3541-B7EF-4A1D-9612-A6ED665B4012}" type="slidenum">
              <a:rPr lang="en-US" altLang="en-US" smtClean="0"/>
              <a:pPr/>
              <a:t>‹#›</a:t>
            </a:fld>
            <a:endParaRPr lang="en-US" altLang="en-US" dirty="0"/>
          </a:p>
        </p:txBody>
      </p:sp>
      <p:sp>
        <p:nvSpPr>
          <p:cNvPr id="5" name="Footer Placeholder 3"/>
          <p:cNvSpPr>
            <a:spLocks noGrp="1"/>
          </p:cNvSpPr>
          <p:nvPr>
            <p:ph type="ftr" sz="quarter" idx="3"/>
          </p:nvPr>
        </p:nvSpPr>
        <p:spPr>
          <a:xfrm>
            <a:off x="0" y="6244046"/>
            <a:ext cx="7391400" cy="457200"/>
          </a:xfrm>
          <a:prstGeom prst="rect">
            <a:avLst/>
          </a:prstGeom>
        </p:spPr>
        <p:txBody>
          <a:bodyPr/>
          <a:lstStyle>
            <a:lvl1pPr algn="l">
              <a:defRPr sz="1200">
                <a:latin typeface="+mn-lt"/>
              </a:defRPr>
            </a:lvl1pPr>
          </a:lstStyle>
          <a:p>
            <a:r>
              <a:rPr lang="en-US" altLang="en-US" dirty="0"/>
              <a:t>Systems Analysis and Design in a Changing World, 7th Edition – Chapter 4 ©2016. Cengage Learning. All rights reserved.</a:t>
            </a:r>
          </a:p>
        </p:txBody>
      </p:sp>
      <p:sp>
        <p:nvSpPr>
          <p:cNvPr id="7" name="Content Placeholder 6"/>
          <p:cNvSpPr>
            <a:spLocks noGrp="1"/>
          </p:cNvSpPr>
          <p:nvPr>
            <p:ph sz="quarter" idx="11"/>
          </p:nvPr>
        </p:nvSpPr>
        <p:spPr>
          <a:xfrm>
            <a:off x="381000" y="3733800"/>
            <a:ext cx="8382000" cy="2135969"/>
          </a:xfrm>
        </p:spPr>
        <p:txBody>
          <a:bodyPr/>
          <a:lstStyle>
            <a:lvl1pPr marL="291600" indent="-291600">
              <a:spcBef>
                <a:spcPts val="1000"/>
              </a:spcBef>
              <a:defRPr/>
            </a:lvl1pPr>
            <a:lvl2pPr indent="-291600">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p:cNvSpPr>
            <a:spLocks noGrp="1"/>
          </p:cNvSpPr>
          <p:nvPr>
            <p:ph sz="quarter" idx="12"/>
          </p:nvPr>
        </p:nvSpPr>
        <p:spPr>
          <a:xfrm>
            <a:off x="381000" y="4419600"/>
            <a:ext cx="8382000" cy="2135969"/>
          </a:xfrm>
        </p:spPr>
        <p:txBody>
          <a:bodyPr/>
          <a:lstStyle>
            <a:lvl1pPr marL="291600" indent="-291600">
              <a:spcBef>
                <a:spcPts val="1000"/>
              </a:spcBef>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3824712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1000" y="1412875"/>
            <a:ext cx="8382000" cy="2113912"/>
          </a:xfrm>
        </p:spPr>
        <p:txBody>
          <a:bodyPr/>
          <a:lstStyle>
            <a:lvl1pPr marL="291600" indent="-291600">
              <a:lnSpc>
                <a:spcPct val="90000"/>
              </a:lnSpc>
              <a:spcBef>
                <a:spcPts val="1000"/>
              </a:spcBef>
              <a:defRPr/>
            </a:lvl1pPr>
            <a:lvl2pPr indent="-291600">
              <a:lnSpc>
                <a:spcPct val="90000"/>
              </a:lnSpc>
              <a:spcBef>
                <a:spcPts val="500"/>
              </a:spcBef>
              <a:defRPr/>
            </a:lvl2pPr>
            <a:lvl3pPr>
              <a:lnSpc>
                <a:spcPct val="90000"/>
              </a:lnSpc>
              <a:defRPr/>
            </a:lvl3pPr>
            <a:lvl4pPr>
              <a:lnSpc>
                <a:spcPct val="90000"/>
              </a:lnSpc>
              <a:defRPr/>
            </a:lvl4pPr>
            <a:lvl5pPr>
              <a:lnSpc>
                <a:spcPct val="9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4"/>
          <p:cNvSpPr>
            <a:spLocks noGrp="1"/>
          </p:cNvSpPr>
          <p:nvPr>
            <p:ph type="sldNum" sz="quarter" idx="4"/>
          </p:nvPr>
        </p:nvSpPr>
        <p:spPr>
          <a:xfrm>
            <a:off x="7848600" y="6248400"/>
            <a:ext cx="838200" cy="457200"/>
          </a:xfrm>
          <a:prstGeom prst="rect">
            <a:avLst/>
          </a:prstGeom>
        </p:spPr>
        <p:txBody>
          <a:bodyPr/>
          <a:lstStyle>
            <a:lvl1pPr>
              <a:defRPr sz="1200">
                <a:latin typeface="+mn-lt"/>
              </a:defRPr>
            </a:lvl1pPr>
          </a:lstStyle>
          <a:p>
            <a:fld id="{009A3541-B7EF-4A1D-9612-A6ED665B4012}" type="slidenum">
              <a:rPr lang="en-US" altLang="en-US" smtClean="0"/>
              <a:pPr/>
              <a:t>‹#›</a:t>
            </a:fld>
            <a:endParaRPr lang="en-US" altLang="en-US" dirty="0"/>
          </a:p>
        </p:txBody>
      </p:sp>
      <p:sp>
        <p:nvSpPr>
          <p:cNvPr id="5" name="Footer Placeholder 3"/>
          <p:cNvSpPr>
            <a:spLocks noGrp="1"/>
          </p:cNvSpPr>
          <p:nvPr>
            <p:ph type="ftr" sz="quarter" idx="3"/>
          </p:nvPr>
        </p:nvSpPr>
        <p:spPr>
          <a:xfrm>
            <a:off x="0" y="6244046"/>
            <a:ext cx="7620000" cy="457200"/>
          </a:xfrm>
          <a:prstGeom prst="rect">
            <a:avLst/>
          </a:prstGeom>
        </p:spPr>
        <p:txBody>
          <a:bodyPr/>
          <a:lstStyle>
            <a:lvl1pPr algn="l">
              <a:defRPr sz="1200">
                <a:latin typeface="+mn-lt"/>
              </a:defRPr>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60773382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p:cNvSpPr>
            <a:spLocks noGrp="1"/>
          </p:cNvSpPr>
          <p:nvPr>
            <p:ph type="sldNum" sz="quarter" idx="4"/>
          </p:nvPr>
        </p:nvSpPr>
        <p:spPr>
          <a:xfrm>
            <a:off x="7848600" y="6248400"/>
            <a:ext cx="838200" cy="457200"/>
          </a:xfrm>
          <a:prstGeom prst="rect">
            <a:avLst/>
          </a:prstGeom>
        </p:spPr>
        <p:txBody>
          <a:bodyPr/>
          <a:lstStyle>
            <a:lvl1pPr>
              <a:defRPr sz="1200">
                <a:latin typeface="+mn-lt"/>
              </a:defRPr>
            </a:lvl1pPr>
          </a:lstStyle>
          <a:p>
            <a:fld id="{009A3541-B7EF-4A1D-9612-A6ED665B4012}" type="slidenum">
              <a:rPr lang="en-US" altLang="en-US" smtClean="0"/>
              <a:pPr/>
              <a:t>‹#›</a:t>
            </a:fld>
            <a:endParaRPr lang="en-US" altLang="en-US" dirty="0"/>
          </a:p>
        </p:txBody>
      </p:sp>
      <p:sp>
        <p:nvSpPr>
          <p:cNvPr id="6" name="Footer Placeholder 3"/>
          <p:cNvSpPr>
            <a:spLocks noGrp="1"/>
          </p:cNvSpPr>
          <p:nvPr>
            <p:ph type="ftr" sz="quarter" idx="3"/>
          </p:nvPr>
        </p:nvSpPr>
        <p:spPr>
          <a:xfrm>
            <a:off x="0" y="6244046"/>
            <a:ext cx="7696200" cy="457200"/>
          </a:xfrm>
          <a:prstGeom prst="rect">
            <a:avLst/>
          </a:prstGeom>
        </p:spPr>
        <p:txBody>
          <a:bodyPr/>
          <a:lstStyle>
            <a:lvl1pPr algn="l">
              <a:defRPr sz="1200">
                <a:latin typeface="+mn-lt"/>
              </a:defRPr>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388696427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p:cNvSpPr>
            <a:spLocks noGrp="1"/>
          </p:cNvSpPr>
          <p:nvPr>
            <p:ph type="sldNum" sz="quarter" idx="10"/>
          </p:nvPr>
        </p:nvSpPr>
        <p:spPr>
          <a:xfrm>
            <a:off x="7848600" y="6248400"/>
            <a:ext cx="838200" cy="457200"/>
          </a:xfrm>
          <a:prstGeom prst="rect">
            <a:avLst/>
          </a:prstGeom>
        </p:spPr>
        <p:txBody>
          <a:bodyPr/>
          <a:lstStyle>
            <a:lvl1pPr>
              <a:defRPr sz="1200">
                <a:latin typeface="+mn-lt"/>
              </a:defRPr>
            </a:lvl1pPr>
          </a:lstStyle>
          <a:p>
            <a:fld id="{009A3541-B7EF-4A1D-9612-A6ED665B4012}" type="slidenum">
              <a:rPr lang="en-US" altLang="en-US" smtClean="0"/>
              <a:pPr/>
              <a:t>‹#›</a:t>
            </a:fld>
            <a:endParaRPr lang="en-US" altLang="en-US" dirty="0"/>
          </a:p>
        </p:txBody>
      </p:sp>
      <p:sp>
        <p:nvSpPr>
          <p:cNvPr id="8" name="Footer Placeholder 3"/>
          <p:cNvSpPr>
            <a:spLocks noGrp="1"/>
          </p:cNvSpPr>
          <p:nvPr>
            <p:ph type="ftr" sz="quarter" idx="11"/>
          </p:nvPr>
        </p:nvSpPr>
        <p:spPr>
          <a:xfrm>
            <a:off x="0" y="6244046"/>
            <a:ext cx="7620000" cy="457200"/>
          </a:xfrm>
          <a:prstGeom prst="rect">
            <a:avLst/>
          </a:prstGeom>
        </p:spPr>
        <p:txBody>
          <a:bodyPr/>
          <a:lstStyle>
            <a:lvl1pPr algn="l">
              <a:defRPr sz="1200">
                <a:latin typeface="+mn-lt"/>
              </a:defRPr>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427383250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4" name="Footer Placeholder 3"/>
          <p:cNvSpPr>
            <a:spLocks noGrp="1"/>
          </p:cNvSpPr>
          <p:nvPr>
            <p:ph type="ftr" sz="quarter" idx="3"/>
          </p:nvPr>
        </p:nvSpPr>
        <p:spPr>
          <a:xfrm>
            <a:off x="0" y="6244046"/>
            <a:ext cx="7391400" cy="457200"/>
          </a:xfrm>
          <a:prstGeom prst="rect">
            <a:avLst/>
          </a:prstGeom>
        </p:spPr>
        <p:txBody>
          <a:bodyPr/>
          <a:lstStyle>
            <a:lvl1pPr algn="l">
              <a:defRPr sz="1200"/>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61253880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3" name="Footer Placeholder 3"/>
          <p:cNvSpPr>
            <a:spLocks noGrp="1"/>
          </p:cNvSpPr>
          <p:nvPr>
            <p:ph type="ftr" sz="quarter" idx="3"/>
          </p:nvPr>
        </p:nvSpPr>
        <p:spPr>
          <a:xfrm>
            <a:off x="0" y="6244046"/>
            <a:ext cx="7391400" cy="457200"/>
          </a:xfrm>
          <a:prstGeom prst="rect">
            <a:avLst/>
          </a:prstGeom>
        </p:spPr>
        <p:txBody>
          <a:bodyPr/>
          <a:lstStyle>
            <a:lvl1pPr algn="ctr">
              <a:defRPr sz="1200"/>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374215164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
        <p:nvSpPr>
          <p:cNvPr id="2"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3" name="Footer Placeholder 3"/>
          <p:cNvSpPr>
            <a:spLocks noGrp="1"/>
          </p:cNvSpPr>
          <p:nvPr>
            <p:ph type="ftr" sz="quarter" idx="3"/>
          </p:nvPr>
        </p:nvSpPr>
        <p:spPr>
          <a:xfrm>
            <a:off x="0" y="6244046"/>
            <a:ext cx="7391400" cy="457200"/>
          </a:xfrm>
          <a:prstGeom prst="rect">
            <a:avLst/>
          </a:prstGeom>
        </p:spPr>
        <p:txBody>
          <a:bodyPr/>
          <a:lstStyle>
            <a:lvl1pPr algn="l">
              <a:defRPr sz="1200"/>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277112376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0623819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223771727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
        <p:nvSpPr>
          <p:cNvPr id="5"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6" name="Footer Placeholder 3"/>
          <p:cNvSpPr>
            <a:spLocks noGrp="1"/>
          </p:cNvSpPr>
          <p:nvPr>
            <p:ph type="ftr" sz="quarter" idx="3"/>
          </p:nvPr>
        </p:nvSpPr>
        <p:spPr>
          <a:xfrm>
            <a:off x="0" y="6244046"/>
            <a:ext cx="7391400" cy="457200"/>
          </a:xfrm>
          <a:prstGeom prst="rect">
            <a:avLst/>
          </a:prstGeom>
        </p:spPr>
        <p:txBody>
          <a:bodyPr/>
          <a:lstStyle>
            <a:lvl1pPr algn="l">
              <a:defRPr sz="1200"/>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279181569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11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
        <p:nvSpPr>
          <p:cNvPr id="5"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6" name="Footer Placeholder 3"/>
          <p:cNvSpPr>
            <a:spLocks noGrp="1"/>
          </p:cNvSpPr>
          <p:nvPr>
            <p:ph type="ftr" sz="quarter" idx="3"/>
          </p:nvPr>
        </p:nvSpPr>
        <p:spPr>
          <a:xfrm>
            <a:off x="0" y="6244046"/>
            <a:ext cx="7391400" cy="457200"/>
          </a:xfrm>
          <a:prstGeom prst="rect">
            <a:avLst/>
          </a:prstGeom>
        </p:spPr>
        <p:txBody>
          <a:bodyPr/>
          <a:lstStyle>
            <a:lvl1pPr algn="l">
              <a:defRPr sz="1200"/>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640375734"/>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7" name="Footer Placeholder 3"/>
          <p:cNvSpPr>
            <a:spLocks noGrp="1"/>
          </p:cNvSpPr>
          <p:nvPr>
            <p:ph type="ftr" sz="quarter" idx="3"/>
          </p:nvPr>
        </p:nvSpPr>
        <p:spPr>
          <a:xfrm>
            <a:off x="0" y="6244046"/>
            <a:ext cx="7391400" cy="457200"/>
          </a:xfrm>
          <a:prstGeom prst="rect">
            <a:avLst/>
          </a:prstGeom>
        </p:spPr>
        <p:txBody>
          <a:bodyPr/>
          <a:lstStyle>
            <a:lvl1pPr algn="l">
              <a:defRPr sz="1200"/>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3203749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67160"/>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4"/>
          <p:cNvSpPr>
            <a:spLocks noGrp="1"/>
          </p:cNvSpPr>
          <p:nvPr>
            <p:ph type="sldNum" sz="quarter" idx="4"/>
          </p:nvPr>
        </p:nvSpPr>
        <p:spPr>
          <a:xfrm>
            <a:off x="7848600" y="6248400"/>
            <a:ext cx="838200" cy="457200"/>
          </a:xfrm>
          <a:prstGeom prst="rect">
            <a:avLst/>
          </a:prstGeom>
        </p:spPr>
        <p:txBody>
          <a:bodyPr/>
          <a:lstStyle>
            <a:lvl1pPr>
              <a:defRPr sz="1200">
                <a:latin typeface="+mn-lt"/>
                <a:cs typeface="Arial" panose="020B0604020202020204" pitchFamily="34" charset="0"/>
              </a:defRPr>
            </a:lvl1pPr>
          </a:lstStyle>
          <a:p>
            <a:fld id="{009A3541-B7EF-4A1D-9612-A6ED665B4012}" type="slidenum">
              <a:rPr lang="en-US" altLang="en-US" smtClean="0"/>
              <a:pPr/>
              <a:t>‹#›</a:t>
            </a:fld>
            <a:endParaRPr lang="en-US" altLang="en-US" dirty="0"/>
          </a:p>
        </p:txBody>
      </p:sp>
      <p:sp>
        <p:nvSpPr>
          <p:cNvPr id="9" name="Footer Placeholder 3"/>
          <p:cNvSpPr>
            <a:spLocks noGrp="1"/>
          </p:cNvSpPr>
          <p:nvPr>
            <p:ph type="ftr" sz="quarter" idx="3"/>
          </p:nvPr>
        </p:nvSpPr>
        <p:spPr>
          <a:xfrm>
            <a:off x="0" y="6244046"/>
            <a:ext cx="7391400" cy="457200"/>
          </a:xfrm>
          <a:prstGeom prst="rect">
            <a:avLst/>
          </a:prstGeom>
        </p:spPr>
        <p:txBody>
          <a:bodyPr/>
          <a:lstStyle>
            <a:lvl1pPr algn="l">
              <a:defRPr sz="1200">
                <a:latin typeface="+mn-lt"/>
              </a:defRPr>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600762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4876800"/>
            <a:ext cx="8229600" cy="125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248400"/>
            <a:ext cx="1219200" cy="457200"/>
          </a:xfrm>
          <a:prstGeom prst="rect">
            <a:avLst/>
          </a:prstGeom>
        </p:spPr>
        <p:txBody>
          <a:bodyPr/>
          <a:lstStyle>
            <a:lvl1pPr>
              <a:defRPr/>
            </a:lvl1pPr>
          </a:lstStyle>
          <a:p>
            <a:endParaRPr lang="en-US" altLang="en-US"/>
          </a:p>
        </p:txBody>
      </p:sp>
      <p:sp>
        <p:nvSpPr>
          <p:cNvPr id="4" name="Footer Placeholder 3"/>
          <p:cNvSpPr>
            <a:spLocks noGrp="1"/>
          </p:cNvSpPr>
          <p:nvPr>
            <p:ph type="ftr" sz="quarter" idx="11"/>
          </p:nvPr>
        </p:nvSpPr>
        <p:spPr>
          <a:xfrm>
            <a:off x="1828800" y="6248400"/>
            <a:ext cx="5486400" cy="457200"/>
          </a:xfrm>
          <a:prstGeom prst="rect">
            <a:avLst/>
          </a:prstGeom>
        </p:spPr>
        <p:txBody>
          <a:bodyPr/>
          <a:lstStyle>
            <a:lvl1pPr>
              <a:defRPr/>
            </a:lvl1pPr>
          </a:lstStyle>
          <a:p>
            <a:r>
              <a:rPr lang="en-US" altLang="en-US" dirty="0"/>
              <a:t>Systems Analysis and Design in a Changing World, 7th Edition - Chapter 2 ©2016. Cengage Learning. All rights reserved.</a:t>
            </a:r>
          </a:p>
        </p:txBody>
      </p:sp>
      <p:sp>
        <p:nvSpPr>
          <p:cNvPr id="5" name="Slide Number Placeholder 4"/>
          <p:cNvSpPr>
            <a:spLocks noGrp="1"/>
          </p:cNvSpPr>
          <p:nvPr>
            <p:ph type="sldNum" sz="quarter" idx="12"/>
          </p:nvPr>
        </p:nvSpPr>
        <p:spPr>
          <a:xfrm>
            <a:off x="7543800" y="6248400"/>
            <a:ext cx="1143000" cy="457200"/>
          </a:xfrm>
          <a:prstGeom prst="rect">
            <a:avLst/>
          </a:prstGeom>
        </p:spPr>
        <p:txBody>
          <a:bodyPr/>
          <a:lstStyle>
            <a:lvl1pPr>
              <a:defRPr/>
            </a:lvl1pPr>
          </a:lstStyle>
          <a:p>
            <a:fld id="{D006E8F6-261F-4622-BD5D-ACCA7F648234}" type="slidenum">
              <a:rPr lang="en-US" altLang="en-US"/>
              <a:pPr/>
              <a:t>‹#›</a:t>
            </a:fld>
            <a:endParaRPr lang="en-US" altLang="en-US"/>
          </a:p>
        </p:txBody>
      </p:sp>
      <p:pic>
        <p:nvPicPr>
          <p:cNvPr id="6" name="Content Placeholder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212" y="-109204"/>
            <a:ext cx="8329044" cy="6244612"/>
          </a:xfrm>
          <a:prstGeom prst="rect">
            <a:avLst/>
          </a:prstGeom>
        </p:spPr>
      </p:pic>
      <p:sp>
        <p:nvSpPr>
          <p:cNvPr id="7" name="Title 6"/>
          <p:cNvSpPr>
            <a:spLocks noGrp="1"/>
          </p:cNvSpPr>
          <p:nvPr>
            <p:ph type="title"/>
          </p:nvPr>
        </p:nvSpPr>
        <p:spPr>
          <a:xfrm>
            <a:off x="381000" y="2667000"/>
            <a:ext cx="8382000" cy="881063"/>
          </a:xfrm>
        </p:spPr>
        <p:txBody>
          <a:bodyPr/>
          <a:lstStyle/>
          <a:p>
            <a:r>
              <a:rPr lang="en-US" dirty="0"/>
              <a:t>Click to edit Master title style</a:t>
            </a:r>
            <a:endParaRPr lang="en-IN" dirty="0"/>
          </a:p>
        </p:txBody>
      </p:sp>
    </p:spTree>
    <p:extLst>
      <p:ext uri="{BB962C8B-B14F-4D97-AF65-F5344CB8AC3E}">
        <p14:creationId xmlns:p14="http://schemas.microsoft.com/office/powerpoint/2010/main" val="4214328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pic>
        <p:nvPicPr>
          <p:cNvPr id="7" name="Picture 25" descr="7-00029_BAK_v03TOP"/>
          <p:cNvPicPr>
            <a:picLocks noChangeAspect="1" noChangeArrowheads="1"/>
          </p:cNvPicPr>
          <p:nvPr/>
        </p:nvPicPr>
        <p:blipFill>
          <a:blip r:embed="rId21"/>
          <a:srcRect/>
          <a:stretch>
            <a:fillRect/>
          </a:stretch>
        </p:blipFill>
        <p:spPr bwMode="auto">
          <a:xfrm>
            <a:off x="-15875" y="6008687"/>
            <a:ext cx="9159875" cy="849313"/>
          </a:xfrm>
          <a:prstGeom prst="rect">
            <a:avLst/>
          </a:prstGeom>
          <a:noFill/>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4"/>
          <p:cNvSpPr>
            <a:spLocks noGrp="1"/>
          </p:cNvSpPr>
          <p:nvPr>
            <p:ph type="sldNum" sz="quarter" idx="4"/>
          </p:nvPr>
        </p:nvSpPr>
        <p:spPr>
          <a:xfrm>
            <a:off x="7848600" y="6248400"/>
            <a:ext cx="838200" cy="457200"/>
          </a:xfrm>
          <a:prstGeom prst="rect">
            <a:avLst/>
          </a:prstGeom>
        </p:spPr>
        <p:txBody>
          <a:bodyPr/>
          <a:lstStyle>
            <a:lvl1pPr>
              <a:defRPr sz="1200"/>
            </a:lvl1pPr>
          </a:lstStyle>
          <a:p>
            <a:fld id="{009A3541-B7EF-4A1D-9612-A6ED665B4012}" type="slidenum">
              <a:rPr lang="en-US" altLang="en-US" smtClean="0"/>
              <a:pPr/>
              <a:t>‹#›</a:t>
            </a:fld>
            <a:endParaRPr lang="en-US" altLang="en-US"/>
          </a:p>
        </p:txBody>
      </p:sp>
      <p:sp>
        <p:nvSpPr>
          <p:cNvPr id="8" name="Footer Placeholder 3"/>
          <p:cNvSpPr>
            <a:spLocks noGrp="1"/>
          </p:cNvSpPr>
          <p:nvPr>
            <p:ph type="ftr" sz="quarter" idx="3"/>
          </p:nvPr>
        </p:nvSpPr>
        <p:spPr>
          <a:xfrm>
            <a:off x="0" y="6244046"/>
            <a:ext cx="7391400" cy="457200"/>
          </a:xfrm>
          <a:prstGeom prst="rect">
            <a:avLst/>
          </a:prstGeom>
        </p:spPr>
        <p:txBody>
          <a:bodyPr/>
          <a:lstStyle>
            <a:lvl1pPr algn="l">
              <a:defRPr sz="1200"/>
            </a:lvl1p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3762201094"/>
      </p:ext>
    </p:extLst>
  </p:cSld>
  <p:clrMap bg1="lt1" tx1="dk1" bg2="lt2" tx2="dk2" accent1="accent1" accent2="accent2" accent3="accent3" accent4="accent4" accent5="accent5" accent6="accent6" hlink="hlink" folHlink="folHlink"/>
  <p:sldLayoutIdLst>
    <p:sldLayoutId id="2147483695" r:id="rId1"/>
    <p:sldLayoutId id="2147483711" r:id="rId2"/>
    <p:sldLayoutId id="2147483696" r:id="rId3"/>
    <p:sldLayoutId id="2147483697" r:id="rId4"/>
    <p:sldLayoutId id="2147483709"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10" r:id="rId15"/>
    <p:sldLayoutId id="2147483707" r:id="rId16"/>
    <p:sldLayoutId id="2147483708" r:id="rId17"/>
    <p:sldLayoutId id="2147483712" r:id="rId18"/>
  </p:sldLayoutIdLst>
  <p:transition>
    <p:fade/>
  </p:transition>
  <p:hf hdr="0" dt="0"/>
  <p:txStyles>
    <p:title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22"/>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23"/>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23"/>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23"/>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23"/>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3952586"/>
            <a:ext cx="2743200" cy="553998"/>
          </a:xfrm>
        </p:spPr>
        <p:txBody>
          <a:bodyPr/>
          <a:lstStyle/>
          <a:p>
            <a:pPr marL="0" indent="0">
              <a:buNone/>
            </a:pPr>
            <a:r>
              <a:rPr lang="en-US" altLang="en-US" sz="4000" dirty="0">
                <a:solidFill>
                  <a:schemeClr val="tx1"/>
                </a:solidFill>
                <a:effectLst/>
              </a:rPr>
              <a:t>Chapter 4</a:t>
            </a:r>
            <a:endParaRPr lang="en-IN" sz="4000" dirty="0">
              <a:solidFill>
                <a:schemeClr val="tx1"/>
              </a:solidFill>
              <a:effectLst/>
            </a:endParaRPr>
          </a:p>
        </p:txBody>
      </p:sp>
      <p:sp>
        <p:nvSpPr>
          <p:cNvPr id="2" name="Content Placeholder 1"/>
          <p:cNvSpPr>
            <a:spLocks noGrp="1"/>
          </p:cNvSpPr>
          <p:nvPr>
            <p:ph/>
          </p:nvPr>
        </p:nvSpPr>
        <p:spPr>
          <a:xfrm>
            <a:off x="76200" y="6324600"/>
            <a:ext cx="7620000" cy="157653"/>
          </a:xfrm>
        </p:spPr>
        <p:txBody>
          <a:bodyPr/>
          <a:lstStyle/>
          <a:p>
            <a:pPr marL="0" indent="0">
              <a:buNone/>
            </a:pPr>
            <a:r>
              <a:rPr lang="en-IN" sz="1200" dirty="0"/>
              <a:t>Systems Analysis and Design in a Changing World, 7th Edition - Chapter 4 ©2016. Cengage Learning. All rights reserved.</a:t>
            </a:r>
          </a:p>
        </p:txBody>
      </p:sp>
      <p:sp>
        <p:nvSpPr>
          <p:cNvPr id="4" name="Slide Number Placeholder 3"/>
          <p:cNvSpPr>
            <a:spLocks noGrp="1"/>
          </p:cNvSpPr>
          <p:nvPr>
            <p:ph type="sldNum" sz="quarter" idx="12"/>
          </p:nvPr>
        </p:nvSpPr>
        <p:spPr>
          <a:xfrm>
            <a:off x="7848600" y="6256946"/>
            <a:ext cx="533400" cy="457200"/>
          </a:xfrm>
        </p:spPr>
        <p:txBody>
          <a:bodyPr/>
          <a:lstStyle/>
          <a:p>
            <a:fld id="{D006E8F6-261F-4622-BD5D-ACCA7F648234}" type="slidenum">
              <a:rPr lang="en-US" altLang="en-US" smtClean="0">
                <a:latin typeface="+mn-lt"/>
              </a:rPr>
              <a:pPr/>
              <a:t>1</a:t>
            </a:fld>
            <a:endParaRPr lang="en-US" altLang="en-US" dirty="0">
              <a:latin typeface="+mn-lt"/>
            </a:endParaRPr>
          </a:p>
        </p:txBody>
      </p:sp>
    </p:spTree>
    <p:extLst>
      <p:ext uri="{BB962C8B-B14F-4D97-AF65-F5344CB8AC3E}">
        <p14:creationId xmlns:p14="http://schemas.microsoft.com/office/powerpoint/2010/main" val="2817167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ctrTitle"/>
          </p:nvPr>
        </p:nvSpPr>
        <p:spPr>
          <a:xfrm>
            <a:off x="934377" y="618479"/>
            <a:ext cx="7010400" cy="609600"/>
          </a:xfrm>
        </p:spPr>
        <p:txBody>
          <a:bodyPr/>
          <a:lstStyle/>
          <a:p>
            <a:pPr algn="ctr"/>
            <a:r>
              <a:rPr lang="en-US" altLang="en-US" sz="4000" spc="0" dirty="0">
                <a:solidFill>
                  <a:schemeClr val="tx1"/>
                </a:solidFill>
                <a:effectLst/>
              </a:rPr>
              <a:t>Domain Modeling</a:t>
            </a:r>
          </a:p>
        </p:txBody>
      </p:sp>
      <p:sp>
        <p:nvSpPr>
          <p:cNvPr id="4" name="Content Placeholder 3"/>
          <p:cNvSpPr>
            <a:spLocks noGrp="1"/>
          </p:cNvSpPr>
          <p:nvPr>
            <p:ph sz="quarter" idx="10"/>
          </p:nvPr>
        </p:nvSpPr>
        <p:spPr>
          <a:xfrm>
            <a:off x="996757" y="2016973"/>
            <a:ext cx="6051550" cy="615553"/>
          </a:xfrm>
        </p:spPr>
        <p:txBody>
          <a:bodyPr/>
          <a:lstStyle/>
          <a:p>
            <a:pPr marL="0" lvl="0" indent="0" algn="ctr" defTabSz="914400" fontAlgn="base">
              <a:lnSpc>
                <a:spcPct val="100000"/>
              </a:lnSpc>
              <a:spcBef>
                <a:spcPct val="0"/>
              </a:spcBef>
              <a:spcAft>
                <a:spcPct val="0"/>
              </a:spcAft>
              <a:buNone/>
            </a:pPr>
            <a:r>
              <a:rPr lang="en-US" altLang="en-US" sz="4000" b="1" dirty="0">
                <a:solidFill>
                  <a:schemeClr val="tx2"/>
                </a:solidFill>
                <a:cs typeface="Arial" panose="020B0604020202020204" pitchFamily="34" charset="0"/>
              </a:rPr>
              <a:t>Chapter 4</a:t>
            </a:r>
          </a:p>
        </p:txBody>
      </p:sp>
      <p:sp>
        <p:nvSpPr>
          <p:cNvPr id="67587" name="Rectangle 3"/>
          <p:cNvSpPr>
            <a:spLocks noGrp="1" noChangeArrowheads="1"/>
          </p:cNvSpPr>
          <p:nvPr>
            <p:ph type="subTitle" idx="1"/>
          </p:nvPr>
        </p:nvSpPr>
        <p:spPr>
          <a:xfrm>
            <a:off x="1758796" y="3668066"/>
            <a:ext cx="5114741" cy="1141412"/>
          </a:xfrm>
        </p:spPr>
        <p:txBody>
          <a:bodyPr/>
          <a:lstStyle/>
          <a:p>
            <a:pPr algn="ctr">
              <a:lnSpc>
                <a:spcPct val="80000"/>
              </a:lnSpc>
            </a:pPr>
            <a:r>
              <a:rPr lang="en-US" altLang="en-US" sz="2400" dirty="0"/>
              <a:t>Systems Analysis and Design in a Changing World 7</a:t>
            </a:r>
            <a:r>
              <a:rPr lang="en-US" altLang="en-US" sz="2400" baseline="30000" dirty="0"/>
              <a:t>th</a:t>
            </a:r>
            <a:r>
              <a:rPr lang="en-US" altLang="en-US" sz="2400" dirty="0"/>
              <a:t> Ed</a:t>
            </a:r>
          </a:p>
          <a:p>
            <a:pPr algn="ctr">
              <a:lnSpc>
                <a:spcPct val="80000"/>
              </a:lnSpc>
            </a:pPr>
            <a:r>
              <a:rPr lang="en-US" altLang="en-US" sz="2400" dirty="0"/>
              <a:t>Satzinger, Jackson &amp; Burd</a:t>
            </a:r>
          </a:p>
        </p:txBody>
      </p:sp>
      <p:sp>
        <p:nvSpPr>
          <p:cNvPr id="2" name="Footer Placeholder 1"/>
          <p:cNvSpPr>
            <a:spLocks noGrp="1"/>
          </p:cNvSpPr>
          <p:nvPr>
            <p:ph type="ftr" sz="quarter" idx="3"/>
          </p:nvPr>
        </p:nvSpPr>
        <p:spPr>
          <a:xfrm>
            <a:off x="0" y="6244046"/>
            <a:ext cx="7620000" cy="457200"/>
          </a:xfrm>
        </p:spPr>
        <p:txBody>
          <a:bodyPr/>
          <a:lstStyle/>
          <a:p>
            <a:r>
              <a:rPr lang="en-US" altLang="en-US" dirty="0">
                <a:latin typeface="+mn-lt"/>
              </a:rPr>
              <a:t>Systems Analysis and Design in a Changing World, 7th Edition – Chapter 4 ©2016. Cengage Learning. All rights reserved.</a:t>
            </a:r>
          </a:p>
        </p:txBody>
      </p:sp>
      <p:sp>
        <p:nvSpPr>
          <p:cNvPr id="3" name="Slide Number Placeholder 2"/>
          <p:cNvSpPr>
            <a:spLocks noGrp="1"/>
          </p:cNvSpPr>
          <p:nvPr>
            <p:ph type="sldNum" sz="quarter" idx="4"/>
          </p:nvPr>
        </p:nvSpPr>
        <p:spPr/>
        <p:txBody>
          <a:bodyPr/>
          <a:lstStyle/>
          <a:p>
            <a:fld id="{009A3541-B7EF-4A1D-9612-A6ED665B4012}" type="slidenum">
              <a:rPr lang="en-US" altLang="en-US" smtClean="0">
                <a:latin typeface="+mn-lt"/>
              </a:rPr>
              <a:pPr/>
              <a:t>2</a:t>
            </a:fld>
            <a:endParaRPr lang="en-US" altLang="en-US">
              <a:latin typeface="+mn-lt"/>
            </a:endParaRPr>
          </a:p>
        </p:txBody>
      </p:sp>
    </p:spTree>
    <p:extLst>
      <p:ext uri="{BB962C8B-B14F-4D97-AF65-F5344CB8AC3E}">
        <p14:creationId xmlns:p14="http://schemas.microsoft.com/office/powerpoint/2010/main" val="3273425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en-US" spc="0" dirty="0">
                <a:solidFill>
                  <a:schemeClr val="tx1"/>
                </a:solidFill>
                <a:effectLst/>
              </a:rPr>
              <a:t>Chapter 4: Outline</a:t>
            </a:r>
          </a:p>
        </p:txBody>
      </p:sp>
      <p:sp>
        <p:nvSpPr>
          <p:cNvPr id="74755" name="Rectangle 3"/>
          <p:cNvSpPr>
            <a:spLocks noGrp="1" noChangeArrowheads="1"/>
          </p:cNvSpPr>
          <p:nvPr>
            <p:ph type="body" sz="quarter" idx="10"/>
          </p:nvPr>
        </p:nvSpPr>
        <p:spPr>
          <a:xfrm>
            <a:off x="381000" y="1411552"/>
            <a:ext cx="8382000" cy="984885"/>
          </a:xfrm>
        </p:spPr>
        <p:txBody>
          <a:bodyPr/>
          <a:lstStyle/>
          <a:p>
            <a:r>
              <a:rPr lang="en-US" altLang="en-US" dirty="0"/>
              <a:t>“Things” in the Problem Domain</a:t>
            </a:r>
          </a:p>
          <a:p>
            <a:r>
              <a:rPr lang="en-US" altLang="en-US" dirty="0"/>
              <a:t>The Domain Model Class Diagram</a:t>
            </a:r>
          </a:p>
        </p:txBody>
      </p:sp>
      <p:sp>
        <p:nvSpPr>
          <p:cNvPr id="5" name="Slide Number Placeholder 5"/>
          <p:cNvSpPr>
            <a:spLocks noGrp="1"/>
          </p:cNvSpPr>
          <p:nvPr>
            <p:ph type="sldNum" sz="quarter" idx="4"/>
          </p:nvPr>
        </p:nvSpPr>
        <p:spPr/>
        <p:txBody>
          <a:bodyPr/>
          <a:lstStyle/>
          <a:p>
            <a:fld id="{627B9071-409B-483F-A93C-5B28EBAF1D42}" type="slidenum">
              <a:rPr lang="en-US" altLang="en-US" smtClean="0"/>
              <a:pPr/>
              <a:t>3</a:t>
            </a:fld>
            <a:endParaRPr lang="en-US" altLang="en-US" dirty="0"/>
          </a:p>
        </p:txBody>
      </p:sp>
      <p:sp>
        <p:nvSpPr>
          <p:cNvPr id="18" name="Footer Placeholder 17"/>
          <p:cNvSpPr>
            <a:spLocks noGrp="1"/>
          </p:cNvSpPr>
          <p:nvPr>
            <p:ph type="ftr" sz="quarter" idx="3"/>
          </p:nvPr>
        </p:nvSpPr>
        <p:spPr>
          <a:xfrm>
            <a:off x="0" y="6244046"/>
            <a:ext cx="7620000" cy="457200"/>
          </a:xfr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457200" y="122238"/>
            <a:ext cx="7543800" cy="664797"/>
          </a:xfrm>
        </p:spPr>
        <p:txBody>
          <a:bodyPr/>
          <a:lstStyle/>
          <a:p>
            <a:r>
              <a:rPr lang="en-US" altLang="en-US" spc="0" dirty="0">
                <a:solidFill>
                  <a:schemeClr val="tx1"/>
                </a:solidFill>
                <a:effectLst/>
              </a:rPr>
              <a:t>Learning Objectives</a:t>
            </a:r>
          </a:p>
        </p:txBody>
      </p:sp>
      <p:sp>
        <p:nvSpPr>
          <p:cNvPr id="192516" name="Rectangle 4"/>
          <p:cNvSpPr>
            <a:spLocks noGrp="1" noChangeArrowheads="1"/>
          </p:cNvSpPr>
          <p:nvPr>
            <p:ph idx="1"/>
          </p:nvPr>
        </p:nvSpPr>
        <p:spPr>
          <a:xfrm>
            <a:off x="363908" y="1261930"/>
            <a:ext cx="8305800" cy="2711512"/>
          </a:xfrm>
        </p:spPr>
        <p:txBody>
          <a:bodyPr/>
          <a:lstStyle/>
          <a:p>
            <a:r>
              <a:rPr lang="en-US" altLang="zh-CN" sz="2400" dirty="0">
                <a:ea typeface="宋体" panose="02010600030101010101" pitchFamily="2" charset="-122"/>
              </a:rPr>
              <a:t>Explain how the concept of “things” in the problem domain also define requirements</a:t>
            </a:r>
          </a:p>
          <a:p>
            <a:r>
              <a:rPr lang="en-US" altLang="zh-CN" sz="2400" dirty="0">
                <a:ea typeface="宋体" panose="02010600030101010101" pitchFamily="2" charset="-122"/>
              </a:rPr>
              <a:t>Identify and analyze data entities and domain classes needed in the system</a:t>
            </a:r>
          </a:p>
          <a:p>
            <a:r>
              <a:rPr lang="en-US" altLang="zh-CN" sz="2400" dirty="0">
                <a:ea typeface="宋体" panose="02010600030101010101" pitchFamily="2" charset="-122"/>
              </a:rPr>
              <a:t>Read, interpret, and create a domain model class diagram</a:t>
            </a:r>
          </a:p>
          <a:p>
            <a:r>
              <a:rPr lang="en-US" altLang="zh-CN" sz="2400" dirty="0">
                <a:ea typeface="宋体" panose="02010600030101010101" pitchFamily="2" charset="-122"/>
              </a:rPr>
              <a:t>Understand the domain model class diagram for the R</a:t>
            </a:r>
            <a:r>
              <a:rPr lang="en-US" altLang="zh-CN" sz="100" dirty="0">
                <a:ea typeface="宋体" panose="02010600030101010101" pitchFamily="2" charset="-122"/>
              </a:rPr>
              <a:t> </a:t>
            </a:r>
            <a:r>
              <a:rPr lang="en-US" altLang="zh-CN" sz="2400" dirty="0">
                <a:ea typeface="宋体" panose="02010600030101010101" pitchFamily="2" charset="-122"/>
              </a:rPr>
              <a:t>M</a:t>
            </a:r>
            <a:r>
              <a:rPr lang="en-US" altLang="zh-CN" sz="100" dirty="0">
                <a:ea typeface="宋体" panose="02010600030101010101" pitchFamily="2" charset="-122"/>
              </a:rPr>
              <a:t> </a:t>
            </a:r>
            <a:r>
              <a:rPr lang="en-US" altLang="zh-CN" sz="2400" dirty="0">
                <a:ea typeface="宋体" panose="02010600030101010101" pitchFamily="2" charset="-122"/>
              </a:rPr>
              <a:t>O Consolidated Sales and Marketing System</a:t>
            </a:r>
          </a:p>
        </p:txBody>
      </p:sp>
      <p:sp>
        <p:nvSpPr>
          <p:cNvPr id="5" name="Slide Number Placeholder 5"/>
          <p:cNvSpPr>
            <a:spLocks noGrp="1"/>
          </p:cNvSpPr>
          <p:nvPr>
            <p:ph type="sldNum" sz="quarter" idx="4"/>
          </p:nvPr>
        </p:nvSpPr>
        <p:spPr>
          <a:xfrm>
            <a:off x="8001000" y="6248400"/>
            <a:ext cx="1143000" cy="457200"/>
          </a:xfrm>
          <a:prstGeom prst="rect">
            <a:avLst/>
          </a:prstGeom>
        </p:spPr>
        <p:txBody>
          <a:bodyPr/>
          <a:lstStyle/>
          <a:p>
            <a:fld id="{2CD806F4-244E-4B12-A41A-28229064DAB0}" type="slidenum">
              <a:rPr lang="en-US" altLang="en-US"/>
              <a:pPr/>
              <a:t>4</a:t>
            </a:fld>
            <a:endParaRPr lang="en-US" altLang="en-US"/>
          </a:p>
        </p:txBody>
      </p:sp>
      <p:sp>
        <p:nvSpPr>
          <p:cNvPr id="4" name="Footer Placeholder 4"/>
          <p:cNvSpPr>
            <a:spLocks noGrp="1"/>
          </p:cNvSpPr>
          <p:nvPr>
            <p:ph type="ftr" sz="quarter" idx="3"/>
          </p:nvPr>
        </p:nvSpPr>
        <p:spPr>
          <a:xfrm>
            <a:off x="0" y="6248400"/>
            <a:ext cx="7620000" cy="3048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457200" y="122238"/>
            <a:ext cx="7543800" cy="664797"/>
          </a:xfrm>
        </p:spPr>
        <p:txBody>
          <a:bodyPr/>
          <a:lstStyle/>
          <a:p>
            <a:r>
              <a:rPr lang="en-US" altLang="en-US" spc="0" dirty="0">
                <a:solidFill>
                  <a:schemeClr val="tx1"/>
                </a:solidFill>
                <a:effectLst/>
              </a:rPr>
              <a:t>Overview</a:t>
            </a:r>
          </a:p>
        </p:txBody>
      </p:sp>
      <p:sp>
        <p:nvSpPr>
          <p:cNvPr id="132099" name="Rectangle 3"/>
          <p:cNvSpPr>
            <a:spLocks noGrp="1" noChangeArrowheads="1"/>
          </p:cNvSpPr>
          <p:nvPr>
            <p:ph idx="1"/>
          </p:nvPr>
        </p:nvSpPr>
        <p:spPr>
          <a:xfrm>
            <a:off x="355362" y="1244838"/>
            <a:ext cx="8229600" cy="3746667"/>
          </a:xfrm>
        </p:spPr>
        <p:txBody>
          <a:bodyPr/>
          <a:lstStyle/>
          <a:p>
            <a:pPr>
              <a:lnSpc>
                <a:spcPct val="90000"/>
              </a:lnSpc>
            </a:pPr>
            <a:r>
              <a:rPr lang="en-GB" altLang="en-US" sz="2800" dirty="0"/>
              <a:t>This chapter focuses on another key concept for defining requirements— data entities or domain classes</a:t>
            </a:r>
          </a:p>
          <a:p>
            <a:pPr>
              <a:lnSpc>
                <a:spcPct val="90000"/>
              </a:lnSpc>
            </a:pPr>
            <a:r>
              <a:rPr lang="en-GB" altLang="en-US" sz="2800" dirty="0"/>
              <a:t>In the R</a:t>
            </a:r>
            <a:r>
              <a:rPr lang="en-GB" altLang="en-US" sz="100" dirty="0"/>
              <a:t> </a:t>
            </a:r>
            <a:r>
              <a:rPr lang="en-GB" altLang="en-US" sz="2800" dirty="0"/>
              <a:t>M</a:t>
            </a:r>
            <a:r>
              <a:rPr lang="en-GB" altLang="en-US" sz="100" dirty="0"/>
              <a:t> </a:t>
            </a:r>
            <a:r>
              <a:rPr lang="en-GB" altLang="en-US" sz="2800" dirty="0"/>
              <a:t>O Tradeshow System from Chapter 1, some domain classes are Supplier, Product, and Contact</a:t>
            </a:r>
            <a:endParaRPr lang="en-GB" altLang="en-US" sz="2800" i="1" dirty="0"/>
          </a:p>
          <a:p>
            <a:pPr>
              <a:lnSpc>
                <a:spcPct val="90000"/>
              </a:lnSpc>
            </a:pPr>
            <a:r>
              <a:rPr lang="en-GB" altLang="en-US" sz="2800" dirty="0"/>
              <a:t>In this chapter’s opening case Waiters on Call, examples of domain classes are Restaurants, Menu Items, Customers, Orders, Drivers, Routes, and Payments</a:t>
            </a:r>
            <a:endParaRPr lang="en-GB" altLang="en-US" sz="2800" i="1" dirty="0"/>
          </a:p>
        </p:txBody>
      </p:sp>
      <p:sp>
        <p:nvSpPr>
          <p:cNvPr id="5" name="Slide Number Placeholder 5"/>
          <p:cNvSpPr>
            <a:spLocks noGrp="1"/>
          </p:cNvSpPr>
          <p:nvPr>
            <p:ph type="sldNum" sz="quarter" idx="4"/>
          </p:nvPr>
        </p:nvSpPr>
        <p:spPr>
          <a:xfrm>
            <a:off x="8001000" y="6248400"/>
            <a:ext cx="1143000" cy="457200"/>
          </a:xfrm>
          <a:prstGeom prst="rect">
            <a:avLst/>
          </a:prstGeom>
        </p:spPr>
        <p:txBody>
          <a:bodyPr/>
          <a:lstStyle/>
          <a:p>
            <a:fld id="{E1A8AB10-79D7-4297-A5E8-58D4C0FFBD5E}" type="slidenum">
              <a:rPr lang="en-US" altLang="en-US"/>
              <a:pPr/>
              <a:t>5</a:t>
            </a:fld>
            <a:endParaRPr lang="en-US" altLang="en-US"/>
          </a:p>
        </p:txBody>
      </p:sp>
      <p:sp>
        <p:nvSpPr>
          <p:cNvPr id="4" name="Footer Placeholder 4"/>
          <p:cNvSpPr>
            <a:spLocks noGrp="1"/>
          </p:cNvSpPr>
          <p:nvPr>
            <p:ph type="ftr" sz="quarter" idx="3"/>
          </p:nvPr>
        </p:nvSpPr>
        <p:spPr>
          <a:xfrm>
            <a:off x="0" y="6248400"/>
            <a:ext cx="7696200" cy="3048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457200" y="122238"/>
            <a:ext cx="7543800" cy="498598"/>
          </a:xfrm>
        </p:spPr>
        <p:txBody>
          <a:bodyPr/>
          <a:lstStyle/>
          <a:p>
            <a:r>
              <a:rPr lang="en-US" altLang="en-US" sz="3600" spc="0" dirty="0">
                <a:solidFill>
                  <a:schemeClr val="tx1"/>
                </a:solidFill>
                <a:effectLst/>
              </a:rPr>
              <a:t>Things in the Problem Domain</a:t>
            </a:r>
          </a:p>
        </p:txBody>
      </p:sp>
      <p:sp>
        <p:nvSpPr>
          <p:cNvPr id="282627" name="Rectangle 3"/>
          <p:cNvSpPr>
            <a:spLocks noGrp="1" noChangeArrowheads="1"/>
          </p:cNvSpPr>
          <p:nvPr>
            <p:ph idx="1"/>
          </p:nvPr>
        </p:nvSpPr>
        <p:spPr>
          <a:xfrm>
            <a:off x="359302" y="1273683"/>
            <a:ext cx="8229600" cy="4313360"/>
          </a:xfrm>
        </p:spPr>
        <p:txBody>
          <a:bodyPr/>
          <a:lstStyle/>
          <a:p>
            <a:pPr marL="352800" indent="-352800">
              <a:lnSpc>
                <a:spcPct val="80000"/>
              </a:lnSpc>
            </a:pPr>
            <a:r>
              <a:rPr lang="en-US" altLang="en-US" sz="2800" dirty="0"/>
              <a:t>Problem domain—the specific area (or domain) of the users’ business need that is within the scope of the new system.</a:t>
            </a:r>
          </a:p>
          <a:p>
            <a:pPr marL="352800" indent="-352800">
              <a:lnSpc>
                <a:spcPct val="80000"/>
              </a:lnSpc>
            </a:pPr>
            <a:r>
              <a:rPr lang="en-US" altLang="en-US" sz="2800" dirty="0"/>
              <a:t>“Things” are those items users work with when accomplishing tasks that need to be remembered</a:t>
            </a:r>
          </a:p>
          <a:p>
            <a:pPr marL="352800" indent="-352800">
              <a:lnSpc>
                <a:spcPct val="80000"/>
              </a:lnSpc>
            </a:pPr>
            <a:r>
              <a:rPr lang="en-US" altLang="en-US" sz="2800" dirty="0"/>
              <a:t>Examples of “Things” are products, sales, shippers, customers, invoices, payments, etc.</a:t>
            </a:r>
          </a:p>
          <a:p>
            <a:pPr marL="352800" indent="-352800">
              <a:lnSpc>
                <a:spcPct val="80000"/>
              </a:lnSpc>
            </a:pPr>
            <a:r>
              <a:rPr lang="en-US" altLang="en-US" sz="2800" dirty="0"/>
              <a:t>These “Things” are modeled as domain classes or data entities</a:t>
            </a:r>
          </a:p>
          <a:p>
            <a:pPr marL="352800" indent="-352800">
              <a:lnSpc>
                <a:spcPct val="80000"/>
              </a:lnSpc>
            </a:pPr>
            <a:r>
              <a:rPr lang="en-US" altLang="en-US" sz="2800" dirty="0"/>
              <a:t>In this course, we will call them domain classes. In database class you may call them data entities</a:t>
            </a:r>
            <a:endParaRPr lang="en-GB" altLang="en-US" sz="2800" dirty="0"/>
          </a:p>
        </p:txBody>
      </p:sp>
      <p:sp>
        <p:nvSpPr>
          <p:cNvPr id="5" name="Slide Number Placeholder 5"/>
          <p:cNvSpPr>
            <a:spLocks noGrp="1"/>
          </p:cNvSpPr>
          <p:nvPr>
            <p:ph type="sldNum" sz="quarter" idx="4"/>
          </p:nvPr>
        </p:nvSpPr>
        <p:spPr>
          <a:xfrm>
            <a:off x="8001000" y="6248400"/>
            <a:ext cx="1143000" cy="457200"/>
          </a:xfrm>
          <a:prstGeom prst="rect">
            <a:avLst/>
          </a:prstGeom>
        </p:spPr>
        <p:txBody>
          <a:bodyPr/>
          <a:lstStyle/>
          <a:p>
            <a:fld id="{312211F6-E108-4643-8890-D5A2B80F6704}" type="slidenum">
              <a:rPr lang="en-US" altLang="en-US"/>
              <a:pPr/>
              <a:t>6</a:t>
            </a:fld>
            <a:endParaRPr lang="en-US" altLang="en-US"/>
          </a:p>
        </p:txBody>
      </p:sp>
      <p:sp>
        <p:nvSpPr>
          <p:cNvPr id="4" name="Footer Placeholder 4"/>
          <p:cNvSpPr>
            <a:spLocks noGrp="1"/>
          </p:cNvSpPr>
          <p:nvPr>
            <p:ph type="ftr" sz="quarter" idx="3"/>
          </p:nvPr>
        </p:nvSpPr>
        <p:spPr>
          <a:xfrm>
            <a:off x="0" y="6248400"/>
            <a:ext cx="7620000" cy="2286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457200" y="122238"/>
            <a:ext cx="7543800" cy="886397"/>
          </a:xfrm>
        </p:spPr>
        <p:txBody>
          <a:bodyPr/>
          <a:lstStyle/>
          <a:p>
            <a:r>
              <a:rPr lang="en-US" altLang="en-US" sz="3600" spc="0" dirty="0">
                <a:solidFill>
                  <a:schemeClr val="tx1"/>
                </a:solidFill>
                <a:effectLst/>
              </a:rPr>
              <a:t>Things in the Problem Domain: </a:t>
            </a:r>
            <a:r>
              <a:rPr lang="en-US" altLang="en-US" sz="2800" spc="0" dirty="0">
                <a:solidFill>
                  <a:schemeClr val="tx1"/>
                </a:solidFill>
                <a:effectLst/>
              </a:rPr>
              <a:t>Two Techniques for Identifying Them</a:t>
            </a:r>
          </a:p>
        </p:txBody>
      </p:sp>
      <p:sp>
        <p:nvSpPr>
          <p:cNvPr id="283651" name="Rectangle 3"/>
          <p:cNvSpPr>
            <a:spLocks noGrp="1" noChangeArrowheads="1"/>
          </p:cNvSpPr>
          <p:nvPr>
            <p:ph idx="1"/>
          </p:nvPr>
        </p:nvSpPr>
        <p:spPr>
          <a:xfrm>
            <a:off x="355362" y="1227746"/>
            <a:ext cx="8229600" cy="3871829"/>
          </a:xfrm>
        </p:spPr>
        <p:txBody>
          <a:bodyPr/>
          <a:lstStyle/>
          <a:p>
            <a:pPr marL="352800" indent="-352800"/>
            <a:r>
              <a:rPr lang="en-US" altLang="en-US" dirty="0"/>
              <a:t>Brainstorming Technique</a:t>
            </a:r>
          </a:p>
          <a:p>
            <a:pPr lvl="1"/>
            <a:r>
              <a:rPr lang="en-US" altLang="en-US" dirty="0"/>
              <a:t>Use a checklist of all of the usual types of things typically found and brainstorm to identify domain classes of each type</a:t>
            </a:r>
          </a:p>
          <a:p>
            <a:pPr marL="352800" indent="-352800"/>
            <a:r>
              <a:rPr lang="en-US" altLang="en-US" dirty="0"/>
              <a:t>Noun Technique</a:t>
            </a:r>
          </a:p>
          <a:p>
            <a:pPr lvl="1"/>
            <a:r>
              <a:rPr lang="en-US" altLang="en-US" dirty="0"/>
              <a:t>Identify all of the nouns that come up when the system is described and determine if each is a domain class, an attribute, or not something we need to remember</a:t>
            </a:r>
          </a:p>
        </p:txBody>
      </p:sp>
      <p:sp>
        <p:nvSpPr>
          <p:cNvPr id="5" name="Slide Number Placeholder 5"/>
          <p:cNvSpPr>
            <a:spLocks noGrp="1"/>
          </p:cNvSpPr>
          <p:nvPr>
            <p:ph type="sldNum" sz="quarter" idx="4"/>
          </p:nvPr>
        </p:nvSpPr>
        <p:spPr>
          <a:xfrm>
            <a:off x="8001000" y="6248400"/>
            <a:ext cx="1143000" cy="457200"/>
          </a:xfrm>
          <a:prstGeom prst="rect">
            <a:avLst/>
          </a:prstGeom>
        </p:spPr>
        <p:txBody>
          <a:bodyPr/>
          <a:lstStyle/>
          <a:p>
            <a:fld id="{46935FC1-2C5D-4235-A631-E8712CF16A87}" type="slidenum">
              <a:rPr lang="en-US" altLang="en-US"/>
              <a:pPr/>
              <a:t>7</a:t>
            </a:fld>
            <a:endParaRPr lang="en-US" altLang="en-US"/>
          </a:p>
        </p:txBody>
      </p:sp>
      <p:sp>
        <p:nvSpPr>
          <p:cNvPr id="4" name="Footer Placeholder 4"/>
          <p:cNvSpPr>
            <a:spLocks noGrp="1"/>
          </p:cNvSpPr>
          <p:nvPr>
            <p:ph type="ftr" sz="quarter" idx="3"/>
          </p:nvPr>
        </p:nvSpPr>
        <p:spPr>
          <a:xfrm>
            <a:off x="0" y="6248400"/>
            <a:ext cx="77724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p:txBody>
          <a:bodyPr/>
          <a:lstStyle/>
          <a:p>
            <a:r>
              <a:rPr lang="en-US" altLang="en-US" spc="0" dirty="0">
                <a:solidFill>
                  <a:schemeClr val="tx1"/>
                </a:solidFill>
                <a:effectLst/>
              </a:rPr>
              <a:t>Brainstorming Technique</a:t>
            </a:r>
          </a:p>
        </p:txBody>
      </p:sp>
      <p:sp>
        <p:nvSpPr>
          <p:cNvPr id="284675" name="Rectangle 3"/>
          <p:cNvSpPr>
            <a:spLocks noGrp="1" noChangeArrowheads="1"/>
          </p:cNvSpPr>
          <p:nvPr>
            <p:ph type="body" sz="quarter" idx="10"/>
          </p:nvPr>
        </p:nvSpPr>
        <p:spPr>
          <a:xfrm>
            <a:off x="363908" y="1252670"/>
            <a:ext cx="8382000" cy="950648"/>
          </a:xfrm>
        </p:spPr>
        <p:txBody>
          <a:bodyPr/>
          <a:lstStyle/>
          <a:p>
            <a:r>
              <a:rPr lang="en-US" altLang="en-US" sz="2400" dirty="0"/>
              <a:t>Are there any tangible things? Are there any organizational units? Sites/locations? Are there incidents or events that need to be recorded?</a:t>
            </a:r>
            <a:endParaRPr lang="en-GB" altLang="en-US" sz="2400" dirty="0"/>
          </a:p>
        </p:txBody>
      </p:sp>
      <p:pic>
        <p:nvPicPr>
          <p:cNvPr id="10" name="Picture 7" descr="The image shows things listed out as a result of brainstorming. Things: tangible things: airplane, book, vehicle, document, worksheet. Roles played: customer, employee, doctor, patient, end user, system administrator. Organizational units: division, department, section, task force, workgroup. Devices: sensor, timer, controller, assembly line, production machine, sorter, printer, inventory bin. Sites and locations: warehouse, branch office, factory, retail store, desktop. Incidents, events, or interactions: flight, service call, logon, logoff, contract, purchase, order, payment."/>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tretch>
            <a:fillRect/>
          </a:stretch>
        </p:blipFill>
        <p:spPr>
          <a:xfrm>
            <a:off x="904778" y="2401868"/>
            <a:ext cx="7334444" cy="3389332"/>
          </a:xfrm>
        </p:spPr>
      </p:pic>
      <p:sp>
        <p:nvSpPr>
          <p:cNvPr id="6" name="Slide Number Placeholder 6"/>
          <p:cNvSpPr>
            <a:spLocks noGrp="1"/>
          </p:cNvSpPr>
          <p:nvPr>
            <p:ph type="sldNum" sz="quarter" idx="4"/>
          </p:nvPr>
        </p:nvSpPr>
        <p:spPr/>
        <p:txBody>
          <a:bodyPr/>
          <a:lstStyle/>
          <a:p>
            <a:fld id="{3559374B-8424-444A-A9A3-CDC2DB2CCDE6}" type="slidenum">
              <a:rPr lang="en-US" altLang="en-US" smtClean="0"/>
              <a:pPr/>
              <a:t>8</a:t>
            </a:fld>
            <a:endParaRPr lang="en-US" altLang="en-US"/>
          </a:p>
        </p:txBody>
      </p:sp>
      <p:sp>
        <p:nvSpPr>
          <p:cNvPr id="5" name="Footer Placeholder 5"/>
          <p:cNvSpPr>
            <a:spLocks noGrp="1"/>
          </p:cNvSpPr>
          <p:nvPr>
            <p:ph type="ftr" sz="quarter" idx="3"/>
          </p:nvPr>
        </p:nvSpPr>
        <p:spPr>
          <a:xfrm>
            <a:off x="0" y="6244046"/>
            <a:ext cx="7620000" cy="457200"/>
          </a:xfr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a:xfrm>
            <a:off x="381000" y="230188"/>
            <a:ext cx="8382000" cy="498598"/>
          </a:xfrm>
        </p:spPr>
        <p:txBody>
          <a:bodyPr/>
          <a:lstStyle/>
          <a:p>
            <a:r>
              <a:rPr lang="en-US" altLang="en-US" sz="3600" spc="0" dirty="0">
                <a:solidFill>
                  <a:schemeClr val="tx1"/>
                </a:solidFill>
                <a:effectLst/>
              </a:rPr>
              <a:t>Brainstorming Technique: Steps</a:t>
            </a:r>
            <a:endParaRPr lang="en-US" altLang="en-US" sz="2800" spc="0" dirty="0">
              <a:solidFill>
                <a:schemeClr val="tx1"/>
              </a:solidFill>
              <a:effectLst/>
            </a:endParaRPr>
          </a:p>
        </p:txBody>
      </p:sp>
      <p:sp>
        <p:nvSpPr>
          <p:cNvPr id="287747" name="Rectangle 3"/>
          <p:cNvSpPr>
            <a:spLocks noGrp="1" noChangeArrowheads="1"/>
          </p:cNvSpPr>
          <p:nvPr>
            <p:ph idx="1"/>
          </p:nvPr>
        </p:nvSpPr>
        <p:spPr>
          <a:xfrm>
            <a:off x="381000" y="1286854"/>
            <a:ext cx="8382000" cy="4361387"/>
          </a:xfrm>
        </p:spPr>
        <p:txBody>
          <a:bodyPr/>
          <a:lstStyle/>
          <a:p>
            <a:pPr marL="403200" indent="-403200">
              <a:lnSpc>
                <a:spcPct val="80000"/>
              </a:lnSpc>
              <a:buClr>
                <a:schemeClr val="tx2"/>
              </a:buClr>
              <a:buFont typeface="Wingdings" panose="05000000000000000000" pitchFamily="2" charset="2"/>
              <a:buAutoNum type="arabicPeriod"/>
            </a:pPr>
            <a:r>
              <a:rPr lang="en-US" altLang="en-US" sz="2400" dirty="0"/>
              <a:t>Identify a user and a set of use cases</a:t>
            </a:r>
          </a:p>
          <a:p>
            <a:pPr marL="403200" indent="-403200">
              <a:lnSpc>
                <a:spcPct val="80000"/>
              </a:lnSpc>
              <a:buClr>
                <a:schemeClr val="tx2"/>
              </a:buClr>
              <a:buFont typeface="Wingdings" panose="05000000000000000000" pitchFamily="2" charset="2"/>
              <a:buAutoNum type="arabicPeriod"/>
            </a:pPr>
            <a:r>
              <a:rPr lang="en-US" altLang="en-US" sz="2400" dirty="0"/>
              <a:t>Brainstorm with the user to identify things involved when carrying out the use case—that is, things about which information should be captured by the system.</a:t>
            </a:r>
          </a:p>
          <a:p>
            <a:pPr marL="403200" indent="-403200">
              <a:lnSpc>
                <a:spcPct val="80000"/>
              </a:lnSpc>
              <a:buClr>
                <a:schemeClr val="tx2"/>
              </a:buClr>
              <a:buFont typeface="Wingdings" panose="05000000000000000000" pitchFamily="2" charset="2"/>
              <a:buAutoNum type="arabicPeriod"/>
            </a:pPr>
            <a:r>
              <a:rPr lang="en-US" altLang="en-US" sz="2400" dirty="0"/>
              <a:t>Use the types of things (categories) to systematically ask questions about potential things, such as the following: Are there any tangible things you store information about? Are there any locations involved? Are there roles played by people that you need to remember?</a:t>
            </a:r>
          </a:p>
          <a:p>
            <a:pPr marL="403200" indent="-403200">
              <a:lnSpc>
                <a:spcPct val="80000"/>
              </a:lnSpc>
              <a:buClr>
                <a:schemeClr val="tx2"/>
              </a:buClr>
              <a:buFont typeface="Wingdings" panose="05000000000000000000" pitchFamily="2" charset="2"/>
              <a:buAutoNum type="arabicPeriod"/>
            </a:pPr>
            <a:r>
              <a:rPr lang="en-US" altLang="en-US" sz="2400" dirty="0"/>
              <a:t>Continue to work with all types of users and stakeholders to expand the brainstorming list</a:t>
            </a:r>
          </a:p>
          <a:p>
            <a:pPr marL="403200" indent="-403200">
              <a:lnSpc>
                <a:spcPct val="80000"/>
              </a:lnSpc>
              <a:buClr>
                <a:schemeClr val="tx2"/>
              </a:buClr>
              <a:buFont typeface="Wingdings" panose="05000000000000000000" pitchFamily="2" charset="2"/>
              <a:buAutoNum type="arabicPeriod"/>
            </a:pPr>
            <a:r>
              <a:rPr lang="en-US" altLang="en-US" sz="2400" dirty="0"/>
              <a:t>Merge the results, eliminate any duplicates, and compile an initial list</a:t>
            </a:r>
            <a:endParaRPr lang="en-GB" altLang="en-US" sz="1700" dirty="0"/>
          </a:p>
        </p:txBody>
      </p:sp>
      <p:sp>
        <p:nvSpPr>
          <p:cNvPr id="5" name="Slide Number Placeholder 6"/>
          <p:cNvSpPr>
            <a:spLocks noGrp="1"/>
          </p:cNvSpPr>
          <p:nvPr>
            <p:ph type="sldNum" sz="quarter" idx="4"/>
          </p:nvPr>
        </p:nvSpPr>
        <p:spPr/>
        <p:txBody>
          <a:bodyPr/>
          <a:lstStyle/>
          <a:p>
            <a:fld id="{41750625-35D4-4A08-997D-2A8FA84207BF}" type="slidenum">
              <a:rPr lang="en-US" altLang="en-US"/>
              <a:pPr/>
              <a:t>9</a:t>
            </a:fld>
            <a:endParaRPr lang="en-US" altLang="en-US"/>
          </a:p>
        </p:txBody>
      </p:sp>
      <p:sp>
        <p:nvSpPr>
          <p:cNvPr id="4" name="Footer Placeholder 5"/>
          <p:cNvSpPr>
            <a:spLocks noGrp="1"/>
          </p:cNvSpPr>
          <p:nvPr>
            <p:ph type="ftr" sz="quarter" idx="3"/>
          </p:nvPr>
        </p:nvSpPr>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a:xfrm>
            <a:off x="381000" y="230188"/>
            <a:ext cx="8382000" cy="553998"/>
          </a:xfrm>
        </p:spPr>
        <p:txBody>
          <a:bodyPr/>
          <a:lstStyle/>
          <a:p>
            <a:r>
              <a:rPr lang="en-US" altLang="en-US" sz="4000" spc="0" dirty="0">
                <a:solidFill>
                  <a:schemeClr val="tx1"/>
                </a:solidFill>
                <a:effectLst/>
              </a:rPr>
              <a:t>The Noun Technique</a:t>
            </a:r>
            <a:endParaRPr lang="en-US" altLang="en-US" sz="3200" spc="0" dirty="0">
              <a:solidFill>
                <a:schemeClr val="tx1"/>
              </a:solidFill>
              <a:effectLst/>
            </a:endParaRPr>
          </a:p>
        </p:txBody>
      </p:sp>
      <p:sp>
        <p:nvSpPr>
          <p:cNvPr id="288771" name="Rectangle 3"/>
          <p:cNvSpPr>
            <a:spLocks noGrp="1" noChangeArrowheads="1"/>
          </p:cNvSpPr>
          <p:nvPr>
            <p:ph idx="1"/>
          </p:nvPr>
        </p:nvSpPr>
        <p:spPr>
          <a:xfrm>
            <a:off x="363908" y="1278308"/>
            <a:ext cx="8382000" cy="3979492"/>
          </a:xfrm>
        </p:spPr>
        <p:txBody>
          <a:bodyPr/>
          <a:lstStyle/>
          <a:p>
            <a:pPr marL="352800" indent="-352800">
              <a:lnSpc>
                <a:spcPct val="80000"/>
              </a:lnSpc>
            </a:pPr>
            <a:r>
              <a:rPr lang="en-GB" altLang="en-US" sz="2800" dirty="0"/>
              <a:t>A technique to identify problem domain classes (things) by finding, classifying, and refining a list of nouns that come up in in discussions or documents</a:t>
            </a:r>
          </a:p>
          <a:p>
            <a:pPr marL="352800" indent="-352800">
              <a:lnSpc>
                <a:spcPct val="80000"/>
              </a:lnSpc>
            </a:pPr>
            <a:r>
              <a:rPr lang="en-GB" altLang="en-US" sz="2800" dirty="0"/>
              <a:t>Popular technique. Systematic.</a:t>
            </a:r>
          </a:p>
          <a:p>
            <a:pPr marL="352800" indent="-352800">
              <a:lnSpc>
                <a:spcPct val="80000"/>
              </a:lnSpc>
            </a:pPr>
            <a:r>
              <a:rPr lang="en-GB" altLang="en-US" sz="2800" dirty="0"/>
              <a:t>Does end up with long lists and many nouns that are not things that need to be stored by the system</a:t>
            </a:r>
          </a:p>
          <a:p>
            <a:pPr marL="352800" indent="-352800">
              <a:lnSpc>
                <a:spcPct val="80000"/>
              </a:lnSpc>
            </a:pPr>
            <a:r>
              <a:rPr lang="en-GB" altLang="en-US" sz="2800" dirty="0"/>
              <a:t>Difficulty identifying synonyms and things that are really attributes</a:t>
            </a:r>
          </a:p>
          <a:p>
            <a:pPr marL="352800" indent="-352800">
              <a:lnSpc>
                <a:spcPct val="80000"/>
              </a:lnSpc>
            </a:pPr>
            <a:r>
              <a:rPr lang="en-GB" altLang="en-US" sz="2800" dirty="0"/>
              <a:t>Good place to start when there are no users available to help brainstorm</a:t>
            </a:r>
          </a:p>
        </p:txBody>
      </p:sp>
      <p:sp>
        <p:nvSpPr>
          <p:cNvPr id="5" name="Slide Number Placeholder 6"/>
          <p:cNvSpPr>
            <a:spLocks noGrp="1"/>
          </p:cNvSpPr>
          <p:nvPr>
            <p:ph type="sldNum" sz="quarter" idx="4"/>
          </p:nvPr>
        </p:nvSpPr>
        <p:spPr/>
        <p:txBody>
          <a:bodyPr/>
          <a:lstStyle/>
          <a:p>
            <a:fld id="{5111EBFC-96F1-4FC4-AABE-E83124B3CF25}" type="slidenum">
              <a:rPr lang="en-US" altLang="en-US"/>
              <a:pPr/>
              <a:t>10</a:t>
            </a:fld>
            <a:endParaRPr lang="en-US" altLang="en-US"/>
          </a:p>
        </p:txBody>
      </p:sp>
      <p:sp>
        <p:nvSpPr>
          <p:cNvPr id="4" name="Footer Placeholder 5"/>
          <p:cNvSpPr>
            <a:spLocks noGrp="1"/>
          </p:cNvSpPr>
          <p:nvPr>
            <p:ph type="ftr" sz="quarter" idx="3"/>
          </p:nvPr>
        </p:nvSpPr>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81000" y="230188"/>
            <a:ext cx="8382000" cy="664797"/>
          </a:xfrm>
        </p:spPr>
        <p:txBody>
          <a:bodyPr/>
          <a:lstStyle/>
          <a:p>
            <a:r>
              <a:rPr lang="en-US" altLang="en-US" sz="3600" spc="0" dirty="0">
                <a:solidFill>
                  <a:schemeClr val="tx1"/>
                </a:solidFill>
                <a:effectLst/>
              </a:rPr>
              <a:t>The Noun Technique: Steps</a:t>
            </a:r>
            <a:r>
              <a:rPr lang="en-US" altLang="en-US" spc="0" dirty="0">
                <a:solidFill>
                  <a:schemeClr val="tx1"/>
                </a:solidFill>
                <a:effectLst/>
              </a:rPr>
              <a:t> </a:t>
            </a:r>
            <a:r>
              <a:rPr lang="en-US" altLang="en-US" sz="2000" spc="0" dirty="0">
                <a:solidFill>
                  <a:schemeClr val="tx1"/>
                </a:solidFill>
                <a:effectLst/>
              </a:rPr>
              <a:t>(1 of 3)</a:t>
            </a:r>
            <a:endParaRPr lang="en-IN" sz="2000" dirty="0"/>
          </a:p>
        </p:txBody>
      </p:sp>
      <p:sp>
        <p:nvSpPr>
          <p:cNvPr id="7" name="Text Placeholder 6"/>
          <p:cNvSpPr>
            <a:spLocks noGrp="1"/>
          </p:cNvSpPr>
          <p:nvPr>
            <p:ph type="body" sz="quarter" idx="10"/>
          </p:nvPr>
        </p:nvSpPr>
        <p:spPr>
          <a:xfrm>
            <a:off x="381000" y="1411552"/>
            <a:ext cx="8382000" cy="664797"/>
          </a:xfrm>
        </p:spPr>
        <p:txBody>
          <a:bodyPr/>
          <a:lstStyle/>
          <a:p>
            <a:pPr marL="403200" indent="-403200">
              <a:spcBef>
                <a:spcPts val="1000"/>
              </a:spcBef>
              <a:buClr>
                <a:schemeClr val="tx2"/>
              </a:buClr>
              <a:buFont typeface="+mj-lt"/>
              <a:buAutoNum type="arabicPeriod"/>
            </a:pPr>
            <a:r>
              <a:rPr lang="en-US" altLang="en-US" sz="2400" dirty="0"/>
              <a:t>Using the use cases, actors, and other information about the system— including inputs and outputs—identify all nouns.</a:t>
            </a:r>
            <a:endParaRPr lang="en-IN" sz="2400" dirty="0"/>
          </a:p>
        </p:txBody>
      </p:sp>
      <p:sp>
        <p:nvSpPr>
          <p:cNvPr id="8" name="Content Placeholder 7"/>
          <p:cNvSpPr>
            <a:spLocks noGrp="1"/>
          </p:cNvSpPr>
          <p:nvPr>
            <p:ph sz="quarter" idx="11"/>
          </p:nvPr>
        </p:nvSpPr>
        <p:spPr>
          <a:xfrm>
            <a:off x="381000" y="2233471"/>
            <a:ext cx="8382000" cy="1024896"/>
          </a:xfrm>
        </p:spPr>
        <p:txBody>
          <a:bodyPr/>
          <a:lstStyle/>
          <a:p>
            <a:pPr lvl="1"/>
            <a:r>
              <a:rPr lang="en-US" altLang="en-US" sz="1800" dirty="0"/>
              <a:t>For the R</a:t>
            </a:r>
            <a:r>
              <a:rPr lang="en-US" altLang="en-US" sz="100" dirty="0"/>
              <a:t> </a:t>
            </a:r>
            <a:r>
              <a:rPr lang="en-US" altLang="en-US" sz="1800" dirty="0"/>
              <a:t>M</a:t>
            </a:r>
            <a:r>
              <a:rPr lang="en-US" altLang="en-US" sz="100" dirty="0"/>
              <a:t> </a:t>
            </a:r>
            <a:r>
              <a:rPr lang="en-US" altLang="en-US" sz="1800" dirty="0"/>
              <a:t>O C</a:t>
            </a:r>
            <a:r>
              <a:rPr lang="en-US" altLang="en-US" sz="100" dirty="0"/>
              <a:t> </a:t>
            </a:r>
            <a:r>
              <a:rPr lang="en-US" altLang="en-US" sz="1800" dirty="0"/>
              <a:t>S</a:t>
            </a:r>
            <a:r>
              <a:rPr lang="en-US" altLang="en-US" sz="100" dirty="0"/>
              <a:t> </a:t>
            </a:r>
            <a:r>
              <a:rPr lang="en-US" altLang="en-US" sz="1800" dirty="0"/>
              <a:t>M</a:t>
            </a:r>
            <a:r>
              <a:rPr lang="en-US" altLang="en-US" sz="100" dirty="0"/>
              <a:t> </a:t>
            </a:r>
            <a:r>
              <a:rPr lang="en-US" altLang="en-US" sz="1800" dirty="0"/>
              <a:t>S, the nouns might include customer, product item, sale, confirmation, transaction, shipping, bank, change request, summary report, management, transaction report, accounting, back order, back order notification, return, return confirmation…</a:t>
            </a:r>
            <a:endParaRPr lang="en-IN" sz="1800" dirty="0"/>
          </a:p>
        </p:txBody>
      </p:sp>
      <p:sp>
        <p:nvSpPr>
          <p:cNvPr id="9" name="Content Placeholder 8"/>
          <p:cNvSpPr>
            <a:spLocks noGrp="1"/>
          </p:cNvSpPr>
          <p:nvPr>
            <p:ph sz="quarter" idx="12"/>
          </p:nvPr>
        </p:nvSpPr>
        <p:spPr>
          <a:xfrm>
            <a:off x="380584" y="3424887"/>
            <a:ext cx="8382000" cy="997196"/>
          </a:xfrm>
        </p:spPr>
        <p:txBody>
          <a:bodyPr/>
          <a:lstStyle/>
          <a:p>
            <a:pPr marL="403200" indent="-403200">
              <a:spcBef>
                <a:spcPts val="1000"/>
              </a:spcBef>
              <a:buClr>
                <a:schemeClr val="tx2"/>
              </a:buClr>
              <a:buFont typeface="+mj-lt"/>
              <a:buAutoNum type="arabicPeriod" startAt="2"/>
            </a:pPr>
            <a:r>
              <a:rPr lang="en-US" altLang="en-US" sz="2400" dirty="0"/>
              <a:t>Using other information from existing systems, current procedures, and current reports or forms, add items or categories of information needed.</a:t>
            </a:r>
            <a:endParaRPr lang="en-IN" sz="2400" dirty="0"/>
          </a:p>
        </p:txBody>
      </p:sp>
      <p:sp>
        <p:nvSpPr>
          <p:cNvPr id="10" name="Content Placeholder 9"/>
          <p:cNvSpPr>
            <a:spLocks noGrp="1"/>
          </p:cNvSpPr>
          <p:nvPr>
            <p:ph sz="quarter" idx="13"/>
          </p:nvPr>
        </p:nvSpPr>
        <p:spPr>
          <a:xfrm>
            <a:off x="389467" y="4579313"/>
            <a:ext cx="8382000" cy="607463"/>
          </a:xfrm>
        </p:spPr>
        <p:txBody>
          <a:bodyPr/>
          <a:lstStyle/>
          <a:p>
            <a:pPr lvl="1"/>
            <a:r>
              <a:rPr lang="en-US" altLang="en-US" sz="1800" dirty="0"/>
              <a:t>For the RMO CSMS, these might include price, size, color, style, season, inventory quantity, payment method, and shipping address.</a:t>
            </a:r>
            <a:endParaRPr lang="en-IN" sz="1800" dirty="0"/>
          </a:p>
        </p:txBody>
      </p:sp>
      <p:sp>
        <p:nvSpPr>
          <p:cNvPr id="4" name="Slide Number Placeholder 3"/>
          <p:cNvSpPr>
            <a:spLocks noGrp="1"/>
          </p:cNvSpPr>
          <p:nvPr>
            <p:ph type="sldNum" sz="quarter" idx="4"/>
          </p:nvPr>
        </p:nvSpPr>
        <p:spPr/>
        <p:txBody>
          <a:bodyPr/>
          <a:lstStyle/>
          <a:p>
            <a:fld id="{009A3541-B7EF-4A1D-9612-A6ED665B4012}" type="slidenum">
              <a:rPr lang="en-US" altLang="en-US" smtClean="0"/>
              <a:pPr/>
              <a:t>11</a:t>
            </a:fld>
            <a:endParaRPr lang="en-US" altLang="en-US" dirty="0"/>
          </a:p>
        </p:txBody>
      </p:sp>
      <p:sp>
        <p:nvSpPr>
          <p:cNvPr id="5" name="Footer Placeholder 4"/>
          <p:cNvSpPr>
            <a:spLocks noGrp="1"/>
          </p:cNvSpPr>
          <p:nvPr>
            <p:ph type="ftr" sz="quarter" idx="3"/>
          </p:nvPr>
        </p:nvSpPr>
        <p:spPr>
          <a:xfrm>
            <a:off x="0" y="6244046"/>
            <a:ext cx="7848600" cy="291376"/>
          </a:xfrm>
        </p:spPr>
        <p:txBody>
          <a:body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32231752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81000" y="230188"/>
            <a:ext cx="8382000" cy="664797"/>
          </a:xfrm>
        </p:spPr>
        <p:txBody>
          <a:bodyPr/>
          <a:lstStyle/>
          <a:p>
            <a:r>
              <a:rPr lang="en-US" altLang="en-US" sz="3600" spc="0" dirty="0">
                <a:solidFill>
                  <a:schemeClr val="tx1"/>
                </a:solidFill>
                <a:effectLst/>
              </a:rPr>
              <a:t>The Noun Technique: Steps</a:t>
            </a:r>
            <a:r>
              <a:rPr lang="en-US" altLang="en-US" spc="0" dirty="0">
                <a:solidFill>
                  <a:schemeClr val="tx1"/>
                </a:solidFill>
                <a:effectLst/>
              </a:rPr>
              <a:t> </a:t>
            </a:r>
            <a:r>
              <a:rPr lang="en-US" altLang="en-US" sz="2000" spc="0" dirty="0">
                <a:solidFill>
                  <a:schemeClr val="tx1"/>
                </a:solidFill>
                <a:effectLst/>
              </a:rPr>
              <a:t>(2 of 3)</a:t>
            </a:r>
            <a:endParaRPr lang="en-IN" sz="2000" dirty="0"/>
          </a:p>
        </p:txBody>
      </p:sp>
      <p:sp>
        <p:nvSpPr>
          <p:cNvPr id="7" name="Text Placeholder 6"/>
          <p:cNvSpPr>
            <a:spLocks noGrp="1"/>
          </p:cNvSpPr>
          <p:nvPr>
            <p:ph type="body" sz="quarter" idx="10"/>
          </p:nvPr>
        </p:nvSpPr>
        <p:spPr>
          <a:xfrm>
            <a:off x="381000" y="1411552"/>
            <a:ext cx="8382000" cy="664797"/>
          </a:xfrm>
        </p:spPr>
        <p:txBody>
          <a:bodyPr/>
          <a:lstStyle/>
          <a:p>
            <a:pPr marL="457200" indent="-457200">
              <a:spcBef>
                <a:spcPts val="1000"/>
              </a:spcBef>
              <a:buClr>
                <a:schemeClr val="tx2"/>
              </a:buClr>
              <a:buFont typeface="+mj-lt"/>
              <a:buAutoNum type="arabicPeriod" startAt="3"/>
            </a:pPr>
            <a:r>
              <a:rPr lang="en-US" altLang="en-US" sz="2400" dirty="0"/>
              <a:t>As this list of nouns builds, refine it. Ask these questions about each noun to help you decide whether you should include it:</a:t>
            </a:r>
            <a:endParaRPr lang="en-IN" sz="2400" dirty="0"/>
          </a:p>
        </p:txBody>
      </p:sp>
      <p:sp>
        <p:nvSpPr>
          <p:cNvPr id="8" name="Content Placeholder 7"/>
          <p:cNvSpPr>
            <a:spLocks noGrp="1"/>
          </p:cNvSpPr>
          <p:nvPr>
            <p:ph sz="quarter" idx="11"/>
          </p:nvPr>
        </p:nvSpPr>
        <p:spPr>
          <a:xfrm>
            <a:off x="381000" y="2171325"/>
            <a:ext cx="8382000" cy="926792"/>
          </a:xfrm>
        </p:spPr>
        <p:txBody>
          <a:bodyPr/>
          <a:lstStyle/>
          <a:p>
            <a:pPr lvl="1">
              <a:lnSpc>
                <a:spcPct val="80000"/>
              </a:lnSpc>
              <a:spcBef>
                <a:spcPts val="1000"/>
              </a:spcBef>
            </a:pPr>
            <a:r>
              <a:rPr lang="en-US" altLang="en-US" sz="1800" dirty="0"/>
              <a:t>Is it a unique thing the system needs to know about?</a:t>
            </a:r>
          </a:p>
          <a:p>
            <a:pPr lvl="1">
              <a:lnSpc>
                <a:spcPct val="80000"/>
              </a:lnSpc>
              <a:spcBef>
                <a:spcPts val="1000"/>
              </a:spcBef>
            </a:pPr>
            <a:r>
              <a:rPr lang="en-US" altLang="en-US" sz="1800" dirty="0"/>
              <a:t>Is it inside the scope of the system I am working on?</a:t>
            </a:r>
          </a:p>
          <a:p>
            <a:pPr lvl="1">
              <a:lnSpc>
                <a:spcPct val="80000"/>
              </a:lnSpc>
              <a:spcBef>
                <a:spcPts val="1000"/>
              </a:spcBef>
            </a:pPr>
            <a:r>
              <a:rPr lang="en-US" altLang="en-US" sz="1800" dirty="0"/>
              <a:t>Does the system need to remember more than one of these items?</a:t>
            </a:r>
            <a:endParaRPr lang="en-IN" sz="1800" dirty="0"/>
          </a:p>
        </p:txBody>
      </p:sp>
      <p:sp>
        <p:nvSpPr>
          <p:cNvPr id="9" name="Content Placeholder 8"/>
          <p:cNvSpPr>
            <a:spLocks noGrp="1"/>
          </p:cNvSpPr>
          <p:nvPr>
            <p:ph sz="quarter" idx="12"/>
          </p:nvPr>
        </p:nvSpPr>
        <p:spPr>
          <a:xfrm>
            <a:off x="380584" y="3185188"/>
            <a:ext cx="8382000" cy="1575175"/>
          </a:xfrm>
        </p:spPr>
        <p:txBody>
          <a:bodyPr/>
          <a:lstStyle/>
          <a:p>
            <a:pPr marL="401638" indent="42863">
              <a:lnSpc>
                <a:spcPct val="80000"/>
              </a:lnSpc>
              <a:buFont typeface="Wingdings" panose="05000000000000000000" pitchFamily="2" charset="2"/>
              <a:buNone/>
            </a:pPr>
            <a:r>
              <a:rPr lang="en-US" altLang="en-US" sz="2400" dirty="0"/>
              <a:t>Ask these questions to decide to exclude it:</a:t>
            </a:r>
          </a:p>
          <a:p>
            <a:pPr lvl="1">
              <a:lnSpc>
                <a:spcPct val="80000"/>
              </a:lnSpc>
            </a:pPr>
            <a:r>
              <a:rPr lang="en-US" altLang="en-US" sz="1800" dirty="0"/>
              <a:t>Is it really a synonym for some other thing I have identified?</a:t>
            </a:r>
          </a:p>
          <a:p>
            <a:pPr lvl="1">
              <a:lnSpc>
                <a:spcPct val="80000"/>
              </a:lnSpc>
            </a:pPr>
            <a:r>
              <a:rPr lang="en-US" altLang="en-US" sz="1800" dirty="0"/>
              <a:t>Is it really just an output of the system produced from other information I have identified?</a:t>
            </a:r>
          </a:p>
          <a:p>
            <a:pPr lvl="1">
              <a:lnSpc>
                <a:spcPct val="80000"/>
              </a:lnSpc>
            </a:pPr>
            <a:r>
              <a:rPr lang="en-US" altLang="en-US" sz="1800" dirty="0"/>
              <a:t>Is it really just an input that results in recording some other information I have identified?</a:t>
            </a:r>
            <a:endParaRPr lang="en-IN" sz="2400" dirty="0"/>
          </a:p>
        </p:txBody>
      </p:sp>
      <p:sp>
        <p:nvSpPr>
          <p:cNvPr id="10" name="Content Placeholder 9"/>
          <p:cNvSpPr>
            <a:spLocks noGrp="1"/>
          </p:cNvSpPr>
          <p:nvPr>
            <p:ph sz="quarter" idx="13"/>
          </p:nvPr>
        </p:nvSpPr>
        <p:spPr>
          <a:xfrm>
            <a:off x="336199" y="4810134"/>
            <a:ext cx="8382000" cy="1076577"/>
          </a:xfrm>
        </p:spPr>
        <p:txBody>
          <a:bodyPr/>
          <a:lstStyle/>
          <a:p>
            <a:pPr marL="401638" indent="42863">
              <a:lnSpc>
                <a:spcPct val="80000"/>
              </a:lnSpc>
              <a:buFont typeface="Wingdings" panose="05000000000000000000" pitchFamily="2" charset="2"/>
              <a:buNone/>
            </a:pPr>
            <a:r>
              <a:rPr lang="en-US" altLang="en-US" sz="2400" dirty="0"/>
              <a:t>Ask these questions to research it:</a:t>
            </a:r>
          </a:p>
          <a:p>
            <a:pPr lvl="1">
              <a:lnSpc>
                <a:spcPct val="80000"/>
              </a:lnSpc>
            </a:pPr>
            <a:r>
              <a:rPr lang="en-US" altLang="en-US" sz="1800" dirty="0"/>
              <a:t>Is it likely to be a specific piece of information (attribute) about some other thing I have identified?</a:t>
            </a:r>
          </a:p>
          <a:p>
            <a:pPr lvl="1">
              <a:lnSpc>
                <a:spcPct val="80000"/>
              </a:lnSpc>
            </a:pPr>
            <a:r>
              <a:rPr lang="en-US" altLang="en-US" sz="1800" dirty="0"/>
              <a:t>Is it something I might need if assumptions change?</a:t>
            </a:r>
            <a:endParaRPr lang="en-IN" sz="1800" dirty="0"/>
          </a:p>
        </p:txBody>
      </p:sp>
      <p:sp>
        <p:nvSpPr>
          <p:cNvPr id="4" name="Slide Number Placeholder 3"/>
          <p:cNvSpPr>
            <a:spLocks noGrp="1"/>
          </p:cNvSpPr>
          <p:nvPr>
            <p:ph type="sldNum" sz="quarter" idx="4"/>
          </p:nvPr>
        </p:nvSpPr>
        <p:spPr/>
        <p:txBody>
          <a:bodyPr/>
          <a:lstStyle/>
          <a:p>
            <a:fld id="{009A3541-B7EF-4A1D-9612-A6ED665B4012}" type="slidenum">
              <a:rPr lang="en-US" altLang="en-US" smtClean="0"/>
              <a:pPr/>
              <a:t>12</a:t>
            </a:fld>
            <a:endParaRPr lang="en-US" altLang="en-US" dirty="0"/>
          </a:p>
        </p:txBody>
      </p:sp>
      <p:sp>
        <p:nvSpPr>
          <p:cNvPr id="5" name="Footer Placeholder 4"/>
          <p:cNvSpPr>
            <a:spLocks noGrp="1"/>
          </p:cNvSpPr>
          <p:nvPr>
            <p:ph type="ftr" sz="quarter" idx="3"/>
          </p:nvPr>
        </p:nvSpPr>
        <p:spPr>
          <a:xfrm>
            <a:off x="0" y="6244046"/>
            <a:ext cx="7848600" cy="291376"/>
          </a:xfrm>
        </p:spPr>
        <p:txBody>
          <a:body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36629149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81000" y="230188"/>
            <a:ext cx="8382000" cy="664797"/>
          </a:xfrm>
        </p:spPr>
        <p:txBody>
          <a:bodyPr/>
          <a:lstStyle/>
          <a:p>
            <a:r>
              <a:rPr lang="en-US" altLang="en-US" sz="3600" spc="0" dirty="0">
                <a:solidFill>
                  <a:schemeClr val="tx1"/>
                </a:solidFill>
                <a:effectLst/>
              </a:rPr>
              <a:t>The Noun Technique: Steps</a:t>
            </a:r>
            <a:r>
              <a:rPr lang="en-US" altLang="en-US" spc="0" dirty="0">
                <a:solidFill>
                  <a:schemeClr val="tx1"/>
                </a:solidFill>
                <a:effectLst/>
              </a:rPr>
              <a:t> </a:t>
            </a:r>
            <a:r>
              <a:rPr lang="en-US" altLang="en-US" sz="2000" spc="0" dirty="0">
                <a:solidFill>
                  <a:schemeClr val="tx1"/>
                </a:solidFill>
                <a:effectLst/>
              </a:rPr>
              <a:t>(3 of 3)</a:t>
            </a:r>
            <a:endParaRPr lang="en-IN" sz="2000" dirty="0"/>
          </a:p>
        </p:txBody>
      </p:sp>
      <p:sp>
        <p:nvSpPr>
          <p:cNvPr id="7" name="Text Placeholder 6"/>
          <p:cNvSpPr>
            <a:spLocks noGrp="1"/>
          </p:cNvSpPr>
          <p:nvPr>
            <p:ph type="body" sz="quarter" idx="10"/>
          </p:nvPr>
        </p:nvSpPr>
        <p:spPr>
          <a:xfrm>
            <a:off x="381000" y="1420430"/>
            <a:ext cx="8382000" cy="1612942"/>
          </a:xfrm>
        </p:spPr>
        <p:txBody>
          <a:bodyPr/>
          <a:lstStyle/>
          <a:p>
            <a:pPr marL="403200" indent="-403200">
              <a:lnSpc>
                <a:spcPct val="80000"/>
              </a:lnSpc>
              <a:spcBef>
                <a:spcPts val="1000"/>
              </a:spcBef>
              <a:buClr>
                <a:schemeClr val="tx2"/>
              </a:buClr>
              <a:buFont typeface="+mj-lt"/>
              <a:buAutoNum type="arabicPeriod" startAt="4"/>
            </a:pPr>
            <a:r>
              <a:rPr lang="en-US" altLang="en-US" sz="2400" dirty="0"/>
              <a:t>Create a master list of all nouns identified and then note whether each one should be included, excluded, or researched further.</a:t>
            </a:r>
          </a:p>
          <a:p>
            <a:pPr marL="403200" indent="-403200">
              <a:lnSpc>
                <a:spcPct val="80000"/>
              </a:lnSpc>
              <a:spcBef>
                <a:spcPts val="1000"/>
              </a:spcBef>
              <a:buClr>
                <a:schemeClr val="tx2"/>
              </a:buClr>
              <a:buFont typeface="+mj-lt"/>
              <a:buAutoNum type="arabicPeriod" startAt="4"/>
            </a:pPr>
            <a:r>
              <a:rPr lang="en-US" altLang="en-US" sz="2400" dirty="0"/>
              <a:t>Review the list with users, stakeholders, and team members and then define the list of things in the problem domain.</a:t>
            </a:r>
            <a:endParaRPr lang="en-GB" altLang="en-US" sz="2400" dirty="0"/>
          </a:p>
        </p:txBody>
      </p:sp>
      <p:sp>
        <p:nvSpPr>
          <p:cNvPr id="4" name="Slide Number Placeholder 3"/>
          <p:cNvSpPr>
            <a:spLocks noGrp="1"/>
          </p:cNvSpPr>
          <p:nvPr>
            <p:ph type="sldNum" sz="quarter" idx="4"/>
          </p:nvPr>
        </p:nvSpPr>
        <p:spPr/>
        <p:txBody>
          <a:bodyPr/>
          <a:lstStyle/>
          <a:p>
            <a:fld id="{009A3541-B7EF-4A1D-9612-A6ED665B4012}" type="slidenum">
              <a:rPr lang="en-US" altLang="en-US" smtClean="0"/>
              <a:pPr/>
              <a:t>13</a:t>
            </a:fld>
            <a:endParaRPr lang="en-US" altLang="en-US" dirty="0"/>
          </a:p>
        </p:txBody>
      </p:sp>
      <p:sp>
        <p:nvSpPr>
          <p:cNvPr id="5" name="Footer Placeholder 4"/>
          <p:cNvSpPr>
            <a:spLocks noGrp="1"/>
          </p:cNvSpPr>
          <p:nvPr>
            <p:ph type="ftr" sz="quarter" idx="3"/>
          </p:nvPr>
        </p:nvSpPr>
        <p:spPr>
          <a:xfrm>
            <a:off x="0" y="6244046"/>
            <a:ext cx="7848600" cy="291376"/>
          </a:xfrm>
        </p:spPr>
        <p:txBody>
          <a:body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765477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381000" y="230188"/>
            <a:ext cx="8382000" cy="443198"/>
          </a:xfrm>
        </p:spPr>
        <p:txBody>
          <a:bodyPr/>
          <a:lstStyle/>
          <a:p>
            <a:r>
              <a:rPr lang="en-US" altLang="en-US" sz="3200" spc="0" dirty="0">
                <a:solidFill>
                  <a:schemeClr val="tx1"/>
                </a:solidFill>
                <a:effectLst/>
              </a:rPr>
              <a:t>Partial List of Nouns for R</a:t>
            </a:r>
            <a:r>
              <a:rPr lang="en-US" altLang="en-US" sz="100" spc="0" dirty="0">
                <a:solidFill>
                  <a:schemeClr val="tx1"/>
                </a:solidFill>
                <a:effectLst/>
              </a:rPr>
              <a:t> </a:t>
            </a:r>
            <a:r>
              <a:rPr lang="en-US" altLang="en-US" sz="3200" spc="0" dirty="0">
                <a:solidFill>
                  <a:schemeClr val="tx1"/>
                </a:solidFill>
                <a:effectLst/>
              </a:rPr>
              <a:t>M</a:t>
            </a:r>
            <a:r>
              <a:rPr lang="en-US" altLang="en-US" sz="100" spc="0" dirty="0">
                <a:solidFill>
                  <a:schemeClr val="tx1"/>
                </a:solidFill>
                <a:effectLst/>
              </a:rPr>
              <a:t> </a:t>
            </a:r>
            <a:r>
              <a:rPr lang="en-US" altLang="en-US" sz="3200" spc="0" dirty="0">
                <a:solidFill>
                  <a:schemeClr val="tx1"/>
                </a:solidFill>
                <a:effectLst/>
              </a:rPr>
              <a:t>O </a:t>
            </a:r>
            <a:r>
              <a:rPr lang="en-US" altLang="en-US" sz="2000" spc="0" dirty="0">
                <a:solidFill>
                  <a:schemeClr val="tx1"/>
                </a:solidFill>
                <a:effectLst/>
              </a:rPr>
              <a:t>(1 of 2)</a:t>
            </a:r>
          </a:p>
        </p:txBody>
      </p:sp>
      <p:sp>
        <p:nvSpPr>
          <p:cNvPr id="2" name="Text Placeholder 1"/>
          <p:cNvSpPr>
            <a:spLocks noGrp="1"/>
          </p:cNvSpPr>
          <p:nvPr>
            <p:ph type="body" sz="quarter" idx="10"/>
          </p:nvPr>
        </p:nvSpPr>
        <p:spPr>
          <a:xfrm>
            <a:off x="363908" y="1227032"/>
            <a:ext cx="8382000" cy="373168"/>
          </a:xfrm>
        </p:spPr>
        <p:txBody>
          <a:bodyPr/>
          <a:lstStyle/>
          <a:p>
            <a:r>
              <a:rPr lang="en-US" altLang="en-US" sz="2000" dirty="0"/>
              <a:t>With notes on whether to include as domain clas</a:t>
            </a:r>
            <a:r>
              <a:rPr lang="en-US" altLang="en-US" sz="2400" dirty="0"/>
              <a:t>s</a:t>
            </a:r>
            <a:endParaRPr lang="en-US" sz="2400" dirty="0"/>
          </a:p>
        </p:txBody>
      </p:sp>
      <p:graphicFrame>
        <p:nvGraphicFramePr>
          <p:cNvPr id="9" name="Content Placeholder 8" descr="Table is accessible to screenreaders"/>
          <p:cNvGraphicFramePr>
            <a:graphicFrameLocks noGrp="1"/>
          </p:cNvGraphicFramePr>
          <p:nvPr>
            <p:ph sz="quarter" idx="11"/>
            <p:extLst>
              <p:ext uri="{D42A27DB-BD31-4B8C-83A1-F6EECF244321}">
                <p14:modId xmlns:p14="http://schemas.microsoft.com/office/powerpoint/2010/main" val="1577993434"/>
              </p:ext>
            </p:extLst>
          </p:nvPr>
        </p:nvGraphicFramePr>
        <p:xfrm>
          <a:off x="381000" y="1744054"/>
          <a:ext cx="8382000" cy="41249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1600" dirty="0">
                          <a:solidFill>
                            <a:schemeClr val="tx1"/>
                          </a:solidFill>
                        </a:rPr>
                        <a:t>Identified noun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Notes</a:t>
                      </a:r>
                      <a:r>
                        <a:rPr lang="en-US" sz="1600" baseline="0" dirty="0">
                          <a:solidFill>
                            <a:schemeClr val="tx1"/>
                          </a:solidFill>
                        </a:rPr>
                        <a:t> on including noun as a thing to store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1600" dirty="0">
                          <a:solidFill>
                            <a:schemeClr val="tx1"/>
                          </a:solidFill>
                        </a:rPr>
                        <a:t>Accounting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We know</a:t>
                      </a:r>
                      <a:r>
                        <a:rPr lang="en-US" sz="1600" baseline="0" dirty="0">
                          <a:solidFill>
                            <a:schemeClr val="tx1"/>
                          </a:solidFill>
                        </a:rPr>
                        <a:t> who they are. No need to store it.</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sz="1600" dirty="0">
                          <a:solidFill>
                            <a:schemeClr val="tx1"/>
                          </a:solidFill>
                        </a:rPr>
                        <a:t>Back order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A special type</a:t>
                      </a:r>
                      <a:r>
                        <a:rPr lang="en-US" sz="1600" baseline="0" dirty="0">
                          <a:solidFill>
                            <a:schemeClr val="tx1"/>
                          </a:solidFill>
                        </a:rPr>
                        <a:t> of order? Or a value of order status? Research.</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sz="1600" dirty="0">
                          <a:solidFill>
                            <a:schemeClr val="tx1"/>
                          </a:solidFill>
                        </a:rPr>
                        <a:t>Back-order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An output that can</a:t>
                      </a:r>
                      <a:r>
                        <a:rPr lang="en-US" sz="1600" baseline="0" dirty="0">
                          <a:solidFill>
                            <a:schemeClr val="tx1"/>
                          </a:solidFill>
                        </a:rPr>
                        <a:t> be produced from other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sz="1600" dirty="0">
                          <a:solidFill>
                            <a:schemeClr val="tx1"/>
                          </a:solidFill>
                        </a:rPr>
                        <a:t>Bank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Only one of them.</a:t>
                      </a:r>
                      <a:r>
                        <a:rPr lang="en-US" sz="1600" baseline="0" dirty="0">
                          <a:solidFill>
                            <a:schemeClr val="tx1"/>
                          </a:solidFill>
                        </a:rPr>
                        <a:t> No need to store.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r>
                        <a:rPr lang="en-US" sz="1600" dirty="0">
                          <a:solidFill>
                            <a:schemeClr val="tx1"/>
                          </a:solidFill>
                        </a:rPr>
                        <a:t>Catalog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Yes,</a:t>
                      </a:r>
                      <a:r>
                        <a:rPr lang="en-US" sz="1600" baseline="0" dirty="0">
                          <a:solidFill>
                            <a:schemeClr val="tx1"/>
                          </a:solidFill>
                        </a:rPr>
                        <a:t> need to recall them, for different seasons and years, Include.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r>
                        <a:rPr lang="en-US" sz="1600" dirty="0">
                          <a:solidFill>
                            <a:schemeClr val="tx1"/>
                          </a:solidFill>
                        </a:rPr>
                        <a:t>Catalog activity reports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An output that can be produced from other information, Not stored.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r>
                        <a:rPr lang="en-US" sz="1600" dirty="0">
                          <a:solidFill>
                            <a:schemeClr val="tx1"/>
                          </a:solidFill>
                        </a:rPr>
                        <a:t>Catalog details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Same</a:t>
                      </a:r>
                      <a:r>
                        <a:rPr lang="en-US" sz="1600" baseline="0" dirty="0">
                          <a:solidFill>
                            <a:schemeClr val="tx1"/>
                          </a:solidFill>
                        </a:rPr>
                        <a:t> as catalog? Or the same as product items in the catalog? Research.</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r>
                        <a:rPr lang="en-US" sz="1600" dirty="0">
                          <a:solidFill>
                            <a:schemeClr val="tx1"/>
                          </a:solidFill>
                        </a:rPr>
                        <a:t>Change request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An input resulting in remembering changes to an order.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0840">
                <a:tc>
                  <a:txBody>
                    <a:bodyPr/>
                    <a:lstStyle/>
                    <a:p>
                      <a:r>
                        <a:rPr lang="en-US" sz="1600" dirty="0">
                          <a:solidFill>
                            <a:schemeClr val="tx1"/>
                          </a:solidFill>
                        </a:rPr>
                        <a:t>Charge adjustment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An input resulting in a transaction.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
        <p:nvSpPr>
          <p:cNvPr id="5" name="Slide Number Placeholder 5"/>
          <p:cNvSpPr>
            <a:spLocks noGrp="1"/>
          </p:cNvSpPr>
          <p:nvPr>
            <p:ph type="sldNum" sz="quarter" idx="4"/>
          </p:nvPr>
        </p:nvSpPr>
        <p:spPr>
          <a:prstGeom prst="rect">
            <a:avLst/>
          </a:prstGeom>
        </p:spPr>
        <p:txBody>
          <a:bodyPr/>
          <a:lstStyle/>
          <a:p>
            <a:fld id="{29E1C634-B3F3-4A4F-9C9C-F6ED8E5BAB3D}" type="slidenum">
              <a:rPr lang="en-US" altLang="en-US"/>
              <a:pPr/>
              <a:t>14</a:t>
            </a:fld>
            <a:endParaRPr lang="en-US" altLang="en-US"/>
          </a:p>
        </p:txBody>
      </p:sp>
      <p:sp>
        <p:nvSpPr>
          <p:cNvPr id="4" name="Footer Placeholder 4"/>
          <p:cNvSpPr>
            <a:spLocks noGrp="1"/>
          </p:cNvSpPr>
          <p:nvPr>
            <p:ph type="ftr" sz="quarter" idx="3"/>
          </p:nvPr>
        </p:nvSpPr>
        <p:spPr>
          <a:xfrm>
            <a:off x="0" y="6244046"/>
            <a:ext cx="76962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381000" y="230188"/>
            <a:ext cx="8382000" cy="443198"/>
          </a:xfrm>
        </p:spPr>
        <p:txBody>
          <a:bodyPr/>
          <a:lstStyle/>
          <a:p>
            <a:r>
              <a:rPr lang="en-US" altLang="en-US" sz="3200" spc="0" dirty="0">
                <a:solidFill>
                  <a:schemeClr val="tx1"/>
                </a:solidFill>
                <a:effectLst/>
              </a:rPr>
              <a:t>Partial List of Nouns for R</a:t>
            </a:r>
            <a:r>
              <a:rPr lang="en-US" altLang="en-US" sz="100" spc="0" dirty="0">
                <a:solidFill>
                  <a:schemeClr val="tx1"/>
                </a:solidFill>
                <a:effectLst/>
              </a:rPr>
              <a:t> </a:t>
            </a:r>
            <a:r>
              <a:rPr lang="en-US" altLang="en-US" sz="3200" spc="0" dirty="0">
                <a:solidFill>
                  <a:schemeClr val="tx1"/>
                </a:solidFill>
                <a:effectLst/>
              </a:rPr>
              <a:t>M</a:t>
            </a:r>
            <a:r>
              <a:rPr lang="en-US" altLang="en-US" sz="100" spc="0" dirty="0">
                <a:solidFill>
                  <a:schemeClr val="tx1"/>
                </a:solidFill>
                <a:effectLst/>
              </a:rPr>
              <a:t> </a:t>
            </a:r>
            <a:r>
              <a:rPr lang="en-US" altLang="en-US" sz="3200" spc="0" dirty="0">
                <a:solidFill>
                  <a:schemeClr val="tx1"/>
                </a:solidFill>
                <a:effectLst/>
              </a:rPr>
              <a:t>O </a:t>
            </a:r>
            <a:r>
              <a:rPr lang="en-US" altLang="en-US" sz="2000" spc="0" dirty="0">
                <a:solidFill>
                  <a:schemeClr val="tx1"/>
                </a:solidFill>
                <a:effectLst/>
              </a:rPr>
              <a:t>(2 of 2)</a:t>
            </a:r>
          </a:p>
        </p:txBody>
      </p:sp>
      <p:graphicFrame>
        <p:nvGraphicFramePr>
          <p:cNvPr id="9" name="Content Placeholder 8" descr="Table is accessible to screenreaders"/>
          <p:cNvGraphicFramePr>
            <a:graphicFrameLocks noGrp="1"/>
          </p:cNvGraphicFramePr>
          <p:nvPr>
            <p:ph sz="quarter" idx="11"/>
            <p:extLst>
              <p:ext uri="{D42A27DB-BD31-4B8C-83A1-F6EECF244321}">
                <p14:modId xmlns:p14="http://schemas.microsoft.com/office/powerpoint/2010/main" val="4026666023"/>
              </p:ext>
            </p:extLst>
          </p:nvPr>
        </p:nvGraphicFramePr>
        <p:xfrm>
          <a:off x="381000" y="1295400"/>
          <a:ext cx="8382000" cy="42875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1600" dirty="0">
                          <a:solidFill>
                            <a:schemeClr val="tx1"/>
                          </a:solidFill>
                        </a:rPr>
                        <a:t>Identified noun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Notes</a:t>
                      </a:r>
                      <a:r>
                        <a:rPr lang="en-US" sz="1600" baseline="0" dirty="0">
                          <a:solidFill>
                            <a:schemeClr val="tx1"/>
                          </a:solidFill>
                        </a:rPr>
                        <a:t> on including noun as a thing to store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1600" dirty="0">
                          <a:solidFill>
                            <a:schemeClr val="tx1"/>
                          </a:solidFill>
                        </a:rPr>
                        <a:t>Color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One piece of information about</a:t>
                      </a:r>
                      <a:r>
                        <a:rPr lang="en-US" sz="1600" baseline="0" dirty="0">
                          <a:solidFill>
                            <a:schemeClr val="tx1"/>
                          </a:solidFill>
                        </a:rPr>
                        <a:t> a product item.</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sz="1600" dirty="0">
                          <a:solidFill>
                            <a:schemeClr val="tx1"/>
                          </a:solidFill>
                        </a:rPr>
                        <a:t>Confirmation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An output produced from other information, Not stored.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sz="1600" dirty="0">
                          <a:solidFill>
                            <a:schemeClr val="tx1"/>
                          </a:solidFill>
                        </a:rPr>
                        <a:t>Credit card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Part of an order? Or part of customer information?</a:t>
                      </a:r>
                      <a:r>
                        <a:rPr lang="en-US" sz="1600" baseline="0" dirty="0">
                          <a:solidFill>
                            <a:schemeClr val="tx1"/>
                          </a:solidFill>
                        </a:rPr>
                        <a:t> Research.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sz="1600" dirty="0">
                          <a:solidFill>
                            <a:schemeClr val="tx1"/>
                          </a:solidFill>
                        </a:rPr>
                        <a:t>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Yes, a key thing with lots of details required.</a:t>
                      </a:r>
                      <a:r>
                        <a:rPr lang="en-US" sz="1600" baseline="0" dirty="0">
                          <a:solidFill>
                            <a:schemeClr val="tx1"/>
                          </a:solidFill>
                        </a:rPr>
                        <a:t> Include.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r>
                        <a:rPr lang="en-US" sz="1600" dirty="0">
                          <a:solidFill>
                            <a:schemeClr val="tx1"/>
                          </a:solidFill>
                        </a:rPr>
                        <a:t>Customer</a:t>
                      </a:r>
                      <a:r>
                        <a:rPr lang="en-US" sz="1600" baseline="0" dirty="0">
                          <a:solidFill>
                            <a:schemeClr val="tx1"/>
                          </a:solidFill>
                        </a:rPr>
                        <a:t> account</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Possibly required if an R</a:t>
                      </a:r>
                      <a:r>
                        <a:rPr lang="en-US" sz="100" dirty="0">
                          <a:solidFill>
                            <a:schemeClr val="tx1"/>
                          </a:solidFill>
                        </a:rPr>
                        <a:t> </a:t>
                      </a:r>
                      <a:r>
                        <a:rPr lang="en-US" sz="1600" dirty="0">
                          <a:solidFill>
                            <a:schemeClr val="tx1"/>
                          </a:solidFill>
                        </a:rPr>
                        <a:t>M</a:t>
                      </a:r>
                      <a:r>
                        <a:rPr lang="en-US" sz="100" dirty="0">
                          <a:solidFill>
                            <a:schemeClr val="tx1"/>
                          </a:solidFill>
                        </a:rPr>
                        <a:t> </a:t>
                      </a:r>
                      <a:r>
                        <a:rPr lang="en-US" sz="1600" dirty="0">
                          <a:solidFill>
                            <a:schemeClr val="tx1"/>
                          </a:solidFill>
                        </a:rPr>
                        <a:t>O payment</a:t>
                      </a:r>
                      <a:r>
                        <a:rPr lang="en-US" sz="1600" baseline="0" dirty="0">
                          <a:solidFill>
                            <a:schemeClr val="tx1"/>
                          </a:solidFill>
                        </a:rPr>
                        <a:t> plan is included. Research.</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r>
                        <a:rPr lang="en-US" sz="1600" dirty="0">
                          <a:solidFill>
                            <a:schemeClr val="tx1"/>
                          </a:solidFill>
                        </a:rPr>
                        <a:t>Fulfillment</a:t>
                      </a:r>
                      <a:r>
                        <a:rPr lang="en-US" sz="1600" baseline="0" dirty="0">
                          <a:solidFill>
                            <a:schemeClr val="tx1"/>
                          </a:solidFill>
                        </a:rPr>
                        <a:t> reports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An output produced from information about shipments. Not stored.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r>
                        <a:rPr lang="en-US" sz="1600" dirty="0">
                          <a:solidFill>
                            <a:schemeClr val="tx1"/>
                          </a:solidFill>
                        </a:rPr>
                        <a:t>Inventory quantity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One piece of information about a product item. Research.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r>
                        <a:rPr lang="en-US" sz="1600" dirty="0">
                          <a:solidFill>
                            <a:schemeClr val="tx1"/>
                          </a:solidFill>
                        </a:rPr>
                        <a:t>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We know who they are. No need to store.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0840">
                <a:tc>
                  <a:txBody>
                    <a:bodyPr/>
                    <a:lstStyle/>
                    <a:p>
                      <a:r>
                        <a:rPr lang="en-US" sz="1600" dirty="0">
                          <a:solidFill>
                            <a:schemeClr val="tx1"/>
                          </a:solidFill>
                        </a:rPr>
                        <a:t>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We know who they are. No need to store.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r>
                        <a:rPr lang="en-US" sz="1600" dirty="0">
                          <a:solidFill>
                            <a:schemeClr val="tx1"/>
                          </a:solidFill>
                        </a:rPr>
                        <a:t>Merchandising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solidFill>
                            <a:schemeClr val="tx1"/>
                          </a:solidFill>
                        </a:rPr>
                        <a:t>We know who they are. No need to store.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5" name="Slide Number Placeholder 5"/>
          <p:cNvSpPr>
            <a:spLocks noGrp="1"/>
          </p:cNvSpPr>
          <p:nvPr>
            <p:ph type="sldNum" sz="quarter" idx="4"/>
          </p:nvPr>
        </p:nvSpPr>
        <p:spPr>
          <a:prstGeom prst="rect">
            <a:avLst/>
          </a:prstGeom>
        </p:spPr>
        <p:txBody>
          <a:bodyPr/>
          <a:lstStyle/>
          <a:p>
            <a:fld id="{29E1C634-B3F3-4A4F-9C9C-F6ED8E5BAB3D}" type="slidenum">
              <a:rPr lang="en-US" altLang="en-US"/>
              <a:pPr/>
              <a:t>15</a:t>
            </a:fld>
            <a:endParaRPr lang="en-US" altLang="en-US"/>
          </a:p>
        </p:txBody>
      </p:sp>
      <p:sp>
        <p:nvSpPr>
          <p:cNvPr id="4" name="Footer Placeholder 4"/>
          <p:cNvSpPr>
            <a:spLocks noGrp="1"/>
          </p:cNvSpPr>
          <p:nvPr>
            <p:ph type="ftr" sz="quarter" idx="3"/>
          </p:nvPr>
        </p:nvSpPr>
        <p:spPr>
          <a:xfrm>
            <a:off x="0" y="6244046"/>
            <a:ext cx="7620000" cy="457200"/>
          </a:xfrm>
          <a:prstGeom prst="rect">
            <a:avLst/>
          </a:prstGeom>
        </p:spPr>
        <p:txBody>
          <a:body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19218206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a:xfrm>
            <a:off x="381000" y="230188"/>
            <a:ext cx="8382000" cy="553998"/>
          </a:xfrm>
        </p:spPr>
        <p:txBody>
          <a:bodyPr/>
          <a:lstStyle/>
          <a:p>
            <a:r>
              <a:rPr lang="en-US" altLang="en-US" sz="3600" spc="0" dirty="0">
                <a:solidFill>
                  <a:schemeClr val="tx1"/>
                </a:solidFill>
                <a:effectLst/>
              </a:rPr>
              <a:t>Details about Domain</a:t>
            </a:r>
            <a:r>
              <a:rPr lang="en-US" altLang="en-US" sz="4000" spc="0" dirty="0">
                <a:solidFill>
                  <a:schemeClr val="tx1"/>
                </a:solidFill>
                <a:effectLst/>
              </a:rPr>
              <a:t> Classes</a:t>
            </a:r>
            <a:endParaRPr lang="en-US" altLang="en-US" sz="3200" spc="0" dirty="0">
              <a:solidFill>
                <a:schemeClr val="tx1"/>
              </a:solidFill>
              <a:effectLst/>
            </a:endParaRPr>
          </a:p>
        </p:txBody>
      </p:sp>
      <p:sp>
        <p:nvSpPr>
          <p:cNvPr id="294915" name="Rectangle 3"/>
          <p:cNvSpPr>
            <a:spLocks noGrp="1" noChangeArrowheads="1"/>
          </p:cNvSpPr>
          <p:nvPr>
            <p:ph idx="1"/>
          </p:nvPr>
        </p:nvSpPr>
        <p:spPr>
          <a:xfrm>
            <a:off x="355362" y="1269762"/>
            <a:ext cx="8382000" cy="4225925"/>
          </a:xfrm>
        </p:spPr>
        <p:txBody>
          <a:bodyPr/>
          <a:lstStyle/>
          <a:p>
            <a:pPr>
              <a:lnSpc>
                <a:spcPct val="80000"/>
              </a:lnSpc>
            </a:pPr>
            <a:r>
              <a:rPr lang="en-US" altLang="en-US" sz="2800" dirty="0"/>
              <a:t>Attribute— describes one piece of information about each instance of the class</a:t>
            </a:r>
          </a:p>
          <a:p>
            <a:pPr lvl="1">
              <a:lnSpc>
                <a:spcPct val="80000"/>
              </a:lnSpc>
            </a:pPr>
            <a:r>
              <a:rPr lang="en-US" altLang="en-US" sz="2400" dirty="0"/>
              <a:t>Customer has first name, last name, phone number</a:t>
            </a:r>
          </a:p>
          <a:p>
            <a:pPr>
              <a:lnSpc>
                <a:spcPct val="80000"/>
              </a:lnSpc>
            </a:pPr>
            <a:r>
              <a:rPr lang="en-US" altLang="en-US" sz="2800" dirty="0"/>
              <a:t>Identifier or key</a:t>
            </a:r>
          </a:p>
          <a:p>
            <a:pPr lvl="1">
              <a:lnSpc>
                <a:spcPct val="80000"/>
              </a:lnSpc>
            </a:pPr>
            <a:r>
              <a:rPr lang="en-US" altLang="en-US" sz="2400" dirty="0"/>
              <a:t>One attribute uniquely identifies an instance of the class. Required for data entities, optional for domain classes. Customer I</a:t>
            </a:r>
            <a:r>
              <a:rPr lang="en-US" altLang="en-US" sz="100" dirty="0"/>
              <a:t> </a:t>
            </a:r>
            <a:r>
              <a:rPr lang="en-US" altLang="en-US" sz="2400" dirty="0"/>
              <a:t>D identifies a customer</a:t>
            </a:r>
          </a:p>
          <a:p>
            <a:pPr>
              <a:lnSpc>
                <a:spcPct val="80000"/>
              </a:lnSpc>
            </a:pPr>
            <a:r>
              <a:rPr lang="en-US" altLang="en-US" sz="2800" dirty="0"/>
              <a:t>Compound attribute</a:t>
            </a:r>
          </a:p>
          <a:p>
            <a:pPr lvl="1">
              <a:lnSpc>
                <a:spcPct val="80000"/>
              </a:lnSpc>
            </a:pPr>
            <a:r>
              <a:rPr lang="en-US" altLang="en-US" sz="2400" dirty="0"/>
              <a:t>Two or more attributes combined into one structure to simplify the model. (E.g., address rather than including number, street, city, state, zip separately). Sometimes an identifier or key is a compound attribute</a:t>
            </a:r>
            <a:r>
              <a:rPr lang="en-US" altLang="en-US" sz="2800" dirty="0"/>
              <a:t>.</a:t>
            </a:r>
            <a:endParaRPr lang="en-GB" altLang="en-US" sz="2400" dirty="0"/>
          </a:p>
        </p:txBody>
      </p:sp>
      <p:sp>
        <p:nvSpPr>
          <p:cNvPr id="5" name="Slide Number Placeholder 6"/>
          <p:cNvSpPr>
            <a:spLocks noGrp="1"/>
          </p:cNvSpPr>
          <p:nvPr>
            <p:ph type="sldNum" sz="quarter" idx="4"/>
          </p:nvPr>
        </p:nvSpPr>
        <p:spPr/>
        <p:txBody>
          <a:bodyPr/>
          <a:lstStyle/>
          <a:p>
            <a:fld id="{491A7825-762B-4ED5-AAF8-110FA503BC73}" type="slidenum">
              <a:rPr lang="en-US" altLang="en-US"/>
              <a:pPr/>
              <a:t>16</a:t>
            </a:fld>
            <a:endParaRPr lang="en-US" altLang="en-US"/>
          </a:p>
        </p:txBody>
      </p:sp>
      <p:sp>
        <p:nvSpPr>
          <p:cNvPr id="4" name="Footer Placeholder 5"/>
          <p:cNvSpPr>
            <a:spLocks noGrp="1"/>
          </p:cNvSpPr>
          <p:nvPr>
            <p:ph type="ftr" sz="quarter" idx="3"/>
          </p:nvPr>
        </p:nvSpPr>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r>
              <a:rPr lang="en-US" altLang="en-US" spc="0" dirty="0">
                <a:solidFill>
                  <a:schemeClr val="tx1"/>
                </a:solidFill>
                <a:effectLst/>
              </a:rPr>
              <a:t>Attributes and Values</a:t>
            </a:r>
          </a:p>
        </p:txBody>
      </p:sp>
      <p:sp>
        <p:nvSpPr>
          <p:cNvPr id="2" name="Content Placeholder 1"/>
          <p:cNvSpPr>
            <a:spLocks noGrp="1"/>
          </p:cNvSpPr>
          <p:nvPr>
            <p:ph sz="quarter" idx="12"/>
          </p:nvPr>
        </p:nvSpPr>
        <p:spPr>
          <a:xfrm>
            <a:off x="355362" y="1252670"/>
            <a:ext cx="8382000" cy="664797"/>
          </a:xfrm>
        </p:spPr>
        <p:txBody>
          <a:bodyPr/>
          <a:lstStyle/>
          <a:p>
            <a:r>
              <a:rPr lang="en-US" altLang="en-US" sz="2400" dirty="0"/>
              <a:t>Class is a type of thing. Object is a specific instance of the class. Each instance has its own values for an attribute</a:t>
            </a:r>
          </a:p>
        </p:txBody>
      </p:sp>
      <p:graphicFrame>
        <p:nvGraphicFramePr>
          <p:cNvPr id="13" name="Content Placeholder 12" descr="Table is accessible to screenreaders"/>
          <p:cNvGraphicFramePr>
            <a:graphicFrameLocks noGrp="1"/>
          </p:cNvGraphicFramePr>
          <p:nvPr>
            <p:ph sz="quarter" idx="11"/>
            <p:extLst>
              <p:ext uri="{D42A27DB-BD31-4B8C-83A1-F6EECF244321}">
                <p14:modId xmlns:p14="http://schemas.microsoft.com/office/powerpoint/2010/main" val="1663107062"/>
              </p:ext>
            </p:extLst>
          </p:nvPr>
        </p:nvGraphicFramePr>
        <p:xfrm>
          <a:off x="381000" y="2336800"/>
          <a:ext cx="8382000" cy="276860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37084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dirty="0">
                          <a:solidFill>
                            <a:schemeClr val="tx1"/>
                          </a:solidFill>
                        </a:rPr>
                        <a:t>All customers have</a:t>
                      </a:r>
                      <a:r>
                        <a:rPr lang="en-US" baseline="0" dirty="0">
                          <a:solidFill>
                            <a:schemeClr val="tx1"/>
                          </a:solidFill>
                        </a:rPr>
                        <a:t> these attributes: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dirty="0">
                          <a:solidFill>
                            <a:schemeClr val="tx1"/>
                          </a:solidFill>
                        </a:rPr>
                        <a:t>Each customer</a:t>
                      </a:r>
                      <a:r>
                        <a:rPr lang="en-US" baseline="0" dirty="0">
                          <a:solidFill>
                            <a:schemeClr val="tx1"/>
                          </a:solidFill>
                        </a:rPr>
                        <a:t> </a:t>
                      </a:r>
                      <a:r>
                        <a:rPr lang="en-US" dirty="0">
                          <a:solidFill>
                            <a:schemeClr val="tx1"/>
                          </a:solidFill>
                        </a:rPr>
                        <a:t>has a value for each</a:t>
                      </a:r>
                      <a:r>
                        <a:rPr lang="en-US" baseline="0" dirty="0">
                          <a:solidFill>
                            <a:schemeClr val="tx1"/>
                          </a:solidFill>
                        </a:rPr>
                        <a:t> attribute:</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200" b="0" dirty="0">
                          <a:solidFill>
                            <a:srgbClr val="E3E3E3"/>
                          </a:solidFill>
                        </a:rPr>
                        <a:t>Each customer has a value for each</a:t>
                      </a:r>
                      <a:r>
                        <a:rPr lang="en-US" sz="200" b="0" baseline="0" dirty="0">
                          <a:solidFill>
                            <a:srgbClr val="E3E3E3"/>
                          </a:solidFill>
                        </a:rPr>
                        <a:t> attribute:</a:t>
                      </a:r>
                      <a:endParaRPr lang="en-US" sz="200" b="0" dirty="0">
                        <a:solidFill>
                          <a:srgbClr val="E3E3E3"/>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200" b="0" dirty="0">
                          <a:solidFill>
                            <a:srgbClr val="E3E3E3"/>
                          </a:solidFill>
                        </a:rPr>
                        <a:t>Each customer has a value for each</a:t>
                      </a:r>
                      <a:r>
                        <a:rPr lang="en-US" sz="200" b="0" baseline="0" dirty="0">
                          <a:solidFill>
                            <a:srgbClr val="E3E3E3"/>
                          </a:solidFill>
                        </a:rPr>
                        <a:t> attribute:</a:t>
                      </a:r>
                      <a:endParaRPr lang="en-US" sz="200" b="0" dirty="0">
                        <a:solidFill>
                          <a:srgbClr val="E3E3E3"/>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dirty="0">
                          <a:solidFill>
                            <a:schemeClr val="tx1"/>
                          </a:solidFill>
                        </a:rPr>
                        <a:t>Customer I</a:t>
                      </a:r>
                      <a:r>
                        <a:rPr lang="en-US" sz="100" dirty="0">
                          <a:solidFill>
                            <a:schemeClr val="tx1"/>
                          </a:solidFill>
                        </a:rPr>
                        <a:t> </a:t>
                      </a:r>
                      <a:r>
                        <a:rPr lang="en-US" dirty="0">
                          <a:solidFill>
                            <a:schemeClr val="tx1"/>
                          </a:solidFill>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101</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102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103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dirty="0">
                          <a:solidFill>
                            <a:schemeClr val="tx1"/>
                          </a:solidFill>
                        </a:rPr>
                        <a:t>First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John</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Mary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Bill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dirty="0">
                          <a:solidFill>
                            <a:schemeClr val="tx1"/>
                          </a:solidFill>
                        </a:rPr>
                        <a:t>Last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Smith</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Jones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Casper</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dirty="0">
                          <a:solidFill>
                            <a:schemeClr val="tx1"/>
                          </a:solidFill>
                        </a:rPr>
                        <a:t>Home phone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555-9182</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423-1298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874-1297</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r>
                        <a:rPr lang="en-US" dirty="0">
                          <a:solidFill>
                            <a:schemeClr val="tx1"/>
                          </a:solidFill>
                        </a:rPr>
                        <a:t>Work phone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555-3425</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423-3419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874-8546</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6" name="Slide Number Placeholder 5"/>
          <p:cNvSpPr>
            <a:spLocks noGrp="1"/>
          </p:cNvSpPr>
          <p:nvPr>
            <p:ph type="sldNum" sz="quarter" idx="4"/>
          </p:nvPr>
        </p:nvSpPr>
        <p:spPr/>
        <p:txBody>
          <a:bodyPr/>
          <a:lstStyle/>
          <a:p>
            <a:fld id="{F151D93E-CB12-429C-B6B4-5C24B6B0FEF7}" type="slidenum">
              <a:rPr lang="en-US" altLang="en-US" smtClean="0"/>
              <a:pPr/>
              <a:t>17</a:t>
            </a:fld>
            <a:endParaRPr lang="en-US" altLang="en-US"/>
          </a:p>
        </p:txBody>
      </p:sp>
      <p:sp>
        <p:nvSpPr>
          <p:cNvPr id="5" name="Footer Placeholder 4"/>
          <p:cNvSpPr>
            <a:spLocks noGrp="1"/>
          </p:cNvSpPr>
          <p:nvPr>
            <p:ph type="ftr" sz="quarter" idx="3"/>
          </p:nvPr>
        </p:nvSpPr>
        <p:spPr>
          <a:xfrm>
            <a:off x="0" y="6244046"/>
            <a:ext cx="7696200" cy="457200"/>
          </a:xfr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381000" y="230188"/>
            <a:ext cx="8382000" cy="498598"/>
          </a:xfrm>
        </p:spPr>
        <p:txBody>
          <a:bodyPr/>
          <a:lstStyle/>
          <a:p>
            <a:r>
              <a:rPr lang="en-US" altLang="en-US" sz="3600" spc="0" dirty="0">
                <a:solidFill>
                  <a:schemeClr val="tx1"/>
                </a:solidFill>
                <a:effectLst/>
              </a:rPr>
              <a:t>Associations Among Things</a:t>
            </a:r>
          </a:p>
        </p:txBody>
      </p:sp>
      <p:sp>
        <p:nvSpPr>
          <p:cNvPr id="299011" name="Rectangle 3"/>
          <p:cNvSpPr>
            <a:spLocks noGrp="1" noChangeArrowheads="1"/>
          </p:cNvSpPr>
          <p:nvPr>
            <p:ph type="body" sz="half" idx="4294967295"/>
          </p:nvPr>
        </p:nvSpPr>
        <p:spPr>
          <a:xfrm>
            <a:off x="363908" y="1274642"/>
            <a:ext cx="8322892" cy="698012"/>
          </a:xfrm>
        </p:spPr>
        <p:txBody>
          <a:bodyPr/>
          <a:lstStyle/>
          <a:p>
            <a:pPr>
              <a:lnSpc>
                <a:spcPct val="80000"/>
              </a:lnSpc>
            </a:pPr>
            <a:r>
              <a:rPr lang="en-GB" altLang="en-US" sz="2800" dirty="0"/>
              <a:t>Association— a naturally occurring relationship between classes (U</a:t>
            </a:r>
            <a:r>
              <a:rPr lang="en-GB" altLang="en-US" sz="100" dirty="0"/>
              <a:t> </a:t>
            </a:r>
            <a:r>
              <a:rPr lang="en-GB" altLang="en-US" sz="2800" dirty="0"/>
              <a:t>M</a:t>
            </a:r>
            <a:r>
              <a:rPr lang="en-GB" altLang="en-US" sz="100" dirty="0"/>
              <a:t> </a:t>
            </a:r>
            <a:r>
              <a:rPr lang="en-GB" altLang="en-US" sz="2800" dirty="0"/>
              <a:t>L term)</a:t>
            </a:r>
          </a:p>
        </p:txBody>
      </p:sp>
      <p:pic>
        <p:nvPicPr>
          <p:cNvPr id="8" name="Content Placeholder 7" descr="The diagram shows Mister Smith, with the following associations: 1. Order number 1043 is placed by Mister Smith. 2. Works in accounting department. 3. Contains red shirt size 16 by 32. 4. Contains 401 jeans size 34 long. "/>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222234" y="2133600"/>
            <a:ext cx="6699532" cy="3561463"/>
          </a:xfrm>
          <a:noFill/>
          <a:ln/>
        </p:spPr>
      </p:pic>
      <p:sp>
        <p:nvSpPr>
          <p:cNvPr id="6" name="Slide Number Placeholder 6"/>
          <p:cNvSpPr>
            <a:spLocks noGrp="1"/>
          </p:cNvSpPr>
          <p:nvPr>
            <p:ph type="sldNum" sz="quarter" idx="4"/>
          </p:nvPr>
        </p:nvSpPr>
        <p:spPr/>
        <p:txBody>
          <a:bodyPr/>
          <a:lstStyle/>
          <a:p>
            <a:fld id="{424123EF-11A1-4BB7-B1B5-29A0450DF5B0}" type="slidenum">
              <a:rPr lang="en-US" altLang="en-US"/>
              <a:pPr/>
              <a:t>18</a:t>
            </a:fld>
            <a:endParaRPr lang="en-US" altLang="en-US"/>
          </a:p>
        </p:txBody>
      </p:sp>
      <p:sp>
        <p:nvSpPr>
          <p:cNvPr id="5" name="Footer Placeholder 5"/>
          <p:cNvSpPr>
            <a:spLocks noGrp="1"/>
          </p:cNvSpPr>
          <p:nvPr>
            <p:ph type="ftr" sz="quarter" idx="3"/>
          </p:nvPr>
        </p:nvSpPr>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a:xfrm>
            <a:off x="381000" y="230188"/>
            <a:ext cx="8382000" cy="498598"/>
          </a:xfrm>
        </p:spPr>
        <p:txBody>
          <a:bodyPr/>
          <a:lstStyle/>
          <a:p>
            <a:r>
              <a:rPr lang="en-US" altLang="en-US" sz="3600" spc="0" dirty="0">
                <a:solidFill>
                  <a:schemeClr val="tx1"/>
                </a:solidFill>
                <a:effectLst/>
              </a:rPr>
              <a:t>Just to Clarify…</a:t>
            </a:r>
            <a:endParaRPr lang="en-US" altLang="en-US" sz="3200" spc="0" dirty="0">
              <a:solidFill>
                <a:schemeClr val="tx1"/>
              </a:solidFill>
              <a:effectLst/>
            </a:endParaRPr>
          </a:p>
        </p:txBody>
      </p:sp>
      <p:sp>
        <p:nvSpPr>
          <p:cNvPr id="2" name="Content Placeholder 1"/>
          <p:cNvSpPr>
            <a:spLocks noGrp="1"/>
          </p:cNvSpPr>
          <p:nvPr>
            <p:ph idx="1"/>
          </p:nvPr>
        </p:nvSpPr>
        <p:spPr>
          <a:xfrm>
            <a:off x="363908" y="1236292"/>
            <a:ext cx="8382000" cy="4044184"/>
          </a:xfrm>
        </p:spPr>
        <p:txBody>
          <a:bodyPr/>
          <a:lstStyle/>
          <a:p>
            <a:r>
              <a:rPr lang="en-GB" altLang="en-US" sz="2800" dirty="0"/>
              <a:t>Called </a:t>
            </a:r>
            <a:r>
              <a:rPr lang="en-GB" altLang="en-US" sz="2800" b="1" i="1" dirty="0"/>
              <a:t>association</a:t>
            </a:r>
            <a:r>
              <a:rPr lang="en-GB" altLang="en-US" sz="2800" dirty="0"/>
              <a:t> on class diagram in U</a:t>
            </a:r>
            <a:r>
              <a:rPr lang="en-GB" altLang="en-US" sz="100" dirty="0"/>
              <a:t> </a:t>
            </a:r>
            <a:r>
              <a:rPr lang="en-GB" altLang="en-US" sz="2800" dirty="0"/>
              <a:t>M</a:t>
            </a:r>
            <a:r>
              <a:rPr lang="en-GB" altLang="en-US" sz="100" dirty="0"/>
              <a:t> </a:t>
            </a:r>
            <a:r>
              <a:rPr lang="en-GB" altLang="en-US" sz="2800" dirty="0"/>
              <a:t>L</a:t>
            </a:r>
          </a:p>
          <a:p>
            <a:pPr lvl="1"/>
            <a:r>
              <a:rPr lang="en-GB" altLang="en-US" sz="2000" b="1" dirty="0"/>
              <a:t>Multiplicity</a:t>
            </a:r>
            <a:r>
              <a:rPr lang="en-GB" altLang="en-US" sz="2000" dirty="0"/>
              <a:t> is term for the number of associations between classes: 1 to 1 or 1 to many (synonym to cardinality)</a:t>
            </a:r>
          </a:p>
          <a:p>
            <a:pPr lvl="1"/>
            <a:r>
              <a:rPr lang="en-GB" altLang="en-US" sz="2000" dirty="0"/>
              <a:t>UML is the primary emphasis of this text</a:t>
            </a:r>
          </a:p>
          <a:p>
            <a:r>
              <a:rPr lang="en-GB" altLang="en-US" sz="2800" dirty="0"/>
              <a:t>Called </a:t>
            </a:r>
            <a:r>
              <a:rPr lang="en-GB" altLang="en-US" sz="2800" b="1" i="1" dirty="0"/>
              <a:t>relationship</a:t>
            </a:r>
            <a:r>
              <a:rPr lang="en-GB" altLang="en-US" sz="2800" dirty="0"/>
              <a:t> on E</a:t>
            </a:r>
            <a:r>
              <a:rPr lang="en-GB" altLang="en-US" sz="100" dirty="0"/>
              <a:t> </a:t>
            </a:r>
            <a:r>
              <a:rPr lang="en-GB" altLang="en-US" sz="2800" dirty="0"/>
              <a:t>R</a:t>
            </a:r>
            <a:r>
              <a:rPr lang="en-GB" altLang="en-US" sz="100" dirty="0"/>
              <a:t> </a:t>
            </a:r>
            <a:r>
              <a:rPr lang="en-GB" altLang="en-US" sz="2800" dirty="0"/>
              <a:t>D in database class</a:t>
            </a:r>
          </a:p>
          <a:p>
            <a:pPr lvl="1"/>
            <a:r>
              <a:rPr lang="en-GB" altLang="en-US" sz="2000" b="1" dirty="0"/>
              <a:t>Cardinality</a:t>
            </a:r>
            <a:r>
              <a:rPr lang="en-GB" altLang="en-US" sz="2000" dirty="0"/>
              <a:t> is term for number of relationships in entity relationship diagrams: 1 to 1 or 1 to many (synonym to multiplicity)</a:t>
            </a:r>
          </a:p>
          <a:p>
            <a:r>
              <a:rPr lang="en-GB" altLang="en-US" sz="2800" dirty="0"/>
              <a:t>Associations and Relationships apply in two directions</a:t>
            </a:r>
          </a:p>
          <a:p>
            <a:pPr lvl="1"/>
            <a:r>
              <a:rPr lang="en-GB" altLang="en-US" sz="2000" dirty="0"/>
              <a:t>Read them separately each way</a:t>
            </a:r>
          </a:p>
          <a:p>
            <a:pPr lvl="1"/>
            <a:r>
              <a:rPr lang="en-GB" altLang="en-US" sz="2000" dirty="0"/>
              <a:t>A customer places an order</a:t>
            </a:r>
          </a:p>
          <a:p>
            <a:pPr lvl="1"/>
            <a:r>
              <a:rPr lang="en-GB" altLang="en-US" sz="2000" dirty="0"/>
              <a:t>An order is placed by a customer</a:t>
            </a:r>
          </a:p>
        </p:txBody>
      </p:sp>
      <p:sp>
        <p:nvSpPr>
          <p:cNvPr id="5" name="Slide Number Placeholder 5"/>
          <p:cNvSpPr>
            <a:spLocks noGrp="1"/>
          </p:cNvSpPr>
          <p:nvPr>
            <p:ph type="sldNum" sz="quarter" idx="4"/>
          </p:nvPr>
        </p:nvSpPr>
        <p:spPr>
          <a:prstGeom prst="rect">
            <a:avLst/>
          </a:prstGeom>
        </p:spPr>
        <p:txBody>
          <a:bodyPr/>
          <a:lstStyle/>
          <a:p>
            <a:fld id="{1C8B3447-239D-4DEC-B763-C39BFC8C7676}" type="slidenum">
              <a:rPr lang="en-US" altLang="en-US"/>
              <a:pPr/>
              <a:t>19</a:t>
            </a:fld>
            <a:endParaRPr lang="en-US" altLang="en-US"/>
          </a:p>
        </p:txBody>
      </p:sp>
      <p:sp>
        <p:nvSpPr>
          <p:cNvPr id="4" name="Footer Placeholder 4"/>
          <p:cNvSpPr>
            <a:spLocks noGrp="1"/>
          </p:cNvSpPr>
          <p:nvPr>
            <p:ph type="ftr" sz="quarter" idx="3"/>
          </p:nvPr>
        </p:nvSpPr>
        <p:spPr>
          <a:xfrm>
            <a:off x="0" y="6244046"/>
            <a:ext cx="7620000" cy="309154"/>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p:txBody>
          <a:bodyPr/>
          <a:lstStyle/>
          <a:p>
            <a:r>
              <a:rPr lang="en-US" altLang="en-US" sz="4000" spc="0" dirty="0">
                <a:solidFill>
                  <a:schemeClr val="tx1"/>
                </a:solidFill>
                <a:effectLst/>
              </a:rPr>
              <a:t>Minimum and Maximum Multiplicity</a:t>
            </a:r>
          </a:p>
        </p:txBody>
      </p:sp>
      <p:sp>
        <p:nvSpPr>
          <p:cNvPr id="2" name="Content Placeholder 1"/>
          <p:cNvSpPr>
            <a:spLocks noGrp="1"/>
          </p:cNvSpPr>
          <p:nvPr>
            <p:ph sz="quarter" idx="11"/>
          </p:nvPr>
        </p:nvSpPr>
        <p:spPr>
          <a:xfrm>
            <a:off x="372454" y="1244124"/>
            <a:ext cx="8382000" cy="1064907"/>
          </a:xfrm>
        </p:spPr>
        <p:txBody>
          <a:bodyPr/>
          <a:lstStyle/>
          <a:p>
            <a:r>
              <a:rPr lang="en-US" altLang="en-US" sz="2800" dirty="0"/>
              <a:t>Associations have minimum and maximum constraints</a:t>
            </a:r>
          </a:p>
          <a:p>
            <a:pPr lvl="1"/>
            <a:r>
              <a:rPr lang="en-US" altLang="en-US" sz="2000" dirty="0"/>
              <a:t>minimum is zero, the association is optional</a:t>
            </a:r>
          </a:p>
          <a:p>
            <a:pPr lvl="1"/>
            <a:r>
              <a:rPr lang="en-US" altLang="en-US" sz="2000" dirty="0"/>
              <a:t>If minimum is at least one, the association is mandatory</a:t>
            </a:r>
            <a:endParaRPr lang="en-GB" altLang="en-US" sz="2000" dirty="0"/>
          </a:p>
        </p:txBody>
      </p:sp>
      <p:pic>
        <p:nvPicPr>
          <p:cNvPr id="10" name="Content Placeholder 9" descr="Associations with Minimum and Maximum Multiplicity are stated with the following: 1. Mister Jones has placed no order yet, but there might be many placed over time. Direction: Mister Jones to order. Multiplicity or cardinality is zero or more, optional relationship. 2. A particular order is placed by Mister Smith. There can’t be an order without stating who the customer is. Reverse direction: order to Mister Smith. Multiplicity or cardinality is one and only one, mandatory relationship. 3. An order contains at least one item, but it could contain many items. Direction: order to order item. Multiplicity or cardinality is one or more, mandatory relationship. "/>
          <p:cNvPicPr>
            <a:picLocks noGrp="1" noChangeAspect="1"/>
          </p:cNvPicPr>
          <p:nvPr>
            <p:ph sz="quarter" idx="12"/>
          </p:nvPr>
        </p:nvPicPr>
        <p:blipFill>
          <a:blip r:embed="rId2"/>
          <a:stretch>
            <a:fillRect/>
          </a:stretch>
        </p:blipFill>
        <p:spPr>
          <a:xfrm>
            <a:off x="502395" y="2739329"/>
            <a:ext cx="8139211" cy="3015778"/>
          </a:xfrm>
          <a:prstGeom prst="rect">
            <a:avLst/>
          </a:prstGeom>
        </p:spPr>
      </p:pic>
      <p:sp>
        <p:nvSpPr>
          <p:cNvPr id="6" name="Slide Number Placeholder 5"/>
          <p:cNvSpPr>
            <a:spLocks noGrp="1"/>
          </p:cNvSpPr>
          <p:nvPr>
            <p:ph type="sldNum" sz="quarter" idx="4"/>
          </p:nvPr>
        </p:nvSpPr>
        <p:spPr/>
        <p:txBody>
          <a:bodyPr/>
          <a:lstStyle/>
          <a:p>
            <a:fld id="{37D3C537-DED1-4190-A05B-08A488B081F9}" type="slidenum">
              <a:rPr lang="en-US" altLang="en-US" smtClean="0"/>
              <a:pPr/>
              <a:t>20</a:t>
            </a:fld>
            <a:endParaRPr lang="en-US" altLang="en-US"/>
          </a:p>
        </p:txBody>
      </p:sp>
      <p:sp>
        <p:nvSpPr>
          <p:cNvPr id="5" name="Footer Placeholder 4"/>
          <p:cNvSpPr>
            <a:spLocks noGrp="1"/>
          </p:cNvSpPr>
          <p:nvPr>
            <p:ph type="ftr" sz="quarter" idx="3"/>
          </p:nvPr>
        </p:nvSpPr>
        <p:spPr>
          <a:xfrm>
            <a:off x="0" y="6244046"/>
            <a:ext cx="7696200" cy="457200"/>
          </a:xfr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a:xfrm>
            <a:off x="381000" y="230188"/>
            <a:ext cx="8382000" cy="498598"/>
          </a:xfrm>
        </p:spPr>
        <p:txBody>
          <a:bodyPr/>
          <a:lstStyle/>
          <a:p>
            <a:r>
              <a:rPr lang="en-US" altLang="en-US" sz="3600" spc="0" dirty="0">
                <a:solidFill>
                  <a:schemeClr val="tx1"/>
                </a:solidFill>
                <a:effectLst/>
              </a:rPr>
              <a:t>Types of Associations</a:t>
            </a:r>
            <a:endParaRPr lang="en-US" altLang="en-US" sz="3200" spc="0" dirty="0">
              <a:solidFill>
                <a:schemeClr val="tx1"/>
              </a:solidFill>
              <a:effectLst/>
            </a:endParaRPr>
          </a:p>
        </p:txBody>
      </p:sp>
      <p:sp>
        <p:nvSpPr>
          <p:cNvPr id="2" name="Content Placeholder 1"/>
          <p:cNvSpPr>
            <a:spLocks noGrp="1"/>
          </p:cNvSpPr>
          <p:nvPr>
            <p:ph idx="1"/>
          </p:nvPr>
        </p:nvSpPr>
        <p:spPr>
          <a:xfrm>
            <a:off x="404091" y="894985"/>
            <a:ext cx="8382000" cy="5029069"/>
          </a:xfrm>
        </p:spPr>
        <p:txBody>
          <a:bodyPr/>
          <a:lstStyle/>
          <a:p>
            <a:pPr marL="403200" indent="-403200"/>
            <a:r>
              <a:rPr lang="en-GB" altLang="en-US" sz="3000" dirty="0"/>
              <a:t>Binary Association</a:t>
            </a:r>
          </a:p>
          <a:p>
            <a:pPr lvl="1"/>
            <a:r>
              <a:rPr lang="en-GB" altLang="en-US" dirty="0"/>
              <a:t>Associations between exactly two different classes</a:t>
            </a:r>
          </a:p>
          <a:p>
            <a:pPr lvl="2"/>
            <a:r>
              <a:rPr lang="en-GB" altLang="en-US" dirty="0"/>
              <a:t>Course Section includes Students</a:t>
            </a:r>
          </a:p>
          <a:p>
            <a:pPr lvl="2"/>
            <a:r>
              <a:rPr lang="en-GB" altLang="en-US" dirty="0"/>
              <a:t>Members join Club </a:t>
            </a:r>
          </a:p>
          <a:p>
            <a:pPr marL="403200" indent="-403200"/>
            <a:r>
              <a:rPr lang="en-GB" altLang="en-US" sz="3000" dirty="0"/>
              <a:t>Unary Association (recursive)</a:t>
            </a:r>
          </a:p>
          <a:p>
            <a:pPr lvl="1"/>
            <a:r>
              <a:rPr lang="en-GB" altLang="en-US" dirty="0"/>
              <a:t>Associations between two instances of the same class</a:t>
            </a:r>
          </a:p>
          <a:p>
            <a:pPr lvl="2"/>
            <a:r>
              <a:rPr lang="en-GB" altLang="en-US" dirty="0"/>
              <a:t>Person married to person</a:t>
            </a:r>
          </a:p>
          <a:p>
            <a:pPr lvl="2"/>
            <a:r>
              <a:rPr lang="en-GB" altLang="en-US" dirty="0"/>
              <a:t>Part is made using parts</a:t>
            </a:r>
          </a:p>
          <a:p>
            <a:pPr marL="403200" indent="-403200"/>
            <a:r>
              <a:rPr lang="en-GB" altLang="en-US" sz="3000" dirty="0"/>
              <a:t>Ternary Association (three)</a:t>
            </a:r>
          </a:p>
          <a:p>
            <a:pPr marL="403200" indent="-403200"/>
            <a:r>
              <a:rPr lang="en-GB" altLang="en-US" sz="3000" dirty="0"/>
              <a:t>N-ary Association (between n)</a:t>
            </a:r>
          </a:p>
        </p:txBody>
      </p:sp>
      <p:sp>
        <p:nvSpPr>
          <p:cNvPr id="5" name="Slide Number Placeholder 5"/>
          <p:cNvSpPr>
            <a:spLocks noGrp="1"/>
          </p:cNvSpPr>
          <p:nvPr>
            <p:ph type="sldNum" sz="quarter" idx="4"/>
          </p:nvPr>
        </p:nvSpPr>
        <p:spPr>
          <a:prstGeom prst="rect">
            <a:avLst/>
          </a:prstGeom>
        </p:spPr>
        <p:txBody>
          <a:bodyPr/>
          <a:lstStyle/>
          <a:p>
            <a:fld id="{C5D1A91A-6118-49FF-AAD3-6B7AC3CF234A}" type="slidenum">
              <a:rPr lang="en-US" altLang="en-US"/>
              <a:pPr/>
              <a:t>21</a:t>
            </a:fld>
            <a:endParaRPr lang="en-US" altLang="en-US"/>
          </a:p>
        </p:txBody>
      </p:sp>
      <p:sp>
        <p:nvSpPr>
          <p:cNvPr id="4" name="Footer Placeholder 4"/>
          <p:cNvSpPr>
            <a:spLocks noGrp="1"/>
          </p:cNvSpPr>
          <p:nvPr>
            <p:ph type="ftr" sz="quarter" idx="3"/>
          </p:nvPr>
        </p:nvSpPr>
        <p:spPr>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a:xfrm>
            <a:off x="381000" y="230188"/>
            <a:ext cx="8382000" cy="498598"/>
          </a:xfrm>
        </p:spPr>
        <p:txBody>
          <a:bodyPr/>
          <a:lstStyle/>
          <a:p>
            <a:r>
              <a:rPr lang="en-US" altLang="en-US" sz="3600" spc="0" dirty="0">
                <a:solidFill>
                  <a:schemeClr val="tx1"/>
                </a:solidFill>
                <a:effectLst/>
              </a:rPr>
              <a:t>The Domain Model Class Diagram</a:t>
            </a:r>
            <a:endParaRPr lang="en-US" altLang="en-US" sz="3200" spc="0" dirty="0">
              <a:solidFill>
                <a:schemeClr val="tx1"/>
              </a:solidFill>
              <a:effectLst/>
            </a:endParaRPr>
          </a:p>
        </p:txBody>
      </p:sp>
      <p:sp>
        <p:nvSpPr>
          <p:cNvPr id="2" name="Content Placeholder 1"/>
          <p:cNvSpPr>
            <a:spLocks noGrp="1"/>
          </p:cNvSpPr>
          <p:nvPr>
            <p:ph idx="1"/>
          </p:nvPr>
        </p:nvSpPr>
        <p:spPr>
          <a:xfrm>
            <a:off x="366217" y="1245552"/>
            <a:ext cx="8608291" cy="4664867"/>
          </a:xfrm>
        </p:spPr>
        <p:txBody>
          <a:bodyPr/>
          <a:lstStyle/>
          <a:p>
            <a:r>
              <a:rPr lang="en-GB" altLang="en-US" dirty="0"/>
              <a:t>Class</a:t>
            </a:r>
          </a:p>
          <a:p>
            <a:pPr lvl="1">
              <a:spcBef>
                <a:spcPts val="1000"/>
              </a:spcBef>
            </a:pPr>
            <a:r>
              <a:rPr lang="en-GB" altLang="en-US" sz="2400" dirty="0"/>
              <a:t>A type of classification used to describe a collection of objects</a:t>
            </a:r>
          </a:p>
          <a:p>
            <a:r>
              <a:rPr lang="en-GB" altLang="en-US" dirty="0"/>
              <a:t>Domain Class</a:t>
            </a:r>
          </a:p>
          <a:p>
            <a:pPr lvl="1">
              <a:spcBef>
                <a:spcPts val="1000"/>
              </a:spcBef>
            </a:pPr>
            <a:r>
              <a:rPr lang="en-GB" altLang="en-US" sz="2400" dirty="0"/>
              <a:t>Classes that describe objects in the problem domain</a:t>
            </a:r>
          </a:p>
          <a:p>
            <a:r>
              <a:rPr lang="en-GB" altLang="en-US" dirty="0"/>
              <a:t>Class Diagram</a:t>
            </a:r>
          </a:p>
          <a:p>
            <a:pPr lvl="1">
              <a:spcBef>
                <a:spcPts val="1000"/>
              </a:spcBef>
            </a:pPr>
            <a:r>
              <a:rPr lang="en-GB" altLang="en-US" sz="2400" dirty="0"/>
              <a:t>A U</a:t>
            </a:r>
            <a:r>
              <a:rPr lang="en-GB" altLang="en-US" sz="100" dirty="0"/>
              <a:t> </a:t>
            </a:r>
            <a:r>
              <a:rPr lang="en-GB" altLang="en-US" sz="2400" dirty="0"/>
              <a:t>M</a:t>
            </a:r>
            <a:r>
              <a:rPr lang="en-GB" altLang="en-US" sz="100" dirty="0"/>
              <a:t> </a:t>
            </a:r>
            <a:r>
              <a:rPr lang="en-GB" altLang="en-US" sz="2400" dirty="0"/>
              <a:t>L diagram that shows classes with attributes and associations (plus methods if it models software classes)</a:t>
            </a:r>
          </a:p>
          <a:p>
            <a:r>
              <a:rPr lang="en-GB" altLang="en-US" dirty="0"/>
              <a:t>Domain Model Class Diagram</a:t>
            </a:r>
          </a:p>
          <a:p>
            <a:pPr lvl="1">
              <a:spcBef>
                <a:spcPts val="1000"/>
              </a:spcBef>
            </a:pPr>
            <a:r>
              <a:rPr lang="en-GB" altLang="en-US" sz="2400" dirty="0"/>
              <a:t>A class diagram that only includes classes from the problem domain, not software classes so no methods</a:t>
            </a:r>
          </a:p>
        </p:txBody>
      </p:sp>
      <p:sp>
        <p:nvSpPr>
          <p:cNvPr id="5" name="Slide Number Placeholder 5"/>
          <p:cNvSpPr>
            <a:spLocks noGrp="1"/>
          </p:cNvSpPr>
          <p:nvPr>
            <p:ph type="sldNum" sz="quarter" idx="4"/>
          </p:nvPr>
        </p:nvSpPr>
        <p:spPr>
          <a:prstGeom prst="rect">
            <a:avLst/>
          </a:prstGeom>
        </p:spPr>
        <p:txBody>
          <a:bodyPr/>
          <a:lstStyle/>
          <a:p>
            <a:fld id="{546E24E1-5F88-4F54-8068-24F3F5DE8B07}" type="slidenum">
              <a:rPr lang="en-US" altLang="en-US"/>
              <a:pPr/>
              <a:t>22</a:t>
            </a:fld>
            <a:endParaRPr lang="en-US" altLang="en-US"/>
          </a:p>
        </p:txBody>
      </p:sp>
      <p:sp>
        <p:nvSpPr>
          <p:cNvPr id="4" name="Footer Placeholder 4"/>
          <p:cNvSpPr>
            <a:spLocks noGrp="1"/>
          </p:cNvSpPr>
          <p:nvPr>
            <p:ph type="ftr" sz="quarter" idx="3"/>
          </p:nvPr>
        </p:nvSpPr>
        <p:spPr>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a:lstStyle/>
          <a:p>
            <a:r>
              <a:rPr lang="en-US" altLang="en-US" sz="3600" spc="0" dirty="0">
                <a:solidFill>
                  <a:schemeClr val="tx1"/>
                </a:solidFill>
                <a:effectLst/>
              </a:rPr>
              <a:t>U</a:t>
            </a:r>
            <a:r>
              <a:rPr lang="en-US" altLang="en-US" sz="100" spc="0" dirty="0">
                <a:solidFill>
                  <a:schemeClr val="tx1"/>
                </a:solidFill>
                <a:effectLst/>
              </a:rPr>
              <a:t> </a:t>
            </a:r>
            <a:r>
              <a:rPr lang="en-US" altLang="en-US" sz="3600" spc="0" dirty="0">
                <a:solidFill>
                  <a:schemeClr val="tx1"/>
                </a:solidFill>
                <a:effectLst/>
              </a:rPr>
              <a:t>M</a:t>
            </a:r>
            <a:r>
              <a:rPr lang="en-US" altLang="en-US" sz="100" spc="0" dirty="0">
                <a:solidFill>
                  <a:schemeClr val="tx1"/>
                </a:solidFill>
                <a:effectLst/>
              </a:rPr>
              <a:t> </a:t>
            </a:r>
            <a:r>
              <a:rPr lang="en-US" altLang="en-US" sz="3600" spc="0" dirty="0">
                <a:solidFill>
                  <a:schemeClr val="tx1"/>
                </a:solidFill>
                <a:effectLst/>
              </a:rPr>
              <a:t>L Domain Class Notation</a:t>
            </a:r>
            <a:endParaRPr lang="en-US" altLang="en-US" sz="3200" spc="0" dirty="0">
              <a:solidFill>
                <a:schemeClr val="tx1"/>
              </a:solidFill>
              <a:effectLst/>
            </a:endParaRPr>
          </a:p>
        </p:txBody>
      </p:sp>
      <p:sp>
        <p:nvSpPr>
          <p:cNvPr id="3" name="Content Placeholder 2"/>
          <p:cNvSpPr>
            <a:spLocks noGrp="1"/>
          </p:cNvSpPr>
          <p:nvPr>
            <p:ph sz="quarter" idx="12"/>
          </p:nvPr>
        </p:nvSpPr>
        <p:spPr>
          <a:xfrm>
            <a:off x="363908" y="1278308"/>
            <a:ext cx="8382000" cy="2461571"/>
          </a:xfrm>
        </p:spPr>
        <p:txBody>
          <a:bodyPr/>
          <a:lstStyle/>
          <a:p>
            <a:pPr marL="352800" indent="-352800">
              <a:lnSpc>
                <a:spcPct val="80000"/>
              </a:lnSpc>
            </a:pPr>
            <a:r>
              <a:rPr lang="en-GB" altLang="en-US" sz="2800" dirty="0"/>
              <a:t>Domain class a name and attributes (no methods)</a:t>
            </a:r>
          </a:p>
          <a:p>
            <a:pPr marL="352800" indent="-352800">
              <a:lnSpc>
                <a:spcPct val="80000"/>
              </a:lnSpc>
            </a:pPr>
            <a:r>
              <a:rPr lang="en-GB" altLang="en-US" sz="2800" dirty="0"/>
              <a:t>Class name is always capitalized</a:t>
            </a:r>
          </a:p>
          <a:p>
            <a:pPr marL="352800" indent="-352800">
              <a:lnSpc>
                <a:spcPct val="80000"/>
              </a:lnSpc>
            </a:pPr>
            <a:r>
              <a:rPr lang="en-GB" altLang="en-US" sz="2800" dirty="0"/>
              <a:t>Attribute names are not capitalized and use </a:t>
            </a:r>
            <a:r>
              <a:rPr lang="en-GB" altLang="en-US" sz="2800" b="1" dirty="0"/>
              <a:t>camelback notation </a:t>
            </a:r>
            <a:r>
              <a:rPr lang="en-GB" altLang="en-US" sz="2800" dirty="0"/>
              <a:t>(words run together and second word is capitalized)</a:t>
            </a:r>
          </a:p>
          <a:p>
            <a:pPr marL="352800" indent="-352800">
              <a:lnSpc>
                <a:spcPct val="80000"/>
              </a:lnSpc>
            </a:pPr>
            <a:r>
              <a:rPr lang="en-GB" altLang="en-US" sz="2800" dirty="0"/>
              <a:t>Compound class names also use camelback notation</a:t>
            </a:r>
          </a:p>
        </p:txBody>
      </p:sp>
      <p:pic>
        <p:nvPicPr>
          <p:cNvPr id="11" name="Picture 8" descr="A square box is shown with the word customer on top, which is the name of the class. Divided by a horizontal line, several other words are listed below: cust number, name, bill address, home phone, office phone. The items listed below are attributes. All these objects in the class have a value for each of these. "/>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tretch>
            <a:fillRect/>
          </a:stretch>
        </p:blipFill>
        <p:spPr>
          <a:xfrm>
            <a:off x="2133600" y="3778355"/>
            <a:ext cx="4479231" cy="2146809"/>
          </a:xfrm>
          <a:noFill/>
          <a:ln/>
        </p:spPr>
      </p:pic>
      <p:sp>
        <p:nvSpPr>
          <p:cNvPr id="7" name="Slide Number Placeholder 5"/>
          <p:cNvSpPr>
            <a:spLocks noGrp="1"/>
          </p:cNvSpPr>
          <p:nvPr>
            <p:ph type="sldNum" sz="quarter" idx="4"/>
          </p:nvPr>
        </p:nvSpPr>
        <p:spPr>
          <a:prstGeom prst="rect">
            <a:avLst/>
          </a:prstGeom>
        </p:spPr>
        <p:txBody>
          <a:bodyPr/>
          <a:lstStyle/>
          <a:p>
            <a:fld id="{796F185A-CB06-4F3F-9D70-79CFDD371CC7}" type="slidenum">
              <a:rPr lang="en-US" altLang="en-US"/>
              <a:pPr/>
              <a:t>23</a:t>
            </a:fld>
            <a:endParaRPr lang="en-US" altLang="en-US"/>
          </a:p>
        </p:txBody>
      </p:sp>
      <p:sp>
        <p:nvSpPr>
          <p:cNvPr id="6" name="Footer Placeholder 4"/>
          <p:cNvSpPr>
            <a:spLocks noGrp="1"/>
          </p:cNvSpPr>
          <p:nvPr>
            <p:ph type="ftr" sz="quarter" idx="3"/>
          </p:nvPr>
        </p:nvSpPr>
        <p:spPr>
          <a:xfrm>
            <a:off x="0" y="6244046"/>
            <a:ext cx="76200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a:lstStyle/>
          <a:p>
            <a:r>
              <a:rPr lang="en-US" altLang="en-US" sz="3600" spc="0" dirty="0">
                <a:solidFill>
                  <a:schemeClr val="tx1"/>
                </a:solidFill>
                <a:effectLst/>
              </a:rPr>
              <a:t>A Simple Domain Model Class Diagram</a:t>
            </a:r>
            <a:endParaRPr lang="en-US" altLang="en-US" sz="3200" spc="0" dirty="0">
              <a:solidFill>
                <a:schemeClr val="tx1"/>
              </a:solidFill>
              <a:effectLst/>
            </a:endParaRPr>
          </a:p>
        </p:txBody>
      </p:sp>
      <p:pic>
        <p:nvPicPr>
          <p:cNvPr id="11" name="Picture 9" descr=" The image shows a Simple Domain Model Class Diagram. Box 1. Class name: customer; attributes: cust number, name, bill address, home address, office phone. Box 2. Class name: order; Attributes: order I D, order date, amount. Box 3. Class name: order item; attributes: item I D, quantity, price. Box 1 is linked to box 2 with 1 at one end and 0 dot dot star at the other end. Box 2 is linked to box 3 with 1 at one end and 1 dot dot star at the other end. One customer places zero or more orders. One order consists of 1 or more order items. "/>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tretch>
            <a:fillRect/>
          </a:stretch>
        </p:blipFill>
        <p:spPr>
          <a:xfrm>
            <a:off x="941441" y="1266459"/>
            <a:ext cx="7261117" cy="1864727"/>
          </a:xfrm>
          <a:noFill/>
          <a:ln/>
        </p:spPr>
      </p:pic>
      <p:sp>
        <p:nvSpPr>
          <p:cNvPr id="3" name="Content Placeholder 2"/>
          <p:cNvSpPr>
            <a:spLocks noGrp="1"/>
          </p:cNvSpPr>
          <p:nvPr>
            <p:ph sz="quarter" idx="12"/>
          </p:nvPr>
        </p:nvSpPr>
        <p:spPr>
          <a:xfrm>
            <a:off x="372454" y="3466743"/>
            <a:ext cx="8382000" cy="2400657"/>
          </a:xfrm>
        </p:spPr>
        <p:txBody>
          <a:bodyPr/>
          <a:lstStyle/>
          <a:p>
            <a:r>
              <a:rPr lang="en-GB" altLang="en-US" sz="2800" dirty="0"/>
              <a:t>Note: This diagram matches the semantic net shown previously</a:t>
            </a:r>
          </a:p>
          <a:p>
            <a:pPr lvl="1"/>
            <a:r>
              <a:rPr lang="en-GB" altLang="en-US" sz="2400" dirty="0"/>
              <a:t>A customer places zero or more orders</a:t>
            </a:r>
          </a:p>
          <a:p>
            <a:pPr lvl="1"/>
            <a:r>
              <a:rPr lang="en-GB" altLang="en-US" sz="2400" dirty="0"/>
              <a:t>An order is placed by exactly one customer</a:t>
            </a:r>
          </a:p>
          <a:p>
            <a:pPr lvl="1"/>
            <a:r>
              <a:rPr lang="en-GB" altLang="en-US" sz="2400" dirty="0"/>
              <a:t>An order consists of one or more order items</a:t>
            </a:r>
          </a:p>
          <a:p>
            <a:pPr lvl="1"/>
            <a:r>
              <a:rPr lang="en-GB" altLang="en-US" sz="2400" dirty="0"/>
              <a:t>An order item is part of exactly one order</a:t>
            </a:r>
          </a:p>
        </p:txBody>
      </p:sp>
      <p:sp>
        <p:nvSpPr>
          <p:cNvPr id="7" name="Slide Number Placeholder 5"/>
          <p:cNvSpPr>
            <a:spLocks noGrp="1"/>
          </p:cNvSpPr>
          <p:nvPr>
            <p:ph type="sldNum" sz="quarter" idx="4"/>
          </p:nvPr>
        </p:nvSpPr>
        <p:spPr>
          <a:prstGeom prst="rect">
            <a:avLst/>
          </a:prstGeom>
        </p:spPr>
        <p:txBody>
          <a:bodyPr/>
          <a:lstStyle/>
          <a:p>
            <a:fld id="{3E5EEE24-7CD3-49AA-B505-F14D9CD80D2D}" type="slidenum">
              <a:rPr lang="en-US" altLang="en-US"/>
              <a:pPr/>
              <a:t>24</a:t>
            </a:fld>
            <a:endParaRPr lang="en-US" altLang="en-US"/>
          </a:p>
        </p:txBody>
      </p:sp>
      <p:sp>
        <p:nvSpPr>
          <p:cNvPr id="6" name="Footer Placeholder 4"/>
          <p:cNvSpPr>
            <a:spLocks noGrp="1"/>
          </p:cNvSpPr>
          <p:nvPr>
            <p:ph type="ftr" sz="quarter" idx="3"/>
          </p:nvPr>
        </p:nvSpPr>
        <p:spPr>
          <a:xfrm>
            <a:off x="0" y="6244046"/>
            <a:ext cx="76200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a:xfrm>
            <a:off x="457200" y="122238"/>
            <a:ext cx="7543800" cy="498598"/>
          </a:xfrm>
        </p:spPr>
        <p:txBody>
          <a:bodyPr/>
          <a:lstStyle/>
          <a:p>
            <a:r>
              <a:rPr lang="en-US" altLang="en-US" sz="3600" spc="0" dirty="0">
                <a:solidFill>
                  <a:schemeClr val="tx1"/>
                </a:solidFill>
                <a:effectLst/>
              </a:rPr>
              <a:t>U</a:t>
            </a:r>
            <a:r>
              <a:rPr lang="en-US" altLang="en-US" sz="100" spc="0" dirty="0">
                <a:solidFill>
                  <a:schemeClr val="tx1"/>
                </a:solidFill>
                <a:effectLst/>
              </a:rPr>
              <a:t> </a:t>
            </a:r>
            <a:r>
              <a:rPr lang="en-US" altLang="en-US" sz="3600" spc="0" dirty="0">
                <a:solidFill>
                  <a:schemeClr val="tx1"/>
                </a:solidFill>
                <a:effectLst/>
              </a:rPr>
              <a:t>M</a:t>
            </a:r>
            <a:r>
              <a:rPr lang="en-US" altLang="en-US" sz="100" spc="0" dirty="0">
                <a:solidFill>
                  <a:schemeClr val="tx1"/>
                </a:solidFill>
                <a:effectLst/>
              </a:rPr>
              <a:t> </a:t>
            </a:r>
            <a:r>
              <a:rPr lang="en-US" altLang="en-US" sz="3600" spc="0" dirty="0">
                <a:solidFill>
                  <a:schemeClr val="tx1"/>
                </a:solidFill>
                <a:effectLst/>
              </a:rPr>
              <a:t>L Notation for Multiplicity</a:t>
            </a:r>
            <a:endParaRPr lang="en-US" altLang="en-US" sz="3200" spc="0" dirty="0">
              <a:solidFill>
                <a:schemeClr val="tx1"/>
              </a:solidFill>
              <a:effectLst/>
            </a:endParaRPr>
          </a:p>
        </p:txBody>
      </p:sp>
      <p:pic>
        <p:nvPicPr>
          <p:cNvPr id="314378" name="Picture 10" descr="The image shows U M L Notation for Multiplicity. 0 dot dot 1 denotes zero or one, optional. 1 denotes one and only one, mandatory. 1 dot dot 1 denotes one and only one alternate, mandatory. 0 dot dot star denotes zero or more, optional. Star denotes zero or more alternate, optional. 1 dot dot star denotes one or more, mandatory."/>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990600" y="2057400"/>
            <a:ext cx="7209436" cy="3352800"/>
          </a:xfrm>
          <a:noFill/>
          <a:ln/>
        </p:spPr>
      </p:pic>
      <p:sp>
        <p:nvSpPr>
          <p:cNvPr id="5" name="Slide Number Placeholder 5"/>
          <p:cNvSpPr>
            <a:spLocks noGrp="1"/>
          </p:cNvSpPr>
          <p:nvPr>
            <p:ph type="sldNum" sz="quarter" idx="4"/>
          </p:nvPr>
        </p:nvSpPr>
        <p:spPr>
          <a:xfrm>
            <a:off x="8001000" y="6248400"/>
            <a:ext cx="1143000" cy="457200"/>
          </a:xfrm>
          <a:prstGeom prst="rect">
            <a:avLst/>
          </a:prstGeom>
        </p:spPr>
        <p:txBody>
          <a:bodyPr/>
          <a:lstStyle/>
          <a:p>
            <a:fld id="{B60E64EE-6B47-4FC0-91BA-4F8844E15B6F}" type="slidenum">
              <a:rPr lang="en-US" altLang="en-US"/>
              <a:pPr/>
              <a:t>25</a:t>
            </a:fld>
            <a:endParaRPr lang="en-US" altLang="en-US"/>
          </a:p>
        </p:txBody>
      </p:sp>
      <p:sp>
        <p:nvSpPr>
          <p:cNvPr id="4" name="Footer Placeholder 4"/>
          <p:cNvSpPr>
            <a:spLocks noGrp="1"/>
          </p:cNvSpPr>
          <p:nvPr>
            <p:ph type="ftr" sz="quarter" idx="3"/>
          </p:nvPr>
        </p:nvSpPr>
        <p:spPr>
          <a:xfrm>
            <a:off x="0" y="6248400"/>
            <a:ext cx="76962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a:xfrm>
            <a:off x="381000" y="230188"/>
            <a:ext cx="8382000" cy="498598"/>
          </a:xfrm>
        </p:spPr>
        <p:txBody>
          <a:bodyPr/>
          <a:lstStyle/>
          <a:p>
            <a:r>
              <a:rPr lang="en-US" altLang="en-US" sz="3600" spc="0" dirty="0">
                <a:solidFill>
                  <a:schemeClr val="tx1"/>
                </a:solidFill>
                <a:effectLst/>
              </a:rPr>
              <a:t>Domain Model Class Diagram </a:t>
            </a:r>
            <a:r>
              <a:rPr lang="en-US" altLang="en-US" sz="2000" spc="0" dirty="0">
                <a:solidFill>
                  <a:schemeClr val="tx1"/>
                </a:solidFill>
                <a:effectLst/>
              </a:rPr>
              <a:t>(1 of 2)</a:t>
            </a:r>
          </a:p>
        </p:txBody>
      </p:sp>
      <p:sp>
        <p:nvSpPr>
          <p:cNvPr id="2" name="Content Placeholder 1"/>
          <p:cNvSpPr>
            <a:spLocks noGrp="1"/>
          </p:cNvSpPr>
          <p:nvPr>
            <p:ph sz="quarter" idx="12"/>
          </p:nvPr>
        </p:nvSpPr>
        <p:spPr>
          <a:xfrm>
            <a:off x="363908" y="1244838"/>
            <a:ext cx="8382000" cy="1606594"/>
          </a:xfrm>
        </p:spPr>
        <p:txBody>
          <a:bodyPr/>
          <a:lstStyle/>
          <a:p>
            <a:pPr marL="352800" indent="-352800"/>
            <a:r>
              <a:rPr lang="en-US" sz="2800" dirty="0"/>
              <a:t>Bank with many branches as show previously in E</a:t>
            </a:r>
            <a:r>
              <a:rPr lang="en-US" sz="100" dirty="0"/>
              <a:t> </a:t>
            </a:r>
            <a:r>
              <a:rPr lang="en-US" sz="2800" dirty="0"/>
              <a:t>R</a:t>
            </a:r>
            <a:r>
              <a:rPr lang="en-US" sz="100" dirty="0"/>
              <a:t> </a:t>
            </a:r>
            <a:r>
              <a:rPr lang="en-US" sz="2800" dirty="0"/>
              <a:t>D</a:t>
            </a:r>
          </a:p>
          <a:p>
            <a:pPr lvl="1" indent="-291600">
              <a:spcBef>
                <a:spcPts val="500"/>
              </a:spcBef>
            </a:pPr>
            <a:r>
              <a:rPr lang="en-US" sz="2400" dirty="0"/>
              <a:t>Note notation for the key</a:t>
            </a:r>
          </a:p>
          <a:p>
            <a:pPr lvl="1" indent="-291600">
              <a:spcBef>
                <a:spcPts val="500"/>
              </a:spcBef>
            </a:pPr>
            <a:r>
              <a:rPr lang="en-US" sz="2400" dirty="0"/>
              <a:t>Note the precise notation for the attributes (camelback)</a:t>
            </a:r>
          </a:p>
          <a:p>
            <a:pPr lvl="1" indent="-291600">
              <a:spcBef>
                <a:spcPts val="500"/>
              </a:spcBef>
            </a:pPr>
            <a:r>
              <a:rPr lang="en-US" sz="2400" dirty="0"/>
              <a:t>Note the multiplicity notation</a:t>
            </a:r>
          </a:p>
        </p:txBody>
      </p:sp>
      <p:pic>
        <p:nvPicPr>
          <p:cNvPr id="10" name="Picture 7" descr="Four boxes are displayed and linked. The content of the boxes are as follows: 1. Customer, cust number open curly bracket key close curly bracket, full name, bill address, home address, office address. 2. Account, account I D open curly bracket key close curly bracket, account type, date opened, balance. 3. Branch, branch I D open curly bracket key close curly bracket, manager name, location, main phone. 4. Transaction, trans I D open curly bracket key close curly bracket, trans date, trans type, trans amount. Customer is linked to Account. The end of the line toward customer has 1, the other end has 1 dot sot star. Account is linked to branch. The end of the line toward account has 0 dot dot star, the other end has 1. Account is linked to transaction. The end of the line toward account has 1, the other end has 1 dot dot star. "/>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tretch>
            <a:fillRect/>
          </a:stretch>
        </p:blipFill>
        <p:spPr>
          <a:xfrm>
            <a:off x="2209800" y="2876453"/>
            <a:ext cx="4770262" cy="3003159"/>
          </a:xfrm>
          <a:noFill/>
          <a:ln/>
        </p:spPr>
      </p:pic>
      <p:sp>
        <p:nvSpPr>
          <p:cNvPr id="5" name="Slide Number Placeholder 5"/>
          <p:cNvSpPr>
            <a:spLocks noGrp="1"/>
          </p:cNvSpPr>
          <p:nvPr>
            <p:ph type="sldNum" sz="quarter" idx="4"/>
          </p:nvPr>
        </p:nvSpPr>
        <p:spPr>
          <a:prstGeom prst="rect">
            <a:avLst/>
          </a:prstGeom>
        </p:spPr>
        <p:txBody>
          <a:bodyPr/>
          <a:lstStyle/>
          <a:p>
            <a:fld id="{08084AEE-DFCE-4234-9532-E80BDE062949}" type="slidenum">
              <a:rPr lang="en-US" altLang="en-US"/>
              <a:pPr/>
              <a:t>26</a:t>
            </a:fld>
            <a:endParaRPr lang="en-US" altLang="en-US"/>
          </a:p>
        </p:txBody>
      </p:sp>
      <p:sp>
        <p:nvSpPr>
          <p:cNvPr id="4" name="Footer Placeholder 4"/>
          <p:cNvSpPr>
            <a:spLocks noGrp="1"/>
          </p:cNvSpPr>
          <p:nvPr>
            <p:ph type="ftr" sz="quarter" idx="3"/>
          </p:nvPr>
        </p:nvSpPr>
        <p:spPr>
          <a:xfrm>
            <a:off x="0" y="6244046"/>
            <a:ext cx="76200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a:xfrm>
            <a:off x="381000" y="230188"/>
            <a:ext cx="8382000" cy="498598"/>
          </a:xfrm>
        </p:spPr>
        <p:txBody>
          <a:bodyPr/>
          <a:lstStyle/>
          <a:p>
            <a:r>
              <a:rPr lang="en-US" altLang="en-US" sz="3600" spc="0" dirty="0">
                <a:solidFill>
                  <a:schemeClr val="tx1"/>
                </a:solidFill>
                <a:effectLst/>
              </a:rPr>
              <a:t>Domain Model Class Diagram </a:t>
            </a:r>
            <a:r>
              <a:rPr lang="en-US" altLang="en-US" sz="2000" spc="0" dirty="0">
                <a:solidFill>
                  <a:schemeClr val="tx1"/>
                </a:solidFill>
                <a:effectLst/>
              </a:rPr>
              <a:t>(2 of 2)</a:t>
            </a:r>
          </a:p>
        </p:txBody>
      </p:sp>
      <p:sp>
        <p:nvSpPr>
          <p:cNvPr id="2" name="Content Placeholder 1"/>
          <p:cNvSpPr>
            <a:spLocks noGrp="1"/>
          </p:cNvSpPr>
          <p:nvPr>
            <p:ph sz="half" idx="2"/>
          </p:nvPr>
        </p:nvSpPr>
        <p:spPr>
          <a:xfrm>
            <a:off x="372454" y="1244710"/>
            <a:ext cx="3894746" cy="4667945"/>
          </a:xfrm>
        </p:spPr>
        <p:txBody>
          <a:bodyPr/>
          <a:lstStyle/>
          <a:p>
            <a:pPr>
              <a:spcBef>
                <a:spcPts val="1000"/>
              </a:spcBef>
            </a:pPr>
            <a:r>
              <a:rPr lang="en-US" dirty="0"/>
              <a:t>Course Enrollment at a University </a:t>
            </a:r>
          </a:p>
          <a:p>
            <a:pPr>
              <a:spcBef>
                <a:spcPts val="1000"/>
              </a:spcBef>
            </a:pPr>
            <a:r>
              <a:rPr lang="en-US" dirty="0"/>
              <a:t>A Course has many CourseSections</a:t>
            </a:r>
          </a:p>
          <a:p>
            <a:pPr>
              <a:spcBef>
                <a:spcPts val="1000"/>
              </a:spcBef>
            </a:pPr>
            <a:r>
              <a:rPr lang="en-US" dirty="0"/>
              <a:t>A CourseSection has many Students and a Student is registered in many CourseSections</a:t>
            </a:r>
          </a:p>
          <a:p>
            <a:pPr>
              <a:spcBef>
                <a:spcPts val="1000"/>
              </a:spcBef>
            </a:pPr>
            <a:r>
              <a:rPr lang="en-US" dirty="0"/>
              <a:t>Problem</a:t>
            </a:r>
          </a:p>
          <a:p>
            <a:pPr lvl="1">
              <a:spcBef>
                <a:spcPts val="1000"/>
              </a:spcBef>
            </a:pPr>
            <a:r>
              <a:rPr lang="en-US" dirty="0"/>
              <a:t>How/where to capture student grades? </a:t>
            </a:r>
          </a:p>
        </p:txBody>
      </p:sp>
      <p:pic>
        <p:nvPicPr>
          <p:cNvPr id="316424" name="Picture 8" descr="Three boxes are linked. Box 1. Class name: course. Attributes: course number, title, credit hours. Box 2. Class name: course section. Attributes: section number, start time, room number. Box 3. Class name: Student. Attributes: student I D, name, major. Box 1 is linked to box 2. The line ending toward box 1 has 1 and the other end has 0 dot dot star. Box 2 is linked to box 3. The line ending toward box 2 has 0 dot dot star and the other end has 0 dot dot star. "/>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a:xfrm>
            <a:off x="4572000" y="1240161"/>
            <a:ext cx="4403090" cy="3984156"/>
          </a:xfrm>
          <a:noFill/>
          <a:ln/>
        </p:spPr>
      </p:pic>
      <p:sp>
        <p:nvSpPr>
          <p:cNvPr id="6" name="Slide Number Placeholder 5"/>
          <p:cNvSpPr>
            <a:spLocks noGrp="1"/>
          </p:cNvSpPr>
          <p:nvPr>
            <p:ph type="sldNum" sz="quarter" idx="4"/>
          </p:nvPr>
        </p:nvSpPr>
        <p:spPr>
          <a:prstGeom prst="rect">
            <a:avLst/>
          </a:prstGeom>
        </p:spPr>
        <p:txBody>
          <a:bodyPr/>
          <a:lstStyle/>
          <a:p>
            <a:fld id="{F057258A-1EDF-4621-802D-4545CE986D67}" type="slidenum">
              <a:rPr lang="en-US" altLang="en-US"/>
              <a:pPr/>
              <a:t>27</a:t>
            </a:fld>
            <a:endParaRPr lang="en-US" altLang="en-US"/>
          </a:p>
        </p:txBody>
      </p:sp>
      <p:sp>
        <p:nvSpPr>
          <p:cNvPr id="5" name="Footer Placeholder 4"/>
          <p:cNvSpPr>
            <a:spLocks noGrp="1"/>
          </p:cNvSpPr>
          <p:nvPr>
            <p:ph type="ftr" sz="quarter" idx="3"/>
          </p:nvPr>
        </p:nvSpPr>
        <p:spPr>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a:xfrm>
            <a:off x="381000" y="230188"/>
            <a:ext cx="8382000" cy="775597"/>
          </a:xfrm>
        </p:spPr>
        <p:txBody>
          <a:bodyPr/>
          <a:lstStyle/>
          <a:p>
            <a:r>
              <a:rPr lang="en-US" altLang="en-US" sz="3200" spc="0" dirty="0">
                <a:solidFill>
                  <a:schemeClr val="tx1"/>
                </a:solidFill>
                <a:effectLst/>
              </a:rPr>
              <a:t>Refined Course Enrollment Model </a:t>
            </a:r>
            <a:r>
              <a:rPr lang="en-US" altLang="en-US" sz="2400" spc="0" dirty="0">
                <a:solidFill>
                  <a:schemeClr val="tx1"/>
                </a:solidFill>
                <a:effectLst/>
              </a:rPr>
              <a:t>with an Association Class CourseEnrollment</a:t>
            </a:r>
          </a:p>
        </p:txBody>
      </p:sp>
      <p:sp>
        <p:nvSpPr>
          <p:cNvPr id="2" name="Text Placeholder 1"/>
          <p:cNvSpPr>
            <a:spLocks noGrp="1"/>
          </p:cNvSpPr>
          <p:nvPr>
            <p:ph type="body" sz="quarter" idx="10"/>
          </p:nvPr>
        </p:nvSpPr>
        <p:spPr>
          <a:xfrm>
            <a:off x="363908" y="1244838"/>
            <a:ext cx="8382000" cy="1163395"/>
          </a:xfrm>
        </p:spPr>
        <p:txBody>
          <a:bodyPr/>
          <a:lstStyle/>
          <a:p>
            <a:pPr marL="352800" indent="-352800"/>
            <a:r>
              <a:rPr lang="en-GB" altLang="en-US" sz="2800" b="1" dirty="0"/>
              <a:t>Association class</a:t>
            </a:r>
            <a:r>
              <a:rPr lang="en-GB" altLang="en-US" sz="2800" dirty="0"/>
              <a:t>— an association that is treated as a class in a many to many association because it has attributes that need to be remembered (such as grade)</a:t>
            </a:r>
          </a:p>
        </p:txBody>
      </p:sp>
      <p:pic>
        <p:nvPicPr>
          <p:cNvPr id="9" name="Picture 6" descr="The image shows a Refined Course Enrollment Model with an Association Class Course Enrollment. Three boxes are linked. Box 1. Class name: course. Attributes: course number, title, credit hours. Box 2. Class name: course section. Attributes: section number, start time, room number. Box 3. Class name: Student. Attributes: student I D, name, major. Box 4. Associate class name: Course enrollment. Attributes: grade. Box 1 is linked to box 2. The line ending toward box 1 has 1 and the other end has 0 dot dot star. Box 2 is linked to box 3. The line ending toward box 2 has 0 dot dot star and the other end has 0 dot dot star. Box 4 is linked with a dashed line, to the line that links box 2 and box 3. "/>
          <p:cNvPicPr>
            <a:picLocks noGrp="1" noChangeAspect="1" noChangeArrowheads="1"/>
          </p:cNvPicPr>
          <p:nvPr>
            <p:ph sz="quarter" idx="12"/>
          </p:nvPr>
        </p:nvPicPr>
        <p:blipFill>
          <a:blip r:embed="rId2">
            <a:extLst>
              <a:ext uri="{28A0092B-C50C-407E-A947-70E740481C1C}">
                <a14:useLocalDpi xmlns:a14="http://schemas.microsoft.com/office/drawing/2010/main" val="0"/>
              </a:ext>
            </a:extLst>
          </a:blip>
          <a:stretch>
            <a:fillRect/>
          </a:stretch>
        </p:blipFill>
        <p:spPr>
          <a:xfrm>
            <a:off x="1570618" y="2529901"/>
            <a:ext cx="6002764" cy="3359355"/>
          </a:xfrm>
          <a:noFill/>
          <a:ln/>
        </p:spPr>
      </p:pic>
      <p:sp>
        <p:nvSpPr>
          <p:cNvPr id="6" name="Slide Number Placeholder 5"/>
          <p:cNvSpPr>
            <a:spLocks noGrp="1"/>
          </p:cNvSpPr>
          <p:nvPr>
            <p:ph type="sldNum" sz="quarter" idx="4"/>
          </p:nvPr>
        </p:nvSpPr>
        <p:spPr>
          <a:prstGeom prst="rect">
            <a:avLst/>
          </a:prstGeom>
        </p:spPr>
        <p:txBody>
          <a:bodyPr/>
          <a:lstStyle/>
          <a:p>
            <a:fld id="{12F101D2-C343-4125-8789-5F91740ED802}" type="slidenum">
              <a:rPr lang="en-US" altLang="en-US"/>
              <a:pPr/>
              <a:t>28</a:t>
            </a:fld>
            <a:endParaRPr lang="en-US" altLang="en-US"/>
          </a:p>
        </p:txBody>
      </p:sp>
      <p:sp>
        <p:nvSpPr>
          <p:cNvPr id="5" name="Footer Placeholder 4"/>
          <p:cNvSpPr>
            <a:spLocks noGrp="1"/>
          </p:cNvSpPr>
          <p:nvPr>
            <p:ph type="ftr" sz="quarter" idx="3"/>
          </p:nvPr>
        </p:nvSpPr>
        <p:spPr>
          <a:xfrm>
            <a:off x="0" y="6244046"/>
            <a:ext cx="76200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0" dirty="0">
                <a:solidFill>
                  <a:schemeClr val="tx1"/>
                </a:solidFill>
                <a:effectLst/>
              </a:rPr>
              <a:t>Association Class Properties</a:t>
            </a:r>
          </a:p>
        </p:txBody>
      </p:sp>
      <p:sp>
        <p:nvSpPr>
          <p:cNvPr id="3" name="Text Placeholder 2"/>
          <p:cNvSpPr>
            <a:spLocks noGrp="1"/>
          </p:cNvSpPr>
          <p:nvPr>
            <p:ph type="body" sz="quarter" idx="10"/>
          </p:nvPr>
        </p:nvSpPr>
        <p:spPr>
          <a:xfrm>
            <a:off x="372454" y="1244838"/>
            <a:ext cx="8382000" cy="4723344"/>
          </a:xfrm>
        </p:spPr>
        <p:txBody>
          <a:bodyPr/>
          <a:lstStyle/>
          <a:p>
            <a:pPr marL="291600" indent="-291600">
              <a:spcBef>
                <a:spcPts val="1000"/>
              </a:spcBef>
            </a:pPr>
            <a:r>
              <a:rPr lang="en-US" sz="2800" dirty="0"/>
              <a:t>The association class </a:t>
            </a:r>
            <a:r>
              <a:rPr lang="en-US" sz="2800" b="1" dirty="0"/>
              <a:t>is</a:t>
            </a:r>
            <a:r>
              <a:rPr lang="en-US" sz="2800" dirty="0"/>
              <a:t> the same “thing” as the association itself</a:t>
            </a:r>
          </a:p>
          <a:p>
            <a:pPr marL="291600" indent="-291600">
              <a:spcBef>
                <a:spcPts val="1000"/>
              </a:spcBef>
            </a:pPr>
            <a:r>
              <a:rPr lang="en-US" sz="2800" dirty="0"/>
              <a:t>The unique identifier (key) for the association class is the concatenation of the keys of the attached classes</a:t>
            </a:r>
          </a:p>
          <a:p>
            <a:pPr lvl="1">
              <a:spcBef>
                <a:spcPts val="1000"/>
              </a:spcBef>
            </a:pPr>
            <a:r>
              <a:rPr lang="en-US" sz="2400" dirty="0"/>
              <a:t>In the previous example the key for CourseSection is CourseNumber+SectionNumber</a:t>
            </a:r>
          </a:p>
          <a:p>
            <a:pPr lvl="1">
              <a:spcBef>
                <a:spcPts val="1000"/>
              </a:spcBef>
            </a:pPr>
            <a:r>
              <a:rPr lang="en-US" sz="2400" dirty="0"/>
              <a:t>Hence the key for CourseEnrollment is CourseNumber+SectionNumber+Student</a:t>
            </a:r>
            <a:r>
              <a:rPr lang="en-US" sz="100" dirty="0"/>
              <a:t> </a:t>
            </a:r>
            <a:r>
              <a:rPr lang="en-US" sz="2400" dirty="0"/>
              <a:t>I</a:t>
            </a:r>
            <a:r>
              <a:rPr lang="en-US" sz="100" dirty="0"/>
              <a:t> </a:t>
            </a:r>
            <a:r>
              <a:rPr lang="en-US" sz="2400" dirty="0"/>
              <a:t>D</a:t>
            </a:r>
          </a:p>
          <a:p>
            <a:pPr lvl="1">
              <a:spcBef>
                <a:spcPts val="1000"/>
              </a:spcBef>
            </a:pPr>
            <a:r>
              <a:rPr lang="en-US" sz="2400" dirty="0"/>
              <a:t>Note: If more information is required to uniquely identify instances of the association class, then the model is incorrect, i.e., if the key cannot be formed by the concatenation of the endpoint keys, it is in error. </a:t>
            </a:r>
          </a:p>
        </p:txBody>
      </p:sp>
      <p:sp>
        <p:nvSpPr>
          <p:cNvPr id="4" name="Slide Number Placeholder 3"/>
          <p:cNvSpPr>
            <a:spLocks noGrp="1"/>
          </p:cNvSpPr>
          <p:nvPr>
            <p:ph type="sldNum" sz="quarter" idx="4"/>
          </p:nvPr>
        </p:nvSpPr>
        <p:spPr/>
        <p:txBody>
          <a:bodyPr/>
          <a:lstStyle/>
          <a:p>
            <a:fld id="{009A3541-B7EF-4A1D-9612-A6ED665B4012}" type="slidenum">
              <a:rPr lang="en-US" altLang="en-US" smtClean="0"/>
              <a:pPr/>
              <a:t>29</a:t>
            </a:fld>
            <a:endParaRPr lang="en-US" altLang="en-US"/>
          </a:p>
        </p:txBody>
      </p:sp>
      <p:sp>
        <p:nvSpPr>
          <p:cNvPr id="5" name="Footer Placeholder 4"/>
          <p:cNvSpPr>
            <a:spLocks noGrp="1"/>
          </p:cNvSpPr>
          <p:nvPr>
            <p:ph type="ftr" sz="quarter" idx="3"/>
          </p:nvPr>
        </p:nvSpPr>
        <p:spPr>
          <a:xfrm>
            <a:off x="0" y="6244046"/>
            <a:ext cx="7620000" cy="457200"/>
          </a:xfrm>
        </p:spPr>
        <p:txBody>
          <a:body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3580636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spc="0" dirty="0">
                <a:solidFill>
                  <a:schemeClr val="tx1"/>
                </a:solidFill>
                <a:effectLst/>
              </a:rPr>
              <a:t>Band with members and concerts</a:t>
            </a:r>
          </a:p>
        </p:txBody>
      </p:sp>
      <p:sp>
        <p:nvSpPr>
          <p:cNvPr id="3" name="Text Placeholder 2"/>
          <p:cNvSpPr>
            <a:spLocks noGrp="1"/>
          </p:cNvSpPr>
          <p:nvPr>
            <p:ph type="body" sz="quarter" idx="10"/>
          </p:nvPr>
        </p:nvSpPr>
        <p:spPr>
          <a:xfrm>
            <a:off x="372454" y="1261930"/>
            <a:ext cx="3763972" cy="4557145"/>
          </a:xfrm>
        </p:spPr>
        <p:txBody>
          <a:bodyPr/>
          <a:lstStyle/>
          <a:p>
            <a:r>
              <a:rPr lang="en-US" sz="2800" dirty="0"/>
              <a:t>Quick Quiz</a:t>
            </a:r>
          </a:p>
          <a:p>
            <a:pPr lvl="1">
              <a:spcBef>
                <a:spcPts val="1000"/>
              </a:spcBef>
            </a:pPr>
            <a:r>
              <a:rPr lang="en-US" sz="2400" dirty="0"/>
              <a:t>How many bands can a person play in?</a:t>
            </a:r>
          </a:p>
          <a:p>
            <a:pPr lvl="1">
              <a:spcBef>
                <a:spcPts val="1000"/>
              </a:spcBef>
            </a:pPr>
            <a:r>
              <a:rPr lang="en-US" sz="2400" dirty="0"/>
              <a:t>For a band, how many concerts can it play in? </a:t>
            </a:r>
          </a:p>
          <a:p>
            <a:pPr lvl="1">
              <a:spcBef>
                <a:spcPts val="1000"/>
              </a:spcBef>
            </a:pPr>
            <a:r>
              <a:rPr lang="en-US" sz="2400" dirty="0"/>
              <a:t>For a concert, how many bands may be playing? </a:t>
            </a:r>
          </a:p>
          <a:p>
            <a:pPr lvl="1">
              <a:spcBef>
                <a:spcPts val="1000"/>
              </a:spcBef>
            </a:pPr>
            <a:r>
              <a:rPr lang="en-US" sz="2400" dirty="0"/>
              <a:t>What attributes can you use for keys? Do you need to add “key” attributes? </a:t>
            </a:r>
          </a:p>
        </p:txBody>
      </p:sp>
      <p:pic>
        <p:nvPicPr>
          <p:cNvPr id="9" name="Content Placeholder 8" descr="The image shows a Model diagram of Band with members and concerts. Three boxes are linked. Box 1. Class name: band member. Attributes: member name, years in band, instrument. Box 2. Class name: band. Attributes: band name, style, year formed. Box 3. Class name: concert. Attributes: concert date, location, audience capacity, start time, price range. Box 1 is linked to box 2. The line ending toward box has 1 dot dot star and the other end has 1 dot dot 1. Box 2 is linked to box 3. The line ending toward box 2 has 1 dot dot star and the other end has 0 dot dot star. "/>
          <p:cNvPicPr>
            <a:picLocks noGrp="1" noChangeAspect="1"/>
          </p:cNvPicPr>
          <p:nvPr>
            <p:ph sz="quarter" idx="11"/>
          </p:nvPr>
        </p:nvPicPr>
        <p:blipFill>
          <a:blip r:embed="rId2"/>
          <a:stretch>
            <a:fillRect/>
          </a:stretch>
        </p:blipFill>
        <p:spPr>
          <a:xfrm>
            <a:off x="4419600" y="1524000"/>
            <a:ext cx="4539453" cy="4101092"/>
          </a:xfrm>
          <a:prstGeom prst="rect">
            <a:avLst/>
          </a:prstGeom>
        </p:spPr>
      </p:pic>
      <p:sp>
        <p:nvSpPr>
          <p:cNvPr id="4" name="Slide Number Placeholder 3"/>
          <p:cNvSpPr>
            <a:spLocks noGrp="1"/>
          </p:cNvSpPr>
          <p:nvPr>
            <p:ph type="sldNum" sz="quarter" idx="4"/>
          </p:nvPr>
        </p:nvSpPr>
        <p:spPr/>
        <p:txBody>
          <a:bodyPr/>
          <a:lstStyle/>
          <a:p>
            <a:fld id="{009A3541-B7EF-4A1D-9612-A6ED665B4012}" type="slidenum">
              <a:rPr lang="en-US" altLang="en-US" smtClean="0"/>
              <a:pPr/>
              <a:t>30</a:t>
            </a:fld>
            <a:endParaRPr lang="en-US" altLang="en-US"/>
          </a:p>
        </p:txBody>
      </p:sp>
      <p:sp>
        <p:nvSpPr>
          <p:cNvPr id="5" name="Footer Placeholder 4"/>
          <p:cNvSpPr>
            <a:spLocks noGrp="1"/>
          </p:cNvSpPr>
          <p:nvPr>
            <p:ph type="ftr" sz="quarter" idx="3"/>
          </p:nvPr>
        </p:nvSpPr>
        <p:spPr>
          <a:xfrm>
            <a:off x="0" y="6244046"/>
            <a:ext cx="7620000" cy="457200"/>
          </a:xfrm>
        </p:spPr>
        <p:txBody>
          <a:body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41199702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8"/>
            <a:ext cx="8364908" cy="553998"/>
          </a:xfrm>
        </p:spPr>
        <p:txBody>
          <a:bodyPr/>
          <a:lstStyle/>
          <a:p>
            <a:r>
              <a:rPr lang="en-US" sz="4000" spc="0" dirty="0">
                <a:solidFill>
                  <a:schemeClr val="tx1"/>
                </a:solidFill>
                <a:effectLst/>
              </a:rPr>
              <a:t>Band with Concert Booking Information</a:t>
            </a:r>
          </a:p>
        </p:txBody>
      </p:sp>
      <p:sp>
        <p:nvSpPr>
          <p:cNvPr id="3" name="Text Placeholder 2"/>
          <p:cNvSpPr>
            <a:spLocks noGrp="1"/>
          </p:cNvSpPr>
          <p:nvPr>
            <p:ph type="body" sz="quarter" idx="10"/>
          </p:nvPr>
        </p:nvSpPr>
        <p:spPr>
          <a:xfrm>
            <a:off x="363908" y="1267698"/>
            <a:ext cx="8382000" cy="1407848"/>
          </a:xfrm>
        </p:spPr>
        <p:txBody>
          <a:bodyPr/>
          <a:lstStyle/>
          <a:p>
            <a:r>
              <a:rPr lang="en-US" sz="2400" dirty="0"/>
              <a:t>Note: The association class (Booking) also provides a name and meaning for the association</a:t>
            </a:r>
          </a:p>
          <a:p>
            <a:r>
              <a:rPr lang="en-US" sz="2400" dirty="0"/>
              <a:t>Given the keys you identified, what is the key for the Booking class? Does it uniquely identify instances?</a:t>
            </a:r>
          </a:p>
        </p:txBody>
      </p:sp>
      <p:pic>
        <p:nvPicPr>
          <p:cNvPr id="9" name="Content Placeholder 8" descr="The image shows a Model diagram of Band with members and concerts with an associate class. Three boxes are linked. Box 1. Class name: band member. Attributes: member name, years in band, instrument. Box 2. Class name: band. Attributes: band name, style, year formed. Box 3. Class name: concert. Attributes: concert date, location, audience capacity, start time, price range. Box 4: Associate class name: booking. Attributes: date booked, performance order, base pay. Box 1 is linked to box 2. The line ending toward box has 1 dot dot star and the other end has 1 dot dot 1. Box 2 is linked to box 3. The line ending toward box 2 has 1 dot dot star and the other end has 0 dot dot star. Box 4 is linked with a dashed line, to the line that links box 2 and box 3."/>
          <p:cNvPicPr>
            <a:picLocks noGrp="1" noChangeAspect="1"/>
          </p:cNvPicPr>
          <p:nvPr>
            <p:ph sz="quarter" idx="11"/>
          </p:nvPr>
        </p:nvPicPr>
        <p:blipFill>
          <a:blip r:embed="rId2"/>
          <a:stretch>
            <a:fillRect/>
          </a:stretch>
        </p:blipFill>
        <p:spPr>
          <a:xfrm>
            <a:off x="2195875" y="2816545"/>
            <a:ext cx="4752250" cy="3081211"/>
          </a:xfrm>
          <a:prstGeom prst="rect">
            <a:avLst/>
          </a:prstGeom>
        </p:spPr>
      </p:pic>
      <p:sp>
        <p:nvSpPr>
          <p:cNvPr id="4" name="Slide Number Placeholder 3"/>
          <p:cNvSpPr>
            <a:spLocks noGrp="1"/>
          </p:cNvSpPr>
          <p:nvPr>
            <p:ph type="sldNum" sz="quarter" idx="4"/>
          </p:nvPr>
        </p:nvSpPr>
        <p:spPr/>
        <p:txBody>
          <a:bodyPr/>
          <a:lstStyle/>
          <a:p>
            <a:fld id="{009A3541-B7EF-4A1D-9612-A6ED665B4012}" type="slidenum">
              <a:rPr lang="en-US" altLang="en-US" smtClean="0"/>
              <a:pPr/>
              <a:t>31</a:t>
            </a:fld>
            <a:endParaRPr lang="en-US" altLang="en-US" dirty="0"/>
          </a:p>
        </p:txBody>
      </p:sp>
      <p:sp>
        <p:nvSpPr>
          <p:cNvPr id="5" name="Footer Placeholder 4"/>
          <p:cNvSpPr>
            <a:spLocks noGrp="1"/>
          </p:cNvSpPr>
          <p:nvPr>
            <p:ph type="ftr" sz="quarter" idx="3"/>
          </p:nvPr>
        </p:nvSpPr>
        <p:spPr>
          <a:xfrm>
            <a:off x="0" y="6244046"/>
            <a:ext cx="7696200" cy="309154"/>
          </a:xfrm>
        </p:spPr>
        <p:txBody>
          <a:bodyPr/>
          <a:lstStyle/>
          <a:p>
            <a:r>
              <a:rPr lang="en-US" altLang="en-US" dirty="0"/>
              <a:t>Systems Analysis and Design in a Changing World, 7th Edition – Chapter 4 ©2016. Cengage Learning. All rights reserved.</a:t>
            </a:r>
          </a:p>
        </p:txBody>
      </p:sp>
    </p:spTree>
    <p:extLst>
      <p:ext uri="{BB962C8B-B14F-4D97-AF65-F5344CB8AC3E}">
        <p14:creationId xmlns:p14="http://schemas.microsoft.com/office/powerpoint/2010/main" val="3038833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p:nvPr>
        </p:nvSpPr>
        <p:spPr>
          <a:xfrm>
            <a:off x="381000" y="230188"/>
            <a:ext cx="8382000" cy="775597"/>
          </a:xfrm>
        </p:spPr>
        <p:txBody>
          <a:bodyPr/>
          <a:lstStyle/>
          <a:p>
            <a:r>
              <a:rPr lang="en-US" altLang="en-US" sz="3200" spc="0" dirty="0">
                <a:solidFill>
                  <a:schemeClr val="tx1"/>
                </a:solidFill>
                <a:effectLst/>
              </a:rPr>
              <a:t>More Complex Issues about Classes: </a:t>
            </a:r>
            <a:r>
              <a:rPr lang="en-US" altLang="en-US" sz="2400" spc="0" dirty="0">
                <a:solidFill>
                  <a:schemeClr val="tx1"/>
                </a:solidFill>
                <a:effectLst/>
              </a:rPr>
              <a:t>Generalization/Specialization Relationships</a:t>
            </a:r>
          </a:p>
        </p:txBody>
      </p:sp>
      <p:sp>
        <p:nvSpPr>
          <p:cNvPr id="2" name="Text Placeholder 1"/>
          <p:cNvSpPr>
            <a:spLocks noGrp="1"/>
          </p:cNvSpPr>
          <p:nvPr>
            <p:ph type="body" sz="quarter" idx="10"/>
          </p:nvPr>
        </p:nvSpPr>
        <p:spPr>
          <a:xfrm>
            <a:off x="363908" y="1252670"/>
            <a:ext cx="8382000" cy="4443268"/>
          </a:xfrm>
        </p:spPr>
        <p:txBody>
          <a:bodyPr/>
          <a:lstStyle/>
          <a:p>
            <a:pPr marL="291600" indent="-291600">
              <a:spcBef>
                <a:spcPts val="1000"/>
              </a:spcBef>
            </a:pPr>
            <a:r>
              <a:rPr lang="en-GB" altLang="en-US" sz="2400" dirty="0"/>
              <a:t>Generalization/Specialization</a:t>
            </a:r>
          </a:p>
          <a:p>
            <a:pPr lvl="1">
              <a:spcBef>
                <a:spcPts val="1000"/>
              </a:spcBef>
            </a:pPr>
            <a:r>
              <a:rPr lang="en-GB" altLang="en-US" sz="2000" dirty="0"/>
              <a:t>A hierarchical relationship where subordinate classes are special types of the superior classes. Often called an Inheritance Hierarchy</a:t>
            </a:r>
          </a:p>
          <a:p>
            <a:pPr marL="291600" indent="-291600">
              <a:spcBef>
                <a:spcPts val="1000"/>
              </a:spcBef>
            </a:pPr>
            <a:r>
              <a:rPr lang="en-GB" altLang="en-US" sz="2400" dirty="0"/>
              <a:t>Superclass</a:t>
            </a:r>
          </a:p>
          <a:p>
            <a:pPr lvl="1">
              <a:spcBef>
                <a:spcPts val="1000"/>
              </a:spcBef>
            </a:pPr>
            <a:r>
              <a:rPr lang="en-GB" altLang="en-US" sz="2000" dirty="0"/>
              <a:t>the superior or more general class in a generalization/specialization hierarchy</a:t>
            </a:r>
          </a:p>
          <a:p>
            <a:pPr marL="291600" indent="-291600">
              <a:spcBef>
                <a:spcPts val="1000"/>
              </a:spcBef>
            </a:pPr>
            <a:r>
              <a:rPr lang="en-GB" altLang="en-US" sz="2400" dirty="0"/>
              <a:t>Subclass</a:t>
            </a:r>
          </a:p>
          <a:p>
            <a:pPr lvl="1">
              <a:spcBef>
                <a:spcPts val="1000"/>
              </a:spcBef>
            </a:pPr>
            <a:r>
              <a:rPr lang="en-GB" altLang="en-US" sz="2000" dirty="0"/>
              <a:t>the subordinate or more specialized class in a generalization/specialization hierarchy</a:t>
            </a:r>
          </a:p>
          <a:p>
            <a:pPr marL="291600" indent="-291600">
              <a:spcBef>
                <a:spcPts val="1000"/>
              </a:spcBef>
            </a:pPr>
            <a:r>
              <a:rPr lang="en-GB" altLang="en-US" sz="2400" dirty="0"/>
              <a:t>Inheritance </a:t>
            </a:r>
          </a:p>
          <a:p>
            <a:pPr lvl="1">
              <a:spcBef>
                <a:spcPts val="1000"/>
              </a:spcBef>
            </a:pPr>
            <a:r>
              <a:rPr lang="en-GB" altLang="en-US" sz="2000" dirty="0"/>
              <a:t>the concept that subclasses classes inherit characteristics of the more general superclass</a:t>
            </a:r>
          </a:p>
        </p:txBody>
      </p:sp>
      <p:sp>
        <p:nvSpPr>
          <p:cNvPr id="5" name="Slide Number Placeholder 5"/>
          <p:cNvSpPr>
            <a:spLocks noGrp="1"/>
          </p:cNvSpPr>
          <p:nvPr>
            <p:ph type="sldNum" sz="quarter" idx="4"/>
          </p:nvPr>
        </p:nvSpPr>
        <p:spPr>
          <a:prstGeom prst="rect">
            <a:avLst/>
          </a:prstGeom>
        </p:spPr>
        <p:txBody>
          <a:bodyPr/>
          <a:lstStyle/>
          <a:p>
            <a:fld id="{D15A47D4-D33A-473F-98F2-3E2F6D39853C}" type="slidenum">
              <a:rPr lang="en-US" altLang="en-US"/>
              <a:pPr/>
              <a:t>32</a:t>
            </a:fld>
            <a:endParaRPr lang="en-US" altLang="en-US"/>
          </a:p>
        </p:txBody>
      </p:sp>
      <p:sp>
        <p:nvSpPr>
          <p:cNvPr id="4" name="Footer Placeholder 4"/>
          <p:cNvSpPr>
            <a:spLocks noGrp="1"/>
          </p:cNvSpPr>
          <p:nvPr>
            <p:ph type="ftr" sz="quarter" idx="3"/>
          </p:nvPr>
        </p:nvSpPr>
        <p:spPr>
          <a:xfrm>
            <a:off x="0" y="6244046"/>
            <a:ext cx="76962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a:xfrm>
            <a:off x="381000" y="230189"/>
            <a:ext cx="8382000" cy="503136"/>
          </a:xfrm>
        </p:spPr>
        <p:txBody>
          <a:bodyPr/>
          <a:lstStyle/>
          <a:p>
            <a:r>
              <a:rPr lang="en-US" altLang="en-US" sz="3200" spc="0" dirty="0">
                <a:solidFill>
                  <a:schemeClr val="tx1"/>
                </a:solidFill>
                <a:effectLst/>
              </a:rPr>
              <a:t>Generalization/Specialization</a:t>
            </a:r>
            <a:endParaRPr lang="en-US" altLang="en-US" sz="2400" spc="0" dirty="0">
              <a:solidFill>
                <a:schemeClr val="tx1"/>
              </a:solidFill>
              <a:effectLst/>
            </a:endParaRPr>
          </a:p>
        </p:txBody>
      </p:sp>
      <p:pic>
        <p:nvPicPr>
          <p:cNvPr id="12" name="Content Placeholder 11" descr="A diagram shows a hierarchical representation generalization and specialization. A box on top reads Motor vehicle. It is connected to three boxes below that read truck, car and tractor. A label says trucks, cars and tractors are special types of motor vehicles. Car is further connected to three boxes below it, sports car, Sedan and Sports utility. A label says sports cars, Sedans and Sports utilities are special types of cars."/>
          <p:cNvPicPr>
            <a:picLocks noGrp="1" noChangeAspect="1"/>
          </p:cNvPicPr>
          <p:nvPr>
            <p:ph sz="quarter" idx="11"/>
          </p:nvPr>
        </p:nvPicPr>
        <p:blipFill>
          <a:blip r:embed="rId2"/>
          <a:stretch>
            <a:fillRect/>
          </a:stretch>
        </p:blipFill>
        <p:spPr>
          <a:xfrm>
            <a:off x="990600" y="1219200"/>
            <a:ext cx="7219630" cy="4504148"/>
          </a:xfrm>
          <a:prstGeom prst="rect">
            <a:avLst/>
          </a:prstGeom>
        </p:spPr>
      </p:pic>
      <p:sp>
        <p:nvSpPr>
          <p:cNvPr id="6" name="Slide Number Placeholder 5"/>
          <p:cNvSpPr>
            <a:spLocks noGrp="1"/>
          </p:cNvSpPr>
          <p:nvPr>
            <p:ph type="sldNum" sz="quarter" idx="4"/>
          </p:nvPr>
        </p:nvSpPr>
        <p:spPr>
          <a:prstGeom prst="rect">
            <a:avLst/>
          </a:prstGeom>
        </p:spPr>
        <p:txBody>
          <a:bodyPr/>
          <a:lstStyle/>
          <a:p>
            <a:fld id="{33045792-45B2-4BB4-9CB2-D70B0F337346}" type="slidenum">
              <a:rPr lang="en-US" altLang="en-US"/>
              <a:pPr/>
              <a:t>33</a:t>
            </a:fld>
            <a:endParaRPr lang="en-US" altLang="en-US"/>
          </a:p>
        </p:txBody>
      </p:sp>
      <p:sp>
        <p:nvSpPr>
          <p:cNvPr id="5" name="Footer Placeholder 4"/>
          <p:cNvSpPr>
            <a:spLocks noGrp="1"/>
          </p:cNvSpPr>
          <p:nvPr>
            <p:ph type="ftr" sz="quarter" idx="3"/>
          </p:nvPr>
        </p:nvSpPr>
        <p:spPr>
          <a:xfrm>
            <a:off x="0" y="6244046"/>
            <a:ext cx="77724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381000" y="230188"/>
            <a:ext cx="8382000" cy="775597"/>
          </a:xfrm>
        </p:spPr>
        <p:txBody>
          <a:bodyPr/>
          <a:lstStyle/>
          <a:p>
            <a:r>
              <a:rPr lang="en-US" altLang="en-US" sz="3200" spc="0" dirty="0">
                <a:solidFill>
                  <a:schemeClr val="tx1"/>
                </a:solidFill>
                <a:effectLst/>
              </a:rPr>
              <a:t>Generalization/Specialization: </a:t>
            </a:r>
            <a:r>
              <a:rPr lang="en-US" altLang="en-US" sz="2400" spc="0" dirty="0">
                <a:solidFill>
                  <a:schemeClr val="tx1"/>
                </a:solidFill>
                <a:effectLst/>
              </a:rPr>
              <a:t>Inheritance for R</a:t>
            </a:r>
            <a:r>
              <a:rPr lang="en-US" altLang="en-US" sz="100" spc="0" dirty="0">
                <a:solidFill>
                  <a:schemeClr val="tx1"/>
                </a:solidFill>
                <a:effectLst/>
              </a:rPr>
              <a:t> </a:t>
            </a:r>
            <a:r>
              <a:rPr lang="en-US" altLang="en-US" sz="2400" spc="0" dirty="0">
                <a:solidFill>
                  <a:schemeClr val="tx1"/>
                </a:solidFill>
                <a:effectLst/>
              </a:rPr>
              <a:t>M</a:t>
            </a:r>
            <a:r>
              <a:rPr lang="en-US" altLang="en-US" sz="100" spc="0" dirty="0">
                <a:solidFill>
                  <a:schemeClr val="tx1"/>
                </a:solidFill>
                <a:effectLst/>
              </a:rPr>
              <a:t> </a:t>
            </a:r>
            <a:r>
              <a:rPr lang="en-US" altLang="en-US" sz="2400" spc="0" dirty="0">
                <a:solidFill>
                  <a:schemeClr val="tx1"/>
                </a:solidFill>
                <a:effectLst/>
              </a:rPr>
              <a:t>O Three Types of Sales</a:t>
            </a:r>
          </a:p>
        </p:txBody>
      </p:sp>
      <p:sp>
        <p:nvSpPr>
          <p:cNvPr id="2" name="Text Placeholder 1"/>
          <p:cNvSpPr>
            <a:spLocks noGrp="1"/>
          </p:cNvSpPr>
          <p:nvPr>
            <p:ph type="body" sz="quarter" idx="10"/>
          </p:nvPr>
        </p:nvSpPr>
        <p:spPr>
          <a:xfrm>
            <a:off x="372454" y="1250606"/>
            <a:ext cx="8382000" cy="1949794"/>
          </a:xfrm>
        </p:spPr>
        <p:txBody>
          <a:bodyPr/>
          <a:lstStyle/>
          <a:p>
            <a:r>
              <a:rPr lang="en-GB" altLang="en-US" sz="2400" dirty="0"/>
              <a:t>Abstract class— a class that allow subclasses to inherit characteristics but never gets instantiated. In Italics (</a:t>
            </a:r>
            <a:r>
              <a:rPr lang="en-GB" altLang="en-US" sz="2400" i="1" dirty="0"/>
              <a:t>Sale</a:t>
            </a:r>
            <a:r>
              <a:rPr lang="en-GB" altLang="en-US" sz="2400" dirty="0"/>
              <a:t>)</a:t>
            </a:r>
          </a:p>
          <a:p>
            <a:r>
              <a:rPr lang="en-GB" altLang="en-US" sz="2400" dirty="0"/>
              <a:t>Concrete class— a class that can have instances</a:t>
            </a:r>
          </a:p>
          <a:p>
            <a:r>
              <a:rPr lang="en-GB" altLang="en-US" sz="2400" dirty="0"/>
              <a:t>Inheritance – Attributes of OnlineSale are: </a:t>
            </a:r>
          </a:p>
          <a:p>
            <a:pPr lvl="1"/>
            <a:r>
              <a:rPr lang="en-GB" altLang="en-US" sz="2000" dirty="0"/>
              <a:t>timeOnSite, chatUse, saleDateTime, priorityCode, S&amp;H, tax, totalAmt…</a:t>
            </a:r>
          </a:p>
        </p:txBody>
      </p:sp>
      <p:pic>
        <p:nvPicPr>
          <p:cNvPr id="10" name="Content Placeholder 9" descr="The image shows a diagram of Specialization for three types of sales. Box 1. Class name: Sale; attributes: sale date time, priority code, S and H, tax, total amount, mountain bucks. Box 2. Class name: in store Sale; attributes: store I D, register I D, clerk I D. Box 3. Class name: online Sale; attributes: time on site, chat use. Box 4. Class name: telephone sale; attributes: clerk I D, length of call. Box 1 is connected to Boxes 2, 3 and 4 placed below it."/>
          <p:cNvPicPr>
            <a:picLocks noGrp="1" noChangeAspect="1"/>
          </p:cNvPicPr>
          <p:nvPr>
            <p:ph sz="quarter" idx="11"/>
          </p:nvPr>
        </p:nvPicPr>
        <p:blipFill>
          <a:blip r:embed="rId2"/>
          <a:stretch>
            <a:fillRect/>
          </a:stretch>
        </p:blipFill>
        <p:spPr>
          <a:xfrm>
            <a:off x="2057400" y="3352800"/>
            <a:ext cx="4964146" cy="2546455"/>
          </a:xfrm>
          <a:prstGeom prst="rect">
            <a:avLst/>
          </a:prstGeom>
        </p:spPr>
      </p:pic>
      <p:sp>
        <p:nvSpPr>
          <p:cNvPr id="7" name="Slide Number Placeholder 5"/>
          <p:cNvSpPr>
            <a:spLocks noGrp="1"/>
          </p:cNvSpPr>
          <p:nvPr>
            <p:ph type="sldNum" sz="quarter" idx="4"/>
          </p:nvPr>
        </p:nvSpPr>
        <p:spPr>
          <a:prstGeom prst="rect">
            <a:avLst/>
          </a:prstGeom>
        </p:spPr>
        <p:txBody>
          <a:bodyPr/>
          <a:lstStyle/>
          <a:p>
            <a:fld id="{E5E8C225-C8F2-4AFB-AFA7-620748900439}" type="slidenum">
              <a:rPr lang="en-US" altLang="en-US"/>
              <a:pPr/>
              <a:t>34</a:t>
            </a:fld>
            <a:endParaRPr lang="en-US" altLang="en-US"/>
          </a:p>
        </p:txBody>
      </p:sp>
      <p:sp>
        <p:nvSpPr>
          <p:cNvPr id="6" name="Footer Placeholder 4"/>
          <p:cNvSpPr>
            <a:spLocks noGrp="1"/>
          </p:cNvSpPr>
          <p:nvPr>
            <p:ph type="ftr" sz="quarter" idx="3"/>
          </p:nvPr>
        </p:nvSpPr>
        <p:spPr>
          <a:xfrm>
            <a:off x="0" y="6244046"/>
            <a:ext cx="76962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a:xfrm>
            <a:off x="381000" y="230188"/>
            <a:ext cx="8382000" cy="775597"/>
          </a:xfrm>
        </p:spPr>
        <p:txBody>
          <a:bodyPr/>
          <a:lstStyle/>
          <a:p>
            <a:r>
              <a:rPr lang="en-US" altLang="en-US" sz="3200" spc="0" dirty="0">
                <a:solidFill>
                  <a:schemeClr val="tx1"/>
                </a:solidFill>
                <a:effectLst/>
              </a:rPr>
              <a:t>Generalization/Specialization:</a:t>
            </a:r>
            <a:r>
              <a:rPr lang="en-US" altLang="en-US" sz="2800" spc="0" dirty="0">
                <a:solidFill>
                  <a:schemeClr val="tx1"/>
                </a:solidFill>
                <a:effectLst/>
              </a:rPr>
              <a:t> </a:t>
            </a:r>
            <a:r>
              <a:rPr lang="en-US" altLang="en-US" sz="2400" spc="0" dirty="0">
                <a:solidFill>
                  <a:schemeClr val="tx1"/>
                </a:solidFill>
                <a:effectLst/>
              </a:rPr>
              <a:t>Inheritance for the Bank with Special Types of Accounts</a:t>
            </a:r>
          </a:p>
        </p:txBody>
      </p:sp>
      <p:sp>
        <p:nvSpPr>
          <p:cNvPr id="4" name="Content Placeholder 3"/>
          <p:cNvSpPr>
            <a:spLocks noGrp="1"/>
          </p:cNvSpPr>
          <p:nvPr>
            <p:ph sz="quarter" idx="11"/>
          </p:nvPr>
        </p:nvSpPr>
        <p:spPr>
          <a:xfrm>
            <a:off x="372454" y="1261930"/>
            <a:ext cx="3666146" cy="2167070"/>
          </a:xfrm>
        </p:spPr>
        <p:txBody>
          <a:bodyPr/>
          <a:lstStyle/>
          <a:p>
            <a:r>
              <a:rPr lang="en-GB" altLang="en-US" sz="2200" dirty="0"/>
              <a:t>A SavingsAccount has 4 attributes</a:t>
            </a:r>
          </a:p>
          <a:p>
            <a:r>
              <a:rPr lang="en-GB" altLang="en-US" sz="2200" dirty="0"/>
              <a:t>A CheckingAccount has 5 attributes </a:t>
            </a:r>
          </a:p>
          <a:p>
            <a:r>
              <a:rPr lang="en-GB" altLang="en-US" sz="2200" dirty="0"/>
              <a:t>Note: the subclasses inherit the associations too</a:t>
            </a:r>
          </a:p>
        </p:txBody>
      </p:sp>
      <p:pic>
        <p:nvPicPr>
          <p:cNvPr id="10" name="Content Placeholder 9" descr="The image shows a diagram of Specialization for special types of accounts. Box 1. Class name: transaction; attributes: trans I D open curly bracket key close curly bracket, trans date, trans type, trans amount. Box 2. Class name: customer; attributes: cust number open curly bracket key close curly bracket, full name, bill address, home phone, office phone. Box 3. Class name: account; attributes: account I D open curly bracket key close curly bracket, date opened, balance. Box 4. Class name: branch I D open curly bracket key close curly bracket, manager name, branch location, main phone. Box 1 is connected to Boxes 2, 3 and 4 placed below it. The line that links box 1 to box 3 has 1 dot dot star at the start and 1 at the end. The line that links box 2 to box 3 has 1 at the start and 1 dot dot star that the end. The line that links box 3 to box 4 has 0 dot dot star at start and 1 at the end. Box 5. Class name: savings account; attributes: interest rate. Box 6. Class name: checking account; attributes: checking style, minimum balance. Boxes 5 and 6 are connected to box 3, they are placed below it."/>
          <p:cNvPicPr>
            <a:picLocks noGrp="1" noChangeAspect="1"/>
          </p:cNvPicPr>
          <p:nvPr>
            <p:ph sz="quarter" idx="12"/>
          </p:nvPr>
        </p:nvPicPr>
        <p:blipFill>
          <a:blip r:embed="rId2"/>
          <a:stretch>
            <a:fillRect/>
          </a:stretch>
        </p:blipFill>
        <p:spPr>
          <a:xfrm>
            <a:off x="4359871" y="1131383"/>
            <a:ext cx="4576779" cy="4667426"/>
          </a:xfrm>
          <a:prstGeom prst="rect">
            <a:avLst/>
          </a:prstGeom>
        </p:spPr>
      </p:pic>
      <p:sp>
        <p:nvSpPr>
          <p:cNvPr id="7" name="Slide Number Placeholder 5"/>
          <p:cNvSpPr>
            <a:spLocks noGrp="1"/>
          </p:cNvSpPr>
          <p:nvPr>
            <p:ph type="sldNum" sz="quarter" idx="4"/>
          </p:nvPr>
        </p:nvSpPr>
        <p:spPr>
          <a:prstGeom prst="rect">
            <a:avLst/>
          </a:prstGeom>
        </p:spPr>
        <p:txBody>
          <a:bodyPr/>
          <a:lstStyle/>
          <a:p>
            <a:fld id="{732B46ED-0576-483D-BCB3-D47E0E751764}" type="slidenum">
              <a:rPr lang="en-US" altLang="en-US"/>
              <a:pPr/>
              <a:t>35</a:t>
            </a:fld>
            <a:endParaRPr lang="en-US" altLang="en-US"/>
          </a:p>
        </p:txBody>
      </p:sp>
      <p:sp>
        <p:nvSpPr>
          <p:cNvPr id="6" name="Footer Placeholder 4"/>
          <p:cNvSpPr>
            <a:spLocks noGrp="1"/>
          </p:cNvSpPr>
          <p:nvPr>
            <p:ph type="ftr" sz="quarter" idx="3"/>
          </p:nvPr>
        </p:nvSpPr>
        <p:spPr>
          <a:xfrm>
            <a:off x="0" y="6244046"/>
            <a:ext cx="76962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381000" y="230188"/>
            <a:ext cx="8382000" cy="836612"/>
          </a:xfrm>
        </p:spPr>
        <p:txBody>
          <a:bodyPr/>
          <a:lstStyle/>
          <a:p>
            <a:r>
              <a:rPr lang="en-US" altLang="en-US" sz="3200" spc="0" dirty="0">
                <a:solidFill>
                  <a:schemeClr val="tx1"/>
                </a:solidFill>
                <a:effectLst/>
              </a:rPr>
              <a:t>More Complex Issues about Classes: </a:t>
            </a:r>
            <a:r>
              <a:rPr lang="en-US" altLang="en-US" sz="2800" spc="0" dirty="0">
                <a:solidFill>
                  <a:schemeClr val="tx1"/>
                </a:solidFill>
                <a:effectLst/>
              </a:rPr>
              <a:t>Whole Part Relationships</a:t>
            </a:r>
          </a:p>
        </p:txBody>
      </p:sp>
      <p:sp>
        <p:nvSpPr>
          <p:cNvPr id="2" name="Content Placeholder 1"/>
          <p:cNvSpPr>
            <a:spLocks noGrp="1"/>
          </p:cNvSpPr>
          <p:nvPr>
            <p:ph idx="1"/>
          </p:nvPr>
        </p:nvSpPr>
        <p:spPr>
          <a:xfrm>
            <a:off x="372454" y="1253384"/>
            <a:ext cx="8382000" cy="4481227"/>
          </a:xfrm>
        </p:spPr>
        <p:txBody>
          <a:bodyPr/>
          <a:lstStyle/>
          <a:p>
            <a:r>
              <a:rPr lang="en-GB" altLang="en-US" sz="2400" dirty="0"/>
              <a:t>Whole-part relationship— a relationship between classes where one class is part of or a component portion of another class</a:t>
            </a:r>
            <a:endParaRPr lang="en-GB" altLang="en-US" sz="2800" dirty="0"/>
          </a:p>
          <a:p>
            <a:r>
              <a:rPr lang="en-GB" altLang="en-US" sz="2400" dirty="0"/>
              <a:t>Aggregation— a whole part relationship where the component part exists separately and can be removed and replaced (U</a:t>
            </a:r>
            <a:r>
              <a:rPr lang="en-GB" altLang="en-US" sz="100" dirty="0"/>
              <a:t> </a:t>
            </a:r>
            <a:r>
              <a:rPr lang="en-GB" altLang="en-US" sz="2400" dirty="0"/>
              <a:t>M</a:t>
            </a:r>
            <a:r>
              <a:rPr lang="en-GB" altLang="en-US" sz="100" dirty="0"/>
              <a:t> </a:t>
            </a:r>
            <a:r>
              <a:rPr lang="en-GB" altLang="en-US" sz="2400" dirty="0"/>
              <a:t>L diamond symbol on next slide)</a:t>
            </a:r>
          </a:p>
          <a:p>
            <a:pPr lvl="1">
              <a:spcBef>
                <a:spcPts val="1000"/>
              </a:spcBef>
            </a:pPr>
            <a:r>
              <a:rPr lang="en-GB" altLang="en-US" sz="2000" dirty="0"/>
              <a:t>Computer has disk storage devices (storage devices exist apart from computer)</a:t>
            </a:r>
          </a:p>
          <a:p>
            <a:pPr lvl="1">
              <a:spcBef>
                <a:spcPts val="1000"/>
              </a:spcBef>
            </a:pPr>
            <a:r>
              <a:rPr lang="en-GB" altLang="en-US" sz="2000" dirty="0"/>
              <a:t>Car has wheels (wheels can be removed and still be wheels)</a:t>
            </a:r>
          </a:p>
          <a:p>
            <a:r>
              <a:rPr lang="en-GB" altLang="en-US" sz="2400" dirty="0"/>
              <a:t>Composition— a whole part relationship where the parts cannot be removed (filled in diamond symbol)</a:t>
            </a:r>
          </a:p>
          <a:p>
            <a:pPr lvl="1">
              <a:spcBef>
                <a:spcPts val="1000"/>
              </a:spcBef>
            </a:pPr>
            <a:r>
              <a:rPr lang="en-GB" altLang="en-US" sz="2000" dirty="0"/>
              <a:t>OrderItem on an Order (without the Order, there are no OrderIterms)</a:t>
            </a:r>
          </a:p>
          <a:p>
            <a:pPr lvl="1">
              <a:spcBef>
                <a:spcPts val="1000"/>
              </a:spcBef>
            </a:pPr>
            <a:r>
              <a:rPr lang="en-GB" altLang="en-US" sz="2000" dirty="0"/>
              <a:t>Chip has circuits (without the chip, there are no circuits)</a:t>
            </a:r>
          </a:p>
        </p:txBody>
      </p:sp>
      <p:sp>
        <p:nvSpPr>
          <p:cNvPr id="5" name="Slide Number Placeholder 5"/>
          <p:cNvSpPr>
            <a:spLocks noGrp="1"/>
          </p:cNvSpPr>
          <p:nvPr>
            <p:ph type="sldNum" sz="quarter" idx="4"/>
          </p:nvPr>
        </p:nvSpPr>
        <p:spPr>
          <a:prstGeom prst="rect">
            <a:avLst/>
          </a:prstGeom>
        </p:spPr>
        <p:txBody>
          <a:bodyPr/>
          <a:lstStyle/>
          <a:p>
            <a:fld id="{A812E272-91DF-417A-A46B-54880740457B}" type="slidenum">
              <a:rPr lang="en-US" altLang="en-US"/>
              <a:pPr/>
              <a:t>36</a:t>
            </a:fld>
            <a:endParaRPr lang="en-US" altLang="en-US"/>
          </a:p>
        </p:txBody>
      </p:sp>
      <p:sp>
        <p:nvSpPr>
          <p:cNvPr id="4" name="Footer Placeholder 4"/>
          <p:cNvSpPr>
            <a:spLocks noGrp="1"/>
          </p:cNvSpPr>
          <p:nvPr>
            <p:ph type="ftr" sz="quarter" idx="3"/>
          </p:nvPr>
        </p:nvSpPr>
        <p:spPr>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a:xfrm>
            <a:off x="381000" y="230188"/>
            <a:ext cx="8382000" cy="443198"/>
          </a:xfrm>
        </p:spPr>
        <p:txBody>
          <a:bodyPr/>
          <a:lstStyle/>
          <a:p>
            <a:r>
              <a:rPr lang="en-US" altLang="en-US" sz="3200" spc="0" dirty="0">
                <a:solidFill>
                  <a:schemeClr val="tx1"/>
                </a:solidFill>
                <a:effectLst/>
              </a:rPr>
              <a:t>Whole Part Relationships</a:t>
            </a:r>
            <a:r>
              <a:rPr lang="en-US" altLang="en-US" sz="2800" spc="0" dirty="0">
                <a:solidFill>
                  <a:schemeClr val="tx1"/>
                </a:solidFill>
                <a:effectLst/>
              </a:rPr>
              <a:t>: Computer and its Parts</a:t>
            </a:r>
            <a:endParaRPr lang="en-US" altLang="en-US" sz="2000" spc="0" dirty="0">
              <a:solidFill>
                <a:schemeClr val="tx1"/>
              </a:solidFill>
              <a:effectLst/>
            </a:endParaRPr>
          </a:p>
        </p:txBody>
      </p:sp>
      <p:sp>
        <p:nvSpPr>
          <p:cNvPr id="2" name="Content Placeholder 1"/>
          <p:cNvSpPr>
            <a:spLocks noGrp="1"/>
          </p:cNvSpPr>
          <p:nvPr>
            <p:ph sz="quarter" idx="11"/>
          </p:nvPr>
        </p:nvSpPr>
        <p:spPr>
          <a:xfrm>
            <a:off x="363908" y="1268505"/>
            <a:ext cx="3124200" cy="1956433"/>
          </a:xfrm>
        </p:spPr>
        <p:txBody>
          <a:bodyPr/>
          <a:lstStyle/>
          <a:p>
            <a:r>
              <a:rPr lang="en-GB" altLang="en-US" sz="2200" dirty="0"/>
              <a:t>Note: this is composition, with diamond symbol. </a:t>
            </a:r>
          </a:p>
          <a:p>
            <a:r>
              <a:rPr lang="en-GB" altLang="en-US" sz="2200" dirty="0"/>
              <a:t>Whole part can have multiplicity symbols, too (not shown)\</a:t>
            </a:r>
          </a:p>
        </p:txBody>
      </p:sp>
      <p:pic>
        <p:nvPicPr>
          <p:cNvPr id="12" name="Content Placeholder 11" descr="A diagram gives an example of Whole Part Relationships with Computer and its Parts. A box with class name computer is linked to the following boxes with the given class names: processor, main memory, input device, storage, and monitor. Each of the linking lines has 1 dot dot 1 at the start and 1 dot dot star at the end. A label reads processor, main memory, input device, storage, and monitor are parts of a computer."/>
          <p:cNvPicPr>
            <a:picLocks noGrp="1" noChangeAspect="1"/>
          </p:cNvPicPr>
          <p:nvPr>
            <p:ph sz="quarter" idx="12"/>
          </p:nvPr>
        </p:nvPicPr>
        <p:blipFill>
          <a:blip r:embed="rId2"/>
          <a:stretch>
            <a:fillRect/>
          </a:stretch>
        </p:blipFill>
        <p:spPr>
          <a:xfrm>
            <a:off x="3733800" y="1268505"/>
            <a:ext cx="5247746" cy="4037175"/>
          </a:xfrm>
          <a:prstGeom prst="rect">
            <a:avLst/>
          </a:prstGeom>
        </p:spPr>
      </p:pic>
      <p:sp>
        <p:nvSpPr>
          <p:cNvPr id="7" name="Slide Number Placeholder 5"/>
          <p:cNvSpPr>
            <a:spLocks noGrp="1"/>
          </p:cNvSpPr>
          <p:nvPr>
            <p:ph type="sldNum" sz="quarter" idx="4"/>
          </p:nvPr>
        </p:nvSpPr>
        <p:spPr>
          <a:prstGeom prst="rect">
            <a:avLst/>
          </a:prstGeom>
        </p:spPr>
        <p:txBody>
          <a:bodyPr/>
          <a:lstStyle/>
          <a:p>
            <a:fld id="{234BCE85-C2C7-4172-A778-2B5DC2334EF2}" type="slidenum">
              <a:rPr lang="en-US" altLang="en-US"/>
              <a:pPr/>
              <a:t>37</a:t>
            </a:fld>
            <a:endParaRPr lang="en-US" altLang="en-US"/>
          </a:p>
        </p:txBody>
      </p:sp>
      <p:sp>
        <p:nvSpPr>
          <p:cNvPr id="6" name="Footer Placeholder 4"/>
          <p:cNvSpPr>
            <a:spLocks noGrp="1"/>
          </p:cNvSpPr>
          <p:nvPr>
            <p:ph type="ftr" sz="quarter" idx="3"/>
          </p:nvPr>
        </p:nvSpPr>
        <p:spPr>
          <a:xfrm>
            <a:off x="0" y="6244046"/>
            <a:ext cx="76200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a:xfrm>
            <a:off x="381000" y="230188"/>
            <a:ext cx="8382000" cy="498598"/>
          </a:xfrm>
        </p:spPr>
        <p:txBody>
          <a:bodyPr/>
          <a:lstStyle/>
          <a:p>
            <a:r>
              <a:rPr lang="en-GB" altLang="en-US" sz="3600" spc="0" dirty="0">
                <a:solidFill>
                  <a:schemeClr val="tx1"/>
                </a:solidFill>
                <a:effectLst/>
              </a:rPr>
              <a:t>More on U</a:t>
            </a:r>
            <a:r>
              <a:rPr lang="en-GB" altLang="en-US" sz="100" spc="0" dirty="0">
                <a:solidFill>
                  <a:schemeClr val="tx1"/>
                </a:solidFill>
                <a:effectLst/>
              </a:rPr>
              <a:t> </a:t>
            </a:r>
            <a:r>
              <a:rPr lang="en-GB" altLang="en-US" sz="3600" spc="0" dirty="0">
                <a:solidFill>
                  <a:schemeClr val="tx1"/>
                </a:solidFill>
                <a:effectLst/>
              </a:rPr>
              <a:t>M</a:t>
            </a:r>
            <a:r>
              <a:rPr lang="en-GB" altLang="en-US" sz="100" spc="0" dirty="0">
                <a:solidFill>
                  <a:schemeClr val="tx1"/>
                </a:solidFill>
                <a:effectLst/>
              </a:rPr>
              <a:t> </a:t>
            </a:r>
            <a:r>
              <a:rPr lang="en-GB" altLang="en-US" sz="3600" spc="0" dirty="0">
                <a:solidFill>
                  <a:schemeClr val="tx1"/>
                </a:solidFill>
                <a:effectLst/>
              </a:rPr>
              <a:t>L Relationships</a:t>
            </a:r>
            <a:endParaRPr lang="en-US" altLang="en-US" sz="3600" spc="0" dirty="0">
              <a:solidFill>
                <a:schemeClr val="tx1"/>
              </a:solidFill>
              <a:effectLst/>
            </a:endParaRPr>
          </a:p>
        </p:txBody>
      </p:sp>
      <p:sp>
        <p:nvSpPr>
          <p:cNvPr id="2" name="Content Placeholder 1"/>
          <p:cNvSpPr>
            <a:spLocks noGrp="1"/>
          </p:cNvSpPr>
          <p:nvPr>
            <p:ph idx="1"/>
          </p:nvPr>
        </p:nvSpPr>
        <p:spPr>
          <a:xfrm>
            <a:off x="355362" y="1246141"/>
            <a:ext cx="8610600" cy="4720267"/>
          </a:xfrm>
        </p:spPr>
        <p:txBody>
          <a:bodyPr/>
          <a:lstStyle/>
          <a:p>
            <a:pPr marL="352800" indent="-352800"/>
            <a:r>
              <a:rPr lang="en-GB" altLang="en-US" dirty="0"/>
              <a:t>There are actually three types of </a:t>
            </a:r>
            <a:r>
              <a:rPr lang="en-GB" altLang="en-US" b="1" i="1" dirty="0"/>
              <a:t>relationships</a:t>
            </a:r>
            <a:r>
              <a:rPr lang="en-GB" altLang="en-US" dirty="0"/>
              <a:t> in class diagrams</a:t>
            </a:r>
          </a:p>
          <a:p>
            <a:pPr lvl="1">
              <a:spcBef>
                <a:spcPts val="1000"/>
              </a:spcBef>
            </a:pPr>
            <a:r>
              <a:rPr lang="en-GB" altLang="en-US" dirty="0"/>
              <a:t>Association Relationships</a:t>
            </a:r>
          </a:p>
          <a:p>
            <a:pPr lvl="2">
              <a:spcBef>
                <a:spcPts val="1000"/>
              </a:spcBef>
            </a:pPr>
            <a:r>
              <a:rPr lang="en-GB" altLang="en-US" dirty="0"/>
              <a:t>These are associations discussed previously, just like ERD relationships</a:t>
            </a:r>
          </a:p>
          <a:p>
            <a:pPr lvl="1">
              <a:spcBef>
                <a:spcPts val="1000"/>
              </a:spcBef>
            </a:pPr>
            <a:r>
              <a:rPr lang="en-GB" altLang="en-US" dirty="0"/>
              <a:t>Whole Part Relationships</a:t>
            </a:r>
          </a:p>
          <a:p>
            <a:pPr lvl="2">
              <a:spcBef>
                <a:spcPts val="1000"/>
              </a:spcBef>
            </a:pPr>
            <a:r>
              <a:rPr lang="en-GB" altLang="en-US" dirty="0"/>
              <a:t>One class is a component or part of another class</a:t>
            </a:r>
          </a:p>
          <a:p>
            <a:pPr lvl="1">
              <a:spcBef>
                <a:spcPts val="1000"/>
              </a:spcBef>
            </a:pPr>
            <a:r>
              <a:rPr lang="en-GB" altLang="en-US" dirty="0"/>
              <a:t>Generalizations/Specialization Relationships</a:t>
            </a:r>
          </a:p>
          <a:p>
            <a:pPr lvl="2">
              <a:spcBef>
                <a:spcPts val="1000"/>
              </a:spcBef>
            </a:pPr>
            <a:r>
              <a:rPr lang="en-GB" altLang="en-US" dirty="0"/>
              <a:t>Inheritance</a:t>
            </a:r>
          </a:p>
          <a:p>
            <a:pPr marL="352800" indent="-352800"/>
            <a:r>
              <a:rPr lang="en-GB" altLang="en-US" dirty="0"/>
              <a:t>Try not to confuse relationship with association</a:t>
            </a:r>
          </a:p>
        </p:txBody>
      </p:sp>
      <p:sp>
        <p:nvSpPr>
          <p:cNvPr id="5" name="Slide Number Placeholder 5"/>
          <p:cNvSpPr>
            <a:spLocks noGrp="1"/>
          </p:cNvSpPr>
          <p:nvPr>
            <p:ph type="sldNum" sz="quarter" idx="4"/>
          </p:nvPr>
        </p:nvSpPr>
        <p:spPr>
          <a:prstGeom prst="rect">
            <a:avLst/>
          </a:prstGeom>
        </p:spPr>
        <p:txBody>
          <a:bodyPr/>
          <a:lstStyle/>
          <a:p>
            <a:fld id="{3C747777-97A4-4E71-BE7F-652B2A6473D3}" type="slidenum">
              <a:rPr lang="en-US" altLang="en-US"/>
              <a:pPr/>
              <a:t>38</a:t>
            </a:fld>
            <a:endParaRPr lang="en-US" altLang="en-US"/>
          </a:p>
        </p:txBody>
      </p:sp>
      <p:sp>
        <p:nvSpPr>
          <p:cNvPr id="4" name="Footer Placeholder 4"/>
          <p:cNvSpPr>
            <a:spLocks noGrp="1"/>
          </p:cNvSpPr>
          <p:nvPr>
            <p:ph type="ftr" sz="quarter" idx="3"/>
          </p:nvPr>
        </p:nvSpPr>
        <p:spPr>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381000" y="230189"/>
            <a:ext cx="8610600" cy="443198"/>
          </a:xfrm>
        </p:spPr>
        <p:txBody>
          <a:bodyPr/>
          <a:lstStyle/>
          <a:p>
            <a:r>
              <a:rPr lang="en-GB" altLang="en-US" sz="3200" spc="0" dirty="0">
                <a:solidFill>
                  <a:schemeClr val="tx1"/>
                </a:solidFill>
                <a:effectLst/>
              </a:rPr>
              <a:t>R</a:t>
            </a:r>
            <a:r>
              <a:rPr lang="en-GB" altLang="en-US" sz="100" spc="0" dirty="0">
                <a:solidFill>
                  <a:schemeClr val="tx1"/>
                </a:solidFill>
                <a:effectLst/>
              </a:rPr>
              <a:t> </a:t>
            </a:r>
            <a:r>
              <a:rPr lang="en-GB" altLang="en-US" sz="3200" spc="0" dirty="0">
                <a:solidFill>
                  <a:schemeClr val="tx1"/>
                </a:solidFill>
                <a:effectLst/>
              </a:rPr>
              <a:t>M</a:t>
            </a:r>
            <a:r>
              <a:rPr lang="en-GB" altLang="en-US" sz="100" spc="0" dirty="0">
                <a:solidFill>
                  <a:schemeClr val="tx1"/>
                </a:solidFill>
                <a:effectLst/>
              </a:rPr>
              <a:t> </a:t>
            </a:r>
            <a:r>
              <a:rPr lang="en-GB" altLang="en-US" sz="3200" spc="0" dirty="0">
                <a:solidFill>
                  <a:schemeClr val="tx1"/>
                </a:solidFill>
                <a:effectLst/>
              </a:rPr>
              <a:t>O C</a:t>
            </a:r>
            <a:r>
              <a:rPr lang="en-GB" altLang="en-US" sz="100" spc="0" dirty="0">
                <a:solidFill>
                  <a:schemeClr val="tx1"/>
                </a:solidFill>
                <a:effectLst/>
              </a:rPr>
              <a:t> </a:t>
            </a:r>
            <a:r>
              <a:rPr lang="en-GB" altLang="en-US" sz="3200" spc="0" dirty="0">
                <a:solidFill>
                  <a:schemeClr val="tx1"/>
                </a:solidFill>
                <a:effectLst/>
              </a:rPr>
              <a:t>S</a:t>
            </a:r>
            <a:r>
              <a:rPr lang="en-GB" altLang="en-US" sz="100" spc="0" dirty="0">
                <a:solidFill>
                  <a:schemeClr val="tx1"/>
                </a:solidFill>
                <a:effectLst/>
              </a:rPr>
              <a:t> </a:t>
            </a:r>
            <a:r>
              <a:rPr lang="en-GB" altLang="en-US" sz="3200" spc="0" dirty="0">
                <a:solidFill>
                  <a:schemeClr val="tx1"/>
                </a:solidFill>
                <a:effectLst/>
              </a:rPr>
              <a:t>M</a:t>
            </a:r>
            <a:r>
              <a:rPr lang="en-GB" altLang="en-US" sz="100" spc="0" dirty="0">
                <a:solidFill>
                  <a:schemeClr val="tx1"/>
                </a:solidFill>
                <a:effectLst/>
              </a:rPr>
              <a:t> </a:t>
            </a:r>
            <a:r>
              <a:rPr lang="en-GB" altLang="en-US" sz="3200" spc="0" dirty="0">
                <a:solidFill>
                  <a:schemeClr val="tx1"/>
                </a:solidFill>
                <a:effectLst/>
              </a:rPr>
              <a:t>S Project: </a:t>
            </a:r>
            <a:r>
              <a:rPr lang="en-GB" altLang="en-US" sz="2800" spc="0" dirty="0">
                <a:solidFill>
                  <a:schemeClr val="tx1"/>
                </a:solidFill>
                <a:effectLst/>
              </a:rPr>
              <a:t>Domain Model Class Diagrams</a:t>
            </a:r>
            <a:endParaRPr lang="en-US" altLang="en-US" sz="2000" spc="0" dirty="0">
              <a:solidFill>
                <a:schemeClr val="tx1"/>
              </a:solidFill>
              <a:effectLst/>
            </a:endParaRPr>
          </a:p>
        </p:txBody>
      </p:sp>
      <p:sp>
        <p:nvSpPr>
          <p:cNvPr id="2" name="Content Placeholder 1"/>
          <p:cNvSpPr>
            <a:spLocks noGrp="1"/>
          </p:cNvSpPr>
          <p:nvPr>
            <p:ph idx="1"/>
          </p:nvPr>
        </p:nvSpPr>
        <p:spPr>
          <a:xfrm>
            <a:off x="363908" y="1244838"/>
            <a:ext cx="8382000" cy="4390946"/>
          </a:xfrm>
        </p:spPr>
        <p:txBody>
          <a:bodyPr/>
          <a:lstStyle/>
          <a:p>
            <a:pPr marL="352800" indent="-352800"/>
            <a:r>
              <a:rPr lang="en-GB" altLang="en-US" sz="2800" dirty="0"/>
              <a:t>There are several ways to create the domain model class diagram for a project</a:t>
            </a:r>
          </a:p>
          <a:p>
            <a:pPr marL="352800" indent="-352800"/>
            <a:r>
              <a:rPr lang="en-GB" altLang="en-US" sz="2800" dirty="0"/>
              <a:t>R</a:t>
            </a:r>
            <a:r>
              <a:rPr lang="en-GB" altLang="en-US" sz="100" dirty="0"/>
              <a:t> </a:t>
            </a:r>
            <a:r>
              <a:rPr lang="en-GB" altLang="en-US" sz="2800" dirty="0"/>
              <a:t>M</a:t>
            </a:r>
            <a:r>
              <a:rPr lang="en-GB" altLang="en-US" sz="100" dirty="0"/>
              <a:t> </a:t>
            </a:r>
            <a:r>
              <a:rPr lang="en-GB" altLang="en-US" sz="2800" dirty="0"/>
              <a:t>O C</a:t>
            </a:r>
            <a:r>
              <a:rPr lang="en-GB" altLang="en-US" sz="100" dirty="0"/>
              <a:t> </a:t>
            </a:r>
            <a:r>
              <a:rPr lang="en-GB" altLang="en-US" sz="2800" dirty="0"/>
              <a:t>S</a:t>
            </a:r>
            <a:r>
              <a:rPr lang="en-GB" altLang="en-US" sz="100" dirty="0"/>
              <a:t> </a:t>
            </a:r>
            <a:r>
              <a:rPr lang="en-GB" altLang="en-US" sz="2800" dirty="0"/>
              <a:t>M</a:t>
            </a:r>
            <a:r>
              <a:rPr lang="en-GB" altLang="en-US" sz="100" dirty="0"/>
              <a:t> </a:t>
            </a:r>
            <a:r>
              <a:rPr lang="en-GB" altLang="en-US" sz="2800" dirty="0"/>
              <a:t>S has 27 domain classes overall</a:t>
            </a:r>
          </a:p>
          <a:p>
            <a:pPr marL="352800" indent="-352800"/>
            <a:r>
              <a:rPr lang="en-GB" altLang="en-US" sz="2800" dirty="0"/>
              <a:t>Can create one domain model class diagram per subsystem for those working on a subsystem</a:t>
            </a:r>
          </a:p>
          <a:p>
            <a:pPr marL="352800" indent="-352800"/>
            <a:r>
              <a:rPr lang="en-GB" altLang="en-US" sz="2800" dirty="0"/>
              <a:t>Can create one overall domain model class diagram to provide an overview of the whole system</a:t>
            </a:r>
          </a:p>
          <a:p>
            <a:pPr marL="352800" indent="-352800"/>
            <a:r>
              <a:rPr lang="en-GB" altLang="en-US" sz="2800" dirty="0"/>
              <a:t>Usually in early iterations, an initial draft of the domain model class diagram is completed and kept up to date. It is used to guide development.</a:t>
            </a:r>
          </a:p>
        </p:txBody>
      </p:sp>
      <p:sp>
        <p:nvSpPr>
          <p:cNvPr id="5" name="Slide Number Placeholder 5"/>
          <p:cNvSpPr>
            <a:spLocks noGrp="1"/>
          </p:cNvSpPr>
          <p:nvPr>
            <p:ph type="sldNum" sz="quarter" idx="4"/>
          </p:nvPr>
        </p:nvSpPr>
        <p:spPr>
          <a:prstGeom prst="rect">
            <a:avLst/>
          </a:prstGeom>
        </p:spPr>
        <p:txBody>
          <a:bodyPr/>
          <a:lstStyle/>
          <a:p>
            <a:fld id="{637110E5-336D-49B9-87F4-75A8452BA389}" type="slidenum">
              <a:rPr lang="en-US" altLang="en-US"/>
              <a:pPr/>
              <a:t>39</a:t>
            </a:fld>
            <a:endParaRPr lang="en-US" altLang="en-US"/>
          </a:p>
        </p:txBody>
      </p:sp>
      <p:sp>
        <p:nvSpPr>
          <p:cNvPr id="4" name="Footer Placeholder 4"/>
          <p:cNvSpPr>
            <a:spLocks noGrp="1"/>
          </p:cNvSpPr>
          <p:nvPr>
            <p:ph type="ftr" sz="quarter" idx="3"/>
          </p:nvPr>
        </p:nvSpPr>
        <p:spPr>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381000" y="230189"/>
            <a:ext cx="3200400" cy="1751011"/>
          </a:xfrm>
        </p:spPr>
        <p:txBody>
          <a:bodyPr/>
          <a:lstStyle/>
          <a:p>
            <a:r>
              <a:rPr lang="en-GB" altLang="en-US" sz="3200" spc="0" dirty="0">
                <a:solidFill>
                  <a:schemeClr val="tx1"/>
                </a:solidFill>
                <a:effectLst/>
                <a:latin typeface="+mn-lt"/>
              </a:rPr>
              <a:t>R</a:t>
            </a:r>
            <a:r>
              <a:rPr lang="en-GB" altLang="en-US" sz="100" spc="0" dirty="0">
                <a:solidFill>
                  <a:schemeClr val="tx1"/>
                </a:solidFill>
                <a:effectLst/>
                <a:latin typeface="+mn-lt"/>
              </a:rPr>
              <a:t> </a:t>
            </a:r>
            <a:r>
              <a:rPr lang="en-GB" altLang="en-US" sz="3200" spc="0" dirty="0">
                <a:solidFill>
                  <a:schemeClr val="tx1"/>
                </a:solidFill>
                <a:effectLst/>
                <a:latin typeface="+mn-lt"/>
              </a:rPr>
              <a:t>M</a:t>
            </a:r>
            <a:r>
              <a:rPr lang="en-GB" altLang="en-US" sz="100" spc="0" dirty="0">
                <a:solidFill>
                  <a:schemeClr val="tx1"/>
                </a:solidFill>
                <a:effectLst/>
                <a:latin typeface="+mn-lt"/>
              </a:rPr>
              <a:t> </a:t>
            </a:r>
            <a:r>
              <a:rPr lang="en-GB" altLang="en-US" sz="3200" spc="0" dirty="0">
                <a:solidFill>
                  <a:schemeClr val="tx1"/>
                </a:solidFill>
                <a:effectLst/>
                <a:latin typeface="+mn-lt"/>
              </a:rPr>
              <a:t>O C</a:t>
            </a:r>
            <a:r>
              <a:rPr lang="en-GB" altLang="en-US" sz="100" spc="0" dirty="0">
                <a:solidFill>
                  <a:schemeClr val="tx1"/>
                </a:solidFill>
                <a:effectLst/>
                <a:latin typeface="+mn-lt"/>
              </a:rPr>
              <a:t> </a:t>
            </a:r>
            <a:r>
              <a:rPr lang="en-GB" altLang="en-US" sz="3200" spc="0" dirty="0">
                <a:solidFill>
                  <a:schemeClr val="tx1"/>
                </a:solidFill>
                <a:effectLst/>
                <a:latin typeface="+mn-lt"/>
              </a:rPr>
              <a:t>S</a:t>
            </a:r>
            <a:r>
              <a:rPr lang="en-GB" altLang="en-US" sz="100" spc="0" dirty="0">
                <a:solidFill>
                  <a:schemeClr val="tx1"/>
                </a:solidFill>
                <a:effectLst/>
                <a:latin typeface="+mn-lt"/>
              </a:rPr>
              <a:t> </a:t>
            </a:r>
            <a:r>
              <a:rPr lang="en-GB" altLang="en-US" sz="3200" spc="0" dirty="0">
                <a:solidFill>
                  <a:schemeClr val="tx1"/>
                </a:solidFill>
                <a:effectLst/>
                <a:latin typeface="+mn-lt"/>
              </a:rPr>
              <a:t>M</a:t>
            </a:r>
            <a:r>
              <a:rPr lang="en-GB" altLang="en-US" sz="100" spc="0" dirty="0">
                <a:solidFill>
                  <a:schemeClr val="tx1"/>
                </a:solidFill>
                <a:effectLst/>
                <a:latin typeface="+mn-lt"/>
              </a:rPr>
              <a:t> </a:t>
            </a:r>
            <a:r>
              <a:rPr lang="en-GB" altLang="en-US" sz="3200" spc="0" dirty="0">
                <a:solidFill>
                  <a:schemeClr val="tx1"/>
                </a:solidFill>
                <a:effectLst/>
                <a:latin typeface="+mn-lt"/>
              </a:rPr>
              <a:t>S Project: </a:t>
            </a:r>
            <a:r>
              <a:rPr lang="en-GB" altLang="en-US" sz="2800" dirty="0">
                <a:effectLst/>
                <a:latin typeface="+mn-lt"/>
              </a:rPr>
              <a:t>Sales Subsystem Domain Model Class Diagrams</a:t>
            </a:r>
            <a:endParaRPr lang="en-US" altLang="en-US" sz="2000" spc="0" dirty="0">
              <a:solidFill>
                <a:schemeClr val="tx1"/>
              </a:solidFill>
              <a:effectLst/>
              <a:latin typeface="+mn-lt"/>
            </a:endParaRPr>
          </a:p>
        </p:txBody>
      </p:sp>
      <p:pic>
        <p:nvPicPr>
          <p:cNvPr id="7" name="Content Placeholder 6" descr="R M O C S M S Project is shown with a Sales Subsystem Domain Model Class Diagram. The following connections are made with their class names, each class name has a series of attributes. Promotion is connected to product item. An association promo offering is also connected. Accessory package is connected to product item. Product comment is also connected to product item. Inventory item is connected to product item. Inventory item is connected to sale item, which is connected to sale. Sale is connected to sale trans. Inventory item is connected to cart item, which is connected to online cart, which is connected to customer. Product comment is also connected to customer. Sale has the following specializations: instore sale, online sale and telephone sale. Online cart has the following specializations: active cart and on reserve cart."/>
          <p:cNvPicPr>
            <a:picLocks noGrp="1" noChangeAspect="1"/>
          </p:cNvPicPr>
          <p:nvPr>
            <p:ph idx="1"/>
          </p:nvPr>
        </p:nvPicPr>
        <p:blipFill>
          <a:blip r:embed="rId2"/>
          <a:stretch>
            <a:fillRect/>
          </a:stretch>
        </p:blipFill>
        <p:spPr>
          <a:xfrm>
            <a:off x="4328481" y="211651"/>
            <a:ext cx="4708953" cy="5503349"/>
          </a:xfrm>
          <a:prstGeom prst="rect">
            <a:avLst/>
          </a:prstGeom>
        </p:spPr>
      </p:pic>
      <p:sp>
        <p:nvSpPr>
          <p:cNvPr id="5" name="Slide Number Placeholder 5"/>
          <p:cNvSpPr>
            <a:spLocks noGrp="1"/>
          </p:cNvSpPr>
          <p:nvPr>
            <p:ph type="sldNum" sz="quarter" idx="4"/>
          </p:nvPr>
        </p:nvSpPr>
        <p:spPr>
          <a:prstGeom prst="rect">
            <a:avLst/>
          </a:prstGeom>
        </p:spPr>
        <p:txBody>
          <a:bodyPr/>
          <a:lstStyle/>
          <a:p>
            <a:fld id="{136A0BD1-D1C0-4438-A8D5-42D1BC70C958}" type="slidenum">
              <a:rPr lang="en-US" altLang="en-US"/>
              <a:pPr/>
              <a:t>40</a:t>
            </a:fld>
            <a:endParaRPr lang="en-US" altLang="en-US"/>
          </a:p>
        </p:txBody>
      </p:sp>
      <p:sp>
        <p:nvSpPr>
          <p:cNvPr id="4" name="Footer Placeholder 4"/>
          <p:cNvSpPr>
            <a:spLocks noGrp="1"/>
          </p:cNvSpPr>
          <p:nvPr>
            <p:ph type="ftr" sz="quarter" idx="3"/>
          </p:nvPr>
        </p:nvSpPr>
        <p:spPr>
          <a:xfrm>
            <a:off x="0" y="6244046"/>
            <a:ext cx="7620000" cy="298797"/>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a:xfrm>
            <a:off x="381000" y="230188"/>
            <a:ext cx="2819400" cy="1674812"/>
          </a:xfrm>
        </p:spPr>
        <p:txBody>
          <a:bodyPr/>
          <a:lstStyle/>
          <a:p>
            <a:r>
              <a:rPr lang="en-GB" altLang="en-US" sz="2800" spc="0" dirty="0">
                <a:solidFill>
                  <a:schemeClr val="tx1"/>
                </a:solidFill>
                <a:effectLst/>
              </a:rPr>
              <a:t>R</a:t>
            </a:r>
            <a:r>
              <a:rPr lang="en-GB" altLang="en-US" sz="100" spc="0" dirty="0">
                <a:solidFill>
                  <a:schemeClr val="tx1"/>
                </a:solidFill>
                <a:effectLst/>
              </a:rPr>
              <a:t> </a:t>
            </a:r>
            <a:r>
              <a:rPr lang="en-GB" altLang="en-US" sz="2800" spc="0" dirty="0">
                <a:solidFill>
                  <a:schemeClr val="tx1"/>
                </a:solidFill>
                <a:effectLst/>
              </a:rPr>
              <a:t>M</a:t>
            </a:r>
            <a:r>
              <a:rPr lang="en-GB" altLang="en-US" sz="100" spc="0" dirty="0">
                <a:solidFill>
                  <a:schemeClr val="tx1"/>
                </a:solidFill>
                <a:effectLst/>
              </a:rPr>
              <a:t> </a:t>
            </a:r>
            <a:r>
              <a:rPr lang="en-GB" altLang="en-US" sz="2800" spc="0" dirty="0">
                <a:solidFill>
                  <a:schemeClr val="tx1"/>
                </a:solidFill>
                <a:effectLst/>
              </a:rPr>
              <a:t>O C</a:t>
            </a:r>
            <a:r>
              <a:rPr lang="en-GB" altLang="en-US" sz="100" spc="0" dirty="0">
                <a:solidFill>
                  <a:schemeClr val="tx1"/>
                </a:solidFill>
                <a:effectLst/>
              </a:rPr>
              <a:t> </a:t>
            </a:r>
            <a:r>
              <a:rPr lang="en-GB" altLang="en-US" sz="2800" spc="0" dirty="0">
                <a:solidFill>
                  <a:schemeClr val="tx1"/>
                </a:solidFill>
                <a:effectLst/>
              </a:rPr>
              <a:t>S</a:t>
            </a:r>
            <a:r>
              <a:rPr lang="en-GB" altLang="en-US" sz="100" spc="0" dirty="0">
                <a:solidFill>
                  <a:schemeClr val="tx1"/>
                </a:solidFill>
                <a:effectLst/>
              </a:rPr>
              <a:t> </a:t>
            </a:r>
            <a:r>
              <a:rPr lang="en-GB" altLang="en-US" sz="2800" spc="0" dirty="0">
                <a:solidFill>
                  <a:schemeClr val="tx1"/>
                </a:solidFill>
                <a:effectLst/>
              </a:rPr>
              <a:t>M</a:t>
            </a:r>
            <a:r>
              <a:rPr lang="en-GB" altLang="en-US" sz="100" spc="0" dirty="0">
                <a:solidFill>
                  <a:schemeClr val="tx1"/>
                </a:solidFill>
                <a:effectLst/>
              </a:rPr>
              <a:t> </a:t>
            </a:r>
            <a:r>
              <a:rPr lang="en-GB" altLang="en-US" sz="2800" spc="0" dirty="0">
                <a:solidFill>
                  <a:schemeClr val="tx1"/>
                </a:solidFill>
                <a:effectLst/>
              </a:rPr>
              <a:t>S Project: </a:t>
            </a:r>
            <a:r>
              <a:rPr lang="en-GB" altLang="en-US" sz="2000" spc="0" dirty="0">
                <a:solidFill>
                  <a:schemeClr val="tx1"/>
                </a:solidFill>
                <a:effectLst/>
              </a:rPr>
              <a:t>Customer Account Subsystem Domain Model Class Diagram</a:t>
            </a:r>
            <a:endParaRPr lang="en-US" altLang="en-US" sz="2000" spc="0" dirty="0">
              <a:solidFill>
                <a:schemeClr val="tx1"/>
              </a:solidFill>
              <a:effectLst/>
            </a:endParaRPr>
          </a:p>
        </p:txBody>
      </p:sp>
      <p:pic>
        <p:nvPicPr>
          <p:cNvPr id="9" name="Content Placeholder 8" descr="A model class diagram shows the following. Customer is connected to an association Friend link; promo partner with an association cust partner credit; sale; account; address; and message with a to and from relationship. Sale is connected to sale trans; Account is connected to address. "/>
          <p:cNvPicPr>
            <a:picLocks noGrp="1" noChangeAspect="1"/>
          </p:cNvPicPr>
          <p:nvPr>
            <p:ph sz="quarter" idx="11"/>
          </p:nvPr>
        </p:nvPicPr>
        <p:blipFill>
          <a:blip r:embed="rId2"/>
          <a:stretch>
            <a:fillRect/>
          </a:stretch>
        </p:blipFill>
        <p:spPr>
          <a:xfrm>
            <a:off x="3521676" y="192397"/>
            <a:ext cx="5520703" cy="5450022"/>
          </a:xfrm>
          <a:prstGeom prst="rect">
            <a:avLst/>
          </a:prstGeom>
        </p:spPr>
      </p:pic>
      <p:sp>
        <p:nvSpPr>
          <p:cNvPr id="5" name="Slide Number Placeholder 5"/>
          <p:cNvSpPr>
            <a:spLocks noGrp="1"/>
          </p:cNvSpPr>
          <p:nvPr>
            <p:ph type="sldNum" sz="quarter" idx="4"/>
          </p:nvPr>
        </p:nvSpPr>
        <p:spPr>
          <a:prstGeom prst="rect">
            <a:avLst/>
          </a:prstGeom>
        </p:spPr>
        <p:txBody>
          <a:bodyPr/>
          <a:lstStyle/>
          <a:p>
            <a:fld id="{929464C3-D984-4A9F-B193-994271133DDD}" type="slidenum">
              <a:rPr lang="en-US" altLang="en-US"/>
              <a:pPr/>
              <a:t>41</a:t>
            </a:fld>
            <a:endParaRPr lang="en-US" altLang="en-US"/>
          </a:p>
        </p:txBody>
      </p:sp>
      <p:sp>
        <p:nvSpPr>
          <p:cNvPr id="4" name="Footer Placeholder 4"/>
          <p:cNvSpPr>
            <a:spLocks noGrp="1"/>
          </p:cNvSpPr>
          <p:nvPr>
            <p:ph type="ftr" sz="quarter" idx="3"/>
          </p:nvPr>
        </p:nvSpPr>
        <p:spPr>
          <a:xfrm>
            <a:off x="0" y="6244046"/>
            <a:ext cx="76200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a:xfrm>
            <a:off x="381000" y="230188"/>
            <a:ext cx="3886200" cy="1065212"/>
          </a:xfrm>
        </p:spPr>
        <p:txBody>
          <a:bodyPr/>
          <a:lstStyle/>
          <a:p>
            <a:r>
              <a:rPr lang="en-GB" altLang="en-US" sz="2800" spc="0" dirty="0">
                <a:solidFill>
                  <a:schemeClr val="tx1"/>
                </a:solidFill>
                <a:effectLst/>
              </a:rPr>
              <a:t>R</a:t>
            </a:r>
            <a:r>
              <a:rPr lang="en-GB" altLang="en-US" sz="100" spc="0" dirty="0">
                <a:solidFill>
                  <a:schemeClr val="tx1"/>
                </a:solidFill>
                <a:effectLst/>
              </a:rPr>
              <a:t> </a:t>
            </a:r>
            <a:r>
              <a:rPr lang="en-GB" altLang="en-US" sz="2800" spc="0" dirty="0">
                <a:solidFill>
                  <a:schemeClr val="tx1"/>
                </a:solidFill>
                <a:effectLst/>
              </a:rPr>
              <a:t>M</a:t>
            </a:r>
            <a:r>
              <a:rPr lang="en-GB" altLang="en-US" sz="100" spc="0" dirty="0">
                <a:solidFill>
                  <a:schemeClr val="tx1"/>
                </a:solidFill>
                <a:effectLst/>
              </a:rPr>
              <a:t> </a:t>
            </a:r>
            <a:r>
              <a:rPr lang="en-GB" altLang="en-US" sz="2800" spc="0" dirty="0">
                <a:solidFill>
                  <a:schemeClr val="tx1"/>
                </a:solidFill>
                <a:effectLst/>
              </a:rPr>
              <a:t>O C</a:t>
            </a:r>
            <a:r>
              <a:rPr lang="en-GB" altLang="en-US" sz="100" spc="0" dirty="0">
                <a:solidFill>
                  <a:schemeClr val="tx1"/>
                </a:solidFill>
                <a:effectLst/>
              </a:rPr>
              <a:t> </a:t>
            </a:r>
            <a:r>
              <a:rPr lang="en-GB" altLang="en-US" sz="2800" spc="0" dirty="0">
                <a:solidFill>
                  <a:schemeClr val="tx1"/>
                </a:solidFill>
                <a:effectLst/>
              </a:rPr>
              <a:t>S</a:t>
            </a:r>
            <a:r>
              <a:rPr lang="en-GB" altLang="en-US" sz="100" spc="0" dirty="0">
                <a:solidFill>
                  <a:schemeClr val="tx1"/>
                </a:solidFill>
                <a:effectLst/>
              </a:rPr>
              <a:t> </a:t>
            </a:r>
            <a:r>
              <a:rPr lang="en-GB" altLang="en-US" sz="2800" spc="0" dirty="0">
                <a:solidFill>
                  <a:schemeClr val="tx1"/>
                </a:solidFill>
                <a:effectLst/>
              </a:rPr>
              <a:t>M</a:t>
            </a:r>
            <a:r>
              <a:rPr lang="en-GB" altLang="en-US" sz="100" spc="0" dirty="0">
                <a:solidFill>
                  <a:schemeClr val="tx1"/>
                </a:solidFill>
                <a:effectLst/>
              </a:rPr>
              <a:t> </a:t>
            </a:r>
            <a:r>
              <a:rPr lang="en-GB" altLang="en-US" sz="2800" spc="0" dirty="0">
                <a:solidFill>
                  <a:schemeClr val="tx1"/>
                </a:solidFill>
                <a:effectLst/>
              </a:rPr>
              <a:t>S Project: </a:t>
            </a:r>
            <a:r>
              <a:rPr lang="en-GB" altLang="en-US" sz="2000" spc="0" dirty="0">
                <a:solidFill>
                  <a:schemeClr val="tx1"/>
                </a:solidFill>
                <a:effectLst/>
              </a:rPr>
              <a:t>Complete Domain Model Class Diagram</a:t>
            </a:r>
            <a:endParaRPr lang="en-US" altLang="en-US" sz="2000" spc="0" dirty="0">
              <a:solidFill>
                <a:schemeClr val="tx1"/>
              </a:solidFill>
              <a:effectLst/>
            </a:endParaRPr>
          </a:p>
        </p:txBody>
      </p:sp>
      <p:pic>
        <p:nvPicPr>
          <p:cNvPr id="7" name="Content Placeholder 6" descr="R M O C S M S Project is shown with a Sales Subsystem Domain Model Class Diagram. The following connections are made with their class names, each class name has a series of attributes. Promotion is connected to product item. An association promo offering is also connected. Accessory package is connected to product item. Product comment is also connected to product item. Inventory item is connected to product item. Inventory item is connected to sale item, which is connected to sale. Sale is connected to sale trans. Inventory item is connected to cart item, which is connected to online cart, which is connected to customer. Product comment is also connected to customer. Sale has the following specializations: instore sale, online sale and telephone sale. Online cart has the following specializations: active cart and on reserve cart. Customer is connected to an association Friend link; online cart; suggestion; promo partner with an association cust partner credit; sale; account; address; and message with a to and from relationship. Sale is connected to sale trans; Account is connected to address. "/>
          <p:cNvPicPr>
            <a:picLocks noGrp="1" noChangeAspect="1"/>
          </p:cNvPicPr>
          <p:nvPr>
            <p:ph idx="1"/>
          </p:nvPr>
        </p:nvPicPr>
        <p:blipFill>
          <a:blip r:embed="rId2"/>
          <a:stretch>
            <a:fillRect/>
          </a:stretch>
        </p:blipFill>
        <p:spPr>
          <a:xfrm>
            <a:off x="4839667" y="91867"/>
            <a:ext cx="3742726" cy="5735772"/>
          </a:xfrm>
          <a:prstGeom prst="rect">
            <a:avLst/>
          </a:prstGeom>
        </p:spPr>
      </p:pic>
      <p:sp>
        <p:nvSpPr>
          <p:cNvPr id="5" name="Slide Number Placeholder 5"/>
          <p:cNvSpPr>
            <a:spLocks noGrp="1"/>
          </p:cNvSpPr>
          <p:nvPr>
            <p:ph type="sldNum" sz="quarter" idx="4"/>
          </p:nvPr>
        </p:nvSpPr>
        <p:spPr>
          <a:prstGeom prst="rect">
            <a:avLst/>
          </a:prstGeom>
        </p:spPr>
        <p:txBody>
          <a:bodyPr/>
          <a:lstStyle/>
          <a:p>
            <a:fld id="{1EC66371-C82F-40EF-BCF5-2DD6565C8AAD}" type="slidenum">
              <a:rPr lang="en-US" altLang="en-US"/>
              <a:pPr/>
              <a:t>42</a:t>
            </a:fld>
            <a:endParaRPr lang="en-US" altLang="en-US"/>
          </a:p>
        </p:txBody>
      </p:sp>
      <p:sp>
        <p:nvSpPr>
          <p:cNvPr id="4" name="Footer Placeholder 4"/>
          <p:cNvSpPr>
            <a:spLocks noGrp="1"/>
          </p:cNvSpPr>
          <p:nvPr>
            <p:ph type="ftr" sz="quarter" idx="3"/>
          </p:nvPr>
        </p:nvSpPr>
        <p:spPr>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a:xfrm>
            <a:off x="381000" y="230189"/>
            <a:ext cx="8610600" cy="443198"/>
          </a:xfrm>
        </p:spPr>
        <p:txBody>
          <a:bodyPr/>
          <a:lstStyle/>
          <a:p>
            <a:r>
              <a:rPr lang="en-GB" altLang="en-US" sz="3200" spc="0" dirty="0">
                <a:solidFill>
                  <a:srgbClr val="000000"/>
                </a:solidFill>
                <a:effectLst/>
              </a:rPr>
              <a:t>R</a:t>
            </a:r>
            <a:r>
              <a:rPr lang="en-GB" altLang="en-US" sz="100" spc="0" dirty="0">
                <a:solidFill>
                  <a:srgbClr val="000000"/>
                </a:solidFill>
                <a:effectLst/>
              </a:rPr>
              <a:t> </a:t>
            </a:r>
            <a:r>
              <a:rPr lang="en-GB" altLang="en-US" sz="3200" spc="0" dirty="0">
                <a:solidFill>
                  <a:srgbClr val="000000"/>
                </a:solidFill>
                <a:effectLst/>
              </a:rPr>
              <a:t>M</a:t>
            </a:r>
            <a:r>
              <a:rPr lang="en-GB" altLang="en-US" sz="100" spc="0" dirty="0">
                <a:solidFill>
                  <a:srgbClr val="000000"/>
                </a:solidFill>
                <a:effectLst/>
              </a:rPr>
              <a:t> </a:t>
            </a:r>
            <a:r>
              <a:rPr lang="en-GB" altLang="en-US" sz="3200" spc="0" dirty="0">
                <a:solidFill>
                  <a:srgbClr val="000000"/>
                </a:solidFill>
                <a:effectLst/>
              </a:rPr>
              <a:t>O C</a:t>
            </a:r>
            <a:r>
              <a:rPr lang="en-GB" altLang="en-US" sz="100" spc="0" dirty="0">
                <a:solidFill>
                  <a:srgbClr val="000000"/>
                </a:solidFill>
                <a:effectLst/>
              </a:rPr>
              <a:t> </a:t>
            </a:r>
            <a:r>
              <a:rPr lang="en-GB" altLang="en-US" sz="3200" spc="0" dirty="0">
                <a:solidFill>
                  <a:srgbClr val="000000"/>
                </a:solidFill>
                <a:effectLst/>
              </a:rPr>
              <a:t>S</a:t>
            </a:r>
            <a:r>
              <a:rPr lang="en-GB" altLang="en-US" sz="100" spc="0" dirty="0">
                <a:solidFill>
                  <a:srgbClr val="000000"/>
                </a:solidFill>
                <a:effectLst/>
              </a:rPr>
              <a:t> </a:t>
            </a:r>
            <a:r>
              <a:rPr lang="en-GB" altLang="en-US" sz="3200" spc="0" dirty="0">
                <a:solidFill>
                  <a:srgbClr val="000000"/>
                </a:solidFill>
                <a:effectLst/>
              </a:rPr>
              <a:t>M</a:t>
            </a:r>
            <a:r>
              <a:rPr lang="en-GB" altLang="en-US" sz="100" spc="0" dirty="0">
                <a:solidFill>
                  <a:srgbClr val="000000"/>
                </a:solidFill>
                <a:effectLst/>
              </a:rPr>
              <a:t> </a:t>
            </a:r>
            <a:r>
              <a:rPr lang="en-GB" altLang="en-US" sz="3200" spc="0" dirty="0">
                <a:solidFill>
                  <a:srgbClr val="000000"/>
                </a:solidFill>
                <a:effectLst/>
              </a:rPr>
              <a:t>S Project: </a:t>
            </a:r>
            <a:r>
              <a:rPr lang="en-GB" altLang="en-US" sz="2800" spc="0" dirty="0">
                <a:solidFill>
                  <a:srgbClr val="000000"/>
                </a:solidFill>
                <a:effectLst/>
              </a:rPr>
              <a:t>Domain Model Class Diagrams</a:t>
            </a:r>
            <a:endParaRPr lang="en-US" altLang="en-US" sz="2800" spc="0" dirty="0">
              <a:solidFill>
                <a:schemeClr val="tx1"/>
              </a:solidFill>
              <a:effectLst/>
            </a:endParaRPr>
          </a:p>
        </p:txBody>
      </p:sp>
      <p:sp>
        <p:nvSpPr>
          <p:cNvPr id="2" name="Content Placeholder 1"/>
          <p:cNvSpPr>
            <a:spLocks noGrp="1"/>
          </p:cNvSpPr>
          <p:nvPr>
            <p:ph idx="1"/>
          </p:nvPr>
        </p:nvSpPr>
        <p:spPr>
          <a:xfrm>
            <a:off x="363908" y="1258363"/>
            <a:ext cx="8382000" cy="3965188"/>
          </a:xfrm>
        </p:spPr>
        <p:txBody>
          <a:bodyPr/>
          <a:lstStyle/>
          <a:p>
            <a:r>
              <a:rPr lang="en-GB" altLang="en-US" sz="2400" dirty="0"/>
              <a:t>Given the complete R</a:t>
            </a:r>
            <a:r>
              <a:rPr lang="en-GB" altLang="en-US" sz="100" dirty="0"/>
              <a:t> </a:t>
            </a:r>
            <a:r>
              <a:rPr lang="en-GB" altLang="en-US" sz="2400" dirty="0"/>
              <a:t>M</a:t>
            </a:r>
            <a:r>
              <a:rPr lang="en-GB" altLang="en-US" sz="100" dirty="0"/>
              <a:t> </a:t>
            </a:r>
            <a:r>
              <a:rPr lang="en-GB" altLang="en-US" sz="2400" dirty="0"/>
              <a:t>O C</a:t>
            </a:r>
            <a:r>
              <a:rPr lang="en-GB" altLang="en-US" sz="100" dirty="0"/>
              <a:t> </a:t>
            </a:r>
            <a:r>
              <a:rPr lang="en-GB" altLang="en-US" sz="2400" dirty="0"/>
              <a:t>S</a:t>
            </a:r>
            <a:r>
              <a:rPr lang="en-GB" altLang="en-US" sz="100" dirty="0"/>
              <a:t> </a:t>
            </a:r>
            <a:r>
              <a:rPr lang="en-GB" altLang="en-US" sz="2400" dirty="0"/>
              <a:t>M</a:t>
            </a:r>
            <a:r>
              <a:rPr lang="en-GB" altLang="en-US" sz="100" dirty="0"/>
              <a:t> </a:t>
            </a:r>
            <a:r>
              <a:rPr lang="en-GB" altLang="en-US" sz="2400" dirty="0"/>
              <a:t>S Domain Model Class Diagram and Sales and Customer Account subsystem examples:</a:t>
            </a:r>
          </a:p>
          <a:p>
            <a:pPr lvl="1">
              <a:spcBef>
                <a:spcPts val="1000"/>
              </a:spcBef>
            </a:pPr>
            <a:r>
              <a:rPr lang="en-GB" altLang="en-US" sz="2000" dirty="0"/>
              <a:t>Try completing the Order Fulfilment Subsystem Domain Model Class Diagram</a:t>
            </a:r>
          </a:p>
          <a:p>
            <a:pPr lvl="1">
              <a:spcBef>
                <a:spcPts val="1000"/>
              </a:spcBef>
            </a:pPr>
            <a:r>
              <a:rPr lang="en-GB" altLang="en-US" sz="2000" dirty="0"/>
              <a:t>Try Completing the Marketing Subsystem Domain Model Class Diagram</a:t>
            </a:r>
          </a:p>
          <a:p>
            <a:pPr lvl="1">
              <a:spcBef>
                <a:spcPts val="1000"/>
              </a:spcBef>
            </a:pPr>
            <a:r>
              <a:rPr lang="en-GB" altLang="en-US" sz="2000" dirty="0"/>
              <a:t>Try Completing the Reporting Subsystem Domain Model Class Diagram</a:t>
            </a:r>
          </a:p>
          <a:p>
            <a:r>
              <a:rPr lang="en-GB" altLang="en-US" sz="2400" dirty="0"/>
              <a:t>Review the use cases from Chapter 3 and decide what classes and associations from the complete model are required for each subsystem</a:t>
            </a:r>
          </a:p>
          <a:p>
            <a:pPr lvl="1">
              <a:spcBef>
                <a:spcPts val="1000"/>
              </a:spcBef>
            </a:pPr>
            <a:r>
              <a:rPr lang="en-GB" altLang="en-US" sz="2000" dirty="0"/>
              <a:t>Classes and associations might be duplicated in more than one subsystem model</a:t>
            </a:r>
          </a:p>
        </p:txBody>
      </p:sp>
      <p:sp>
        <p:nvSpPr>
          <p:cNvPr id="5" name="Slide Number Placeholder 5"/>
          <p:cNvSpPr>
            <a:spLocks noGrp="1"/>
          </p:cNvSpPr>
          <p:nvPr>
            <p:ph type="sldNum" sz="quarter" idx="4"/>
          </p:nvPr>
        </p:nvSpPr>
        <p:spPr>
          <a:prstGeom prst="rect">
            <a:avLst/>
          </a:prstGeom>
        </p:spPr>
        <p:txBody>
          <a:bodyPr/>
          <a:lstStyle/>
          <a:p>
            <a:fld id="{7097395D-FE1A-4038-BB3F-AEA95D1B11B3}" type="slidenum">
              <a:rPr lang="en-US" altLang="en-US"/>
              <a:pPr/>
              <a:t>43</a:t>
            </a:fld>
            <a:endParaRPr lang="en-US" altLang="en-US"/>
          </a:p>
        </p:txBody>
      </p:sp>
      <p:sp>
        <p:nvSpPr>
          <p:cNvPr id="4" name="Footer Placeholder 4"/>
          <p:cNvSpPr>
            <a:spLocks noGrp="1"/>
          </p:cNvSpPr>
          <p:nvPr>
            <p:ph type="ftr" sz="quarter" idx="3"/>
          </p:nvPr>
        </p:nvSpPr>
        <p:spPr>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a:xfrm>
            <a:off x="457200" y="101838"/>
            <a:ext cx="8382000" cy="609398"/>
          </a:xfrm>
        </p:spPr>
        <p:txBody>
          <a:bodyPr/>
          <a:lstStyle/>
          <a:p>
            <a:r>
              <a:rPr lang="en-US" altLang="en-US" sz="4400" spc="0" dirty="0">
                <a:solidFill>
                  <a:schemeClr val="tx1"/>
                </a:solidFill>
                <a:effectLst/>
              </a:rPr>
              <a:t>Summary </a:t>
            </a:r>
            <a:r>
              <a:rPr lang="en-US" altLang="en-US" sz="2000" spc="0" dirty="0">
                <a:solidFill>
                  <a:schemeClr val="tx1"/>
                </a:solidFill>
                <a:effectLst/>
              </a:rPr>
              <a:t>(1 of 2)</a:t>
            </a:r>
          </a:p>
        </p:txBody>
      </p:sp>
      <p:sp>
        <p:nvSpPr>
          <p:cNvPr id="2" name="Content Placeholder 1"/>
          <p:cNvSpPr>
            <a:spLocks noGrp="1"/>
          </p:cNvSpPr>
          <p:nvPr>
            <p:ph sz="half" idx="2"/>
          </p:nvPr>
        </p:nvSpPr>
        <p:spPr>
          <a:xfrm>
            <a:off x="372454" y="1236612"/>
            <a:ext cx="8382000" cy="4113947"/>
          </a:xfrm>
        </p:spPr>
        <p:txBody>
          <a:bodyPr/>
          <a:lstStyle/>
          <a:p>
            <a:pPr marL="352800" indent="-352800">
              <a:spcBef>
                <a:spcPts val="1000"/>
              </a:spcBef>
            </a:pPr>
            <a:r>
              <a:rPr lang="en-GB" altLang="en-US" sz="2600" dirty="0"/>
              <a:t>This chapter focuses on modeling functional requirements as a part of systems analysis</a:t>
            </a:r>
          </a:p>
          <a:p>
            <a:pPr marL="352800" indent="-352800">
              <a:spcBef>
                <a:spcPts val="1000"/>
              </a:spcBef>
            </a:pPr>
            <a:r>
              <a:rPr lang="en-GB" altLang="en-US" sz="2600" dirty="0"/>
              <a:t>“Things” in the problem domain are identified and modeled, called domain classes or data entities</a:t>
            </a:r>
          </a:p>
          <a:p>
            <a:pPr marL="352800" indent="-352800">
              <a:spcBef>
                <a:spcPts val="1000"/>
              </a:spcBef>
            </a:pPr>
            <a:r>
              <a:rPr lang="en-GB" altLang="en-US" sz="2600" dirty="0"/>
              <a:t>Two techniques for identifying domain classes/data entities are the brainstorming technique and the noun technique</a:t>
            </a:r>
          </a:p>
          <a:p>
            <a:pPr marL="352800" indent="-352800">
              <a:spcBef>
                <a:spcPts val="1000"/>
              </a:spcBef>
            </a:pPr>
            <a:r>
              <a:rPr lang="en-GB" altLang="en-US" sz="2600" dirty="0"/>
              <a:t>Domain classes have attributes and associations</a:t>
            </a:r>
          </a:p>
          <a:p>
            <a:pPr marL="352800" indent="-352800">
              <a:spcBef>
                <a:spcPts val="1000"/>
              </a:spcBef>
            </a:pPr>
            <a:r>
              <a:rPr lang="en-GB" altLang="en-US" sz="2600" dirty="0"/>
              <a:t>Associations are naturally occurring relationships among classes, and associations have minimum and maximum multiplicity</a:t>
            </a:r>
          </a:p>
        </p:txBody>
      </p:sp>
      <p:sp>
        <p:nvSpPr>
          <p:cNvPr id="6" name="Slide Number Placeholder 5"/>
          <p:cNvSpPr>
            <a:spLocks noGrp="1"/>
          </p:cNvSpPr>
          <p:nvPr>
            <p:ph type="sldNum" sz="quarter" idx="4"/>
          </p:nvPr>
        </p:nvSpPr>
        <p:spPr>
          <a:prstGeom prst="rect">
            <a:avLst/>
          </a:prstGeom>
        </p:spPr>
        <p:txBody>
          <a:bodyPr/>
          <a:lstStyle/>
          <a:p>
            <a:fld id="{E59C170C-9135-4BBD-BEEA-24C3BA1E13BE}" type="slidenum">
              <a:rPr lang="en-US" altLang="en-US"/>
              <a:pPr/>
              <a:t>44</a:t>
            </a:fld>
            <a:endParaRPr lang="en-US" altLang="en-US"/>
          </a:p>
        </p:txBody>
      </p:sp>
      <p:sp>
        <p:nvSpPr>
          <p:cNvPr id="5" name="Footer Placeholder 4"/>
          <p:cNvSpPr>
            <a:spLocks noGrp="1"/>
          </p:cNvSpPr>
          <p:nvPr>
            <p:ph type="ftr" sz="quarter" idx="3"/>
          </p:nvPr>
        </p:nvSpPr>
        <p:spPr>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a:xfrm>
            <a:off x="457200" y="96268"/>
            <a:ext cx="7543800" cy="609398"/>
          </a:xfrm>
        </p:spPr>
        <p:txBody>
          <a:bodyPr/>
          <a:lstStyle/>
          <a:p>
            <a:r>
              <a:rPr lang="en-US" altLang="en-US" sz="4400" spc="0" dirty="0">
                <a:solidFill>
                  <a:schemeClr val="tx1"/>
                </a:solidFill>
                <a:effectLst/>
              </a:rPr>
              <a:t>Summary </a:t>
            </a:r>
            <a:r>
              <a:rPr lang="en-US" altLang="en-US" sz="2000" spc="0" dirty="0">
                <a:solidFill>
                  <a:schemeClr val="tx1"/>
                </a:solidFill>
                <a:effectLst/>
              </a:rPr>
              <a:t>(2 of 2)</a:t>
            </a:r>
            <a:endParaRPr lang="en-US" altLang="en-US" sz="4400" spc="0" dirty="0">
              <a:solidFill>
                <a:schemeClr val="tx1"/>
              </a:solidFill>
              <a:effectLst/>
            </a:endParaRPr>
          </a:p>
        </p:txBody>
      </p:sp>
      <p:sp>
        <p:nvSpPr>
          <p:cNvPr id="340995" name="Rectangle 3"/>
          <p:cNvSpPr>
            <a:spLocks noGrp="1" noChangeArrowheads="1"/>
          </p:cNvSpPr>
          <p:nvPr>
            <p:ph idx="1"/>
          </p:nvPr>
        </p:nvSpPr>
        <p:spPr>
          <a:xfrm>
            <a:off x="372454" y="1252974"/>
            <a:ext cx="8619146" cy="4522264"/>
          </a:xfrm>
        </p:spPr>
        <p:txBody>
          <a:bodyPr/>
          <a:lstStyle/>
          <a:p>
            <a:pPr marL="352800" indent="-352800"/>
            <a:r>
              <a:rPr lang="en-GB" altLang="en-US" sz="2800" dirty="0"/>
              <a:t>The U</a:t>
            </a:r>
            <a:r>
              <a:rPr lang="en-GB" altLang="en-US" sz="100" dirty="0"/>
              <a:t> </a:t>
            </a:r>
            <a:r>
              <a:rPr lang="en-GB" altLang="en-US" sz="2800" dirty="0"/>
              <a:t>M</a:t>
            </a:r>
            <a:r>
              <a:rPr lang="en-GB" altLang="en-US" sz="100" dirty="0"/>
              <a:t> </a:t>
            </a:r>
            <a:r>
              <a:rPr lang="en-GB" altLang="en-US" sz="2800" dirty="0"/>
              <a:t>L class diagram notation is used to create a domain model class diagram for a system. The domain model classes do not have methods because they are not yet software classes.</a:t>
            </a:r>
          </a:p>
          <a:p>
            <a:pPr marL="352800" indent="-352800"/>
            <a:r>
              <a:rPr lang="en-GB" altLang="en-US" sz="2800" dirty="0"/>
              <a:t>There are actually three U</a:t>
            </a:r>
            <a:r>
              <a:rPr lang="en-GB" altLang="en-US" sz="100" dirty="0"/>
              <a:t> </a:t>
            </a:r>
            <a:r>
              <a:rPr lang="en-GB" altLang="en-US" sz="2800" dirty="0"/>
              <a:t>M</a:t>
            </a:r>
            <a:r>
              <a:rPr lang="en-GB" altLang="en-US" sz="100" dirty="0"/>
              <a:t> </a:t>
            </a:r>
            <a:r>
              <a:rPr lang="en-GB" altLang="en-US" sz="2800" dirty="0"/>
              <a:t>L class diagram relationships: association relationships, generalization/specialization (inheritance) relationships, and whole part relationships</a:t>
            </a:r>
          </a:p>
          <a:p>
            <a:pPr marL="352800" indent="-352800"/>
            <a:r>
              <a:rPr lang="en-GB" altLang="en-US" sz="2800" dirty="0"/>
              <a:t>Other class diagram concepts are abstract versus concrete classes, compound attributes, composition and aggregation, association classes, super classes and subclasses</a:t>
            </a:r>
          </a:p>
        </p:txBody>
      </p:sp>
      <p:sp>
        <p:nvSpPr>
          <p:cNvPr id="6" name="Slide Number Placeholder 5"/>
          <p:cNvSpPr>
            <a:spLocks noGrp="1"/>
          </p:cNvSpPr>
          <p:nvPr>
            <p:ph type="sldNum" sz="quarter" idx="4"/>
          </p:nvPr>
        </p:nvSpPr>
        <p:spPr>
          <a:xfrm>
            <a:off x="8001000" y="6248400"/>
            <a:ext cx="1143000" cy="457200"/>
          </a:xfrm>
          <a:prstGeom prst="rect">
            <a:avLst/>
          </a:prstGeom>
        </p:spPr>
        <p:txBody>
          <a:bodyPr/>
          <a:lstStyle/>
          <a:p>
            <a:fld id="{7FC513CD-63EE-4F1C-B022-BA76668C6F75}" type="slidenum">
              <a:rPr lang="en-US" altLang="en-US"/>
              <a:pPr/>
              <a:t>45</a:t>
            </a:fld>
            <a:endParaRPr lang="en-US" altLang="en-US"/>
          </a:p>
        </p:txBody>
      </p:sp>
      <p:sp>
        <p:nvSpPr>
          <p:cNvPr id="5" name="Footer Placeholder 4"/>
          <p:cNvSpPr>
            <a:spLocks noGrp="1"/>
          </p:cNvSpPr>
          <p:nvPr>
            <p:ph type="ftr" sz="quarter" idx="3"/>
          </p:nvPr>
        </p:nvSpPr>
        <p:spPr>
          <a:xfrm>
            <a:off x="0" y="6248400"/>
            <a:ext cx="7696200" cy="457200"/>
          </a:xfrm>
          <a:prstGeom prst="rect">
            <a:avLst/>
          </a:prstGeom>
        </p:spPr>
        <p:txBody>
          <a:bodyPr/>
          <a:lstStyle/>
          <a:p>
            <a:r>
              <a:rPr lang="en-US" altLang="en-US" dirty="0"/>
              <a:t>Systems Analysis and Design in a Changing World, 7th Edition – Chapter 4 ©2016. Cengage Learning. All rights reserved.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BlueShadeWithBar">
  <a:themeElements>
    <a:clrScheme name="White - blue accents template template">
      <a:dk1>
        <a:srgbClr val="000000"/>
      </a:dk1>
      <a:lt1>
        <a:srgbClr val="FFFFFF"/>
      </a:lt1>
      <a:dk2>
        <a:srgbClr val="1D4775"/>
      </a:dk2>
      <a:lt2>
        <a:srgbClr val="FEF194"/>
      </a:lt2>
      <a:accent1>
        <a:srgbClr val="FFC000"/>
      </a:accent1>
      <a:accent2>
        <a:srgbClr val="3497AE"/>
      </a:accent2>
      <a:accent3>
        <a:srgbClr val="DF8045"/>
      </a:accent3>
      <a:accent4>
        <a:srgbClr val="7DCC2E"/>
      </a:accent4>
      <a:accent5>
        <a:srgbClr val="FF9929"/>
      </a:accent5>
      <a:accent6>
        <a:srgbClr val="A061C3"/>
      </a:accent6>
      <a:hlink>
        <a:srgbClr val="1D4775"/>
      </a:hlink>
      <a:folHlink>
        <a:srgbClr val="1D477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chemeClr val="tx1"/>
            </a:solidFill>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extLst>
    <a:ext uri="{05A4C25C-085E-4340-85A3-A5531E510DB2}">
      <thm15:themeFamily xmlns:thm15="http://schemas.microsoft.com/office/thememl/2012/main" name="BlueShadeWithBar" id="{04066C2A-6173-4F54-AD2B-AFDA31B2A820}" vid="{70AC8400-E288-4A32-931A-110C32A5F7D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BlueShadeWithBar</Template>
  <TotalTime>5608</TotalTime>
  <Words>4033</Words>
  <Application>Microsoft Office PowerPoint</Application>
  <PresentationFormat>On-screen Show (4:3)</PresentationFormat>
  <Paragraphs>372</Paragraphs>
  <Slides>45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宋体</vt:lpstr>
      <vt:lpstr>Arial</vt:lpstr>
      <vt:lpstr>Calibri</vt:lpstr>
      <vt:lpstr>Wingdings</vt:lpstr>
      <vt:lpstr>BlueShadeWithBar</vt:lpstr>
      <vt:lpstr>Chapter 4</vt:lpstr>
      <vt:lpstr>Domain Modeling</vt:lpstr>
      <vt:lpstr>Chapter 4: Outline</vt:lpstr>
      <vt:lpstr>Learning Objectives</vt:lpstr>
      <vt:lpstr>Overview</vt:lpstr>
      <vt:lpstr>Things in the Problem Domain</vt:lpstr>
      <vt:lpstr>Things in the Problem Domain: Two Techniques for Identifying Them</vt:lpstr>
      <vt:lpstr>Brainstorming Technique</vt:lpstr>
      <vt:lpstr>Brainstorming Technique: Steps</vt:lpstr>
      <vt:lpstr>The Noun Technique</vt:lpstr>
      <vt:lpstr>The Noun Technique: Steps (1 of 3)</vt:lpstr>
      <vt:lpstr>The Noun Technique: Steps (2 of 3)</vt:lpstr>
      <vt:lpstr>The Noun Technique: Steps (3 of 3)</vt:lpstr>
      <vt:lpstr>Partial List of Nouns for R M O (1 of 2)</vt:lpstr>
      <vt:lpstr>Partial List of Nouns for R M O (2 of 2)</vt:lpstr>
      <vt:lpstr>Details about Domain Classes</vt:lpstr>
      <vt:lpstr>Attributes and Values</vt:lpstr>
      <vt:lpstr>Associations Among Things</vt:lpstr>
      <vt:lpstr>Just to Clarify…</vt:lpstr>
      <vt:lpstr>Minimum and Maximum Multiplicity</vt:lpstr>
      <vt:lpstr>Types of Associations</vt:lpstr>
      <vt:lpstr>The Domain Model Class Diagram</vt:lpstr>
      <vt:lpstr>U M L Domain Class Notation</vt:lpstr>
      <vt:lpstr>A Simple Domain Model Class Diagram</vt:lpstr>
      <vt:lpstr>U M L Notation for Multiplicity</vt:lpstr>
      <vt:lpstr>Domain Model Class Diagram (1 of 2)</vt:lpstr>
      <vt:lpstr>Domain Model Class Diagram (2 of 2)</vt:lpstr>
      <vt:lpstr>Refined Course Enrollment Model with an Association Class CourseEnrollment</vt:lpstr>
      <vt:lpstr>Association Class Properties</vt:lpstr>
      <vt:lpstr>Band with members and concerts</vt:lpstr>
      <vt:lpstr>Band with Concert Booking Information</vt:lpstr>
      <vt:lpstr>More Complex Issues about Classes: Generalization/Specialization Relationships</vt:lpstr>
      <vt:lpstr>Generalization/Specialization</vt:lpstr>
      <vt:lpstr>Generalization/Specialization: Inheritance for R M O Three Types of Sales</vt:lpstr>
      <vt:lpstr>Generalization/Specialization: Inheritance for the Bank with Special Types of Accounts</vt:lpstr>
      <vt:lpstr>More Complex Issues about Classes: Whole Part Relationships</vt:lpstr>
      <vt:lpstr>Whole Part Relationships: Computer and its Parts</vt:lpstr>
      <vt:lpstr>More on U M L Relationships</vt:lpstr>
      <vt:lpstr>R M O C S M S Project: Domain Model Class Diagrams</vt:lpstr>
      <vt:lpstr>R M O C S M S Project: Sales Subsystem Domain Model Class Diagrams</vt:lpstr>
      <vt:lpstr>R M O C S M S Project: Customer Account Subsystem Domain Model Class Diagram</vt:lpstr>
      <vt:lpstr>R M O C S M S Project: Complete Domain Model Class Diagram</vt:lpstr>
      <vt:lpstr>R M O C S M S Project: Domain Model Class Diagrams</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Ravi Vatrapu</cp:lastModifiedBy>
  <cp:revision>245</cp:revision>
  <cp:lastPrinted>1601-01-01T00:00:00Z</cp:lastPrinted>
  <dcterms:created xsi:type="dcterms:W3CDTF">2011-10-31T16:54:53Z</dcterms:created>
  <dcterms:modified xsi:type="dcterms:W3CDTF">2026-02-08T17:12:12Z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