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9" r:id="rId2"/>
  </p:sldMasterIdLst>
  <p:notesMasterIdLst>
    <p:notesMasterId r:id="rId21"/>
  </p:notesMasterIdLst>
  <p:sldIdLst>
    <p:sldId id="315" r:id="rId3"/>
    <p:sldId id="366" r:id="rId4"/>
    <p:sldId id="320" r:id="rId5"/>
    <p:sldId id="369" r:id="rId6"/>
    <p:sldId id="367" r:id="rId7"/>
    <p:sldId id="316" r:id="rId8"/>
    <p:sldId id="368" r:id="rId9"/>
    <p:sldId id="319" r:id="rId10"/>
    <p:sldId id="370" r:id="rId11"/>
    <p:sldId id="371" r:id="rId12"/>
    <p:sldId id="372" r:id="rId13"/>
    <p:sldId id="388" r:id="rId14"/>
    <p:sldId id="389" r:id="rId15"/>
    <p:sldId id="391" r:id="rId16"/>
    <p:sldId id="390" r:id="rId17"/>
    <p:sldId id="380" r:id="rId18"/>
    <p:sldId id="381" r:id="rId19"/>
    <p:sldId id="383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3A2791CC-50AC-417B-9E39-F133BBB7B5B4}">
          <p14:sldIdLst>
            <p14:sldId id="315"/>
          </p14:sldIdLst>
        </p14:section>
        <p14:section name="Untitled Section" id="{41727BEC-65AE-41CF-A3DF-B174440E0DE3}">
          <p14:sldIdLst>
            <p14:sldId id="366"/>
            <p14:sldId id="320"/>
            <p14:sldId id="369"/>
            <p14:sldId id="367"/>
            <p14:sldId id="316"/>
            <p14:sldId id="368"/>
            <p14:sldId id="319"/>
            <p14:sldId id="370"/>
            <p14:sldId id="371"/>
            <p14:sldId id="372"/>
            <p14:sldId id="388"/>
            <p14:sldId id="389"/>
            <p14:sldId id="391"/>
            <p14:sldId id="390"/>
            <p14:sldId id="380"/>
            <p14:sldId id="381"/>
            <p14:sldId id="3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CC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4" autoAdjust="0"/>
    <p:restoredTop sz="94759" autoAdjust="0"/>
  </p:normalViewPr>
  <p:slideViewPr>
    <p:cSldViewPr>
      <p:cViewPr varScale="1">
        <p:scale>
          <a:sx n="107" d="100"/>
          <a:sy n="107" d="100"/>
        </p:scale>
        <p:origin x="1479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757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57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57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757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92A6134-2479-41FD-BD9E-457934453F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01483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80357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0066FF"/>
                    </a:gs>
                    <a:gs pos="28000">
                      <a:srgbClr val="2E59B0"/>
                    </a:gs>
                    <a:gs pos="62000">
                      <a:srgbClr val="2B395F"/>
                    </a:gs>
                    <a:gs pos="88000">
                      <a:srgbClr val="00000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to…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79867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3BD0B2-4DCF-427C-BA49-77A489312D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53162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93772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3"/>
            <a:ext cx="4114800" cy="2129814"/>
          </a:xfrm>
        </p:spPr>
        <p:txBody>
          <a:bodyPr/>
          <a:lstStyle>
            <a:lvl1pPr marL="339976" indent="-339976">
              <a:lnSpc>
                <a:spcPct val="90000"/>
              </a:lnSpc>
              <a:defRPr sz="2800"/>
            </a:lvl1pPr>
            <a:lvl2pPr marL="673338" indent="-325424">
              <a:lnSpc>
                <a:spcPct val="90000"/>
              </a:lnSpc>
              <a:defRPr sz="2400"/>
            </a:lvl2pPr>
            <a:lvl3pPr marL="953785" indent="-288384">
              <a:lnSpc>
                <a:spcPct val="90000"/>
              </a:lnSpc>
              <a:defRPr sz="2000"/>
            </a:lvl3pPr>
            <a:lvl4pPr marL="1227618" indent="-273833">
              <a:lnSpc>
                <a:spcPct val="90000"/>
              </a:lnSpc>
              <a:defRPr sz="1800"/>
            </a:lvl4pPr>
            <a:lvl5pPr marL="1516002" indent="-280447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3"/>
            <a:ext cx="4114800" cy="2129814"/>
          </a:xfrm>
        </p:spPr>
        <p:txBody>
          <a:bodyPr/>
          <a:lstStyle>
            <a:lvl1pPr marL="347914" indent="-347914">
              <a:lnSpc>
                <a:spcPct val="90000"/>
              </a:lnSpc>
              <a:defRPr sz="2800"/>
            </a:lvl1pPr>
            <a:lvl2pPr marL="673338" indent="-339976">
              <a:lnSpc>
                <a:spcPct val="90000"/>
              </a:lnSpc>
              <a:defRPr sz="2400"/>
            </a:lvl2pPr>
            <a:lvl3pPr marL="961722" indent="-302936">
              <a:lnSpc>
                <a:spcPct val="90000"/>
              </a:lnSpc>
              <a:defRPr sz="2000"/>
            </a:lvl3pPr>
            <a:lvl4pPr marL="1227618" indent="-265896">
              <a:lnSpc>
                <a:spcPct val="90000"/>
              </a:lnSpc>
              <a:defRPr sz="1800"/>
            </a:lvl4pPr>
            <a:lvl5pPr marL="1516002" indent="-273833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35702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1553"/>
            <a:ext cx="4114800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5"/>
            <a:ext cx="4114800" cy="1537344"/>
          </a:xfrm>
        </p:spPr>
        <p:txBody>
          <a:bodyPr/>
          <a:lstStyle>
            <a:lvl1pPr marL="281770" indent="-281770">
              <a:defRPr sz="2300"/>
            </a:lvl1pPr>
            <a:lvl2pPr marL="562218" indent="-265896">
              <a:defRPr sz="2000"/>
            </a:lvl2pPr>
            <a:lvl3pPr marL="813562" indent="-243407">
              <a:defRPr sz="1800"/>
            </a:lvl3pPr>
            <a:lvl4pPr marL="1050354" indent="-228856">
              <a:defRPr sz="1700"/>
            </a:lvl4pPr>
            <a:lvl5pPr marL="1279210" indent="-206367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411553"/>
            <a:ext cx="4117019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117974" cy="1537344"/>
          </a:xfrm>
        </p:spPr>
        <p:txBody>
          <a:bodyPr/>
          <a:lstStyle>
            <a:lvl1pPr marL="296321" indent="-296321">
              <a:defRPr sz="2300"/>
            </a:lvl1pPr>
            <a:lvl2pPr marL="570155" indent="-273833">
              <a:defRPr sz="2000"/>
            </a:lvl2pPr>
            <a:lvl3pPr marL="821499" indent="-244730">
              <a:defRPr sz="1800"/>
            </a:lvl3pPr>
            <a:lvl4pPr marL="1050354" indent="-236793">
              <a:defRPr sz="1700"/>
            </a:lvl4pPr>
            <a:lvl5pPr marL="1279210" indent="-220919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60643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63784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26327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944369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bg bwMode="black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1pPr>
            <a:lvl2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2pPr>
            <a:lvl3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3pPr>
            <a:lvl4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4pPr>
            <a:lvl5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05428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bg bwMode="black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1pPr>
            <a:lvl2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2pPr>
            <a:lvl3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3pPr>
            <a:lvl4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4pPr>
            <a:lvl5pPr>
              <a:buClr>
                <a:srgbClr val="FFFFFF"/>
              </a:buClr>
              <a:buSzPct val="70000"/>
              <a:buFont typeface="Wingdings" pitchFamily="2" charset="2"/>
              <a:buChar char="l"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6238875"/>
            <a:ext cx="9144001" cy="619125"/>
          </a:xfrm>
          <a:solidFill>
            <a:srgbClr val="FFFF99"/>
          </a:solidFill>
        </p:spPr>
        <p:txBody>
          <a:bodyPr wrap="square" lIns="152394" tIns="76197" rIns="152394" bIns="76197" anchor="b" anchorCtr="0">
            <a:noAutofit/>
          </a:bodyPr>
          <a:lstStyle>
            <a:lvl1pPr algn="r">
              <a:buFont typeface="Arial" pitchFamily="34" charset="0"/>
              <a:buNone/>
              <a:defRPr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967017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0066FF"/>
                    </a:gs>
                    <a:gs pos="28000">
                      <a:srgbClr val="2E59B0"/>
                    </a:gs>
                    <a:gs pos="62000">
                      <a:srgbClr val="2B395F"/>
                    </a:gs>
                    <a:gs pos="88000">
                      <a:srgbClr val="00000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to…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47211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12192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28800" y="6248400"/>
            <a:ext cx="54864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Systems Analysis and Design in a Changing World, 7th edition – Chapter 5                                                      ©2016. Cengage Learning.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543800" y="6248400"/>
            <a:ext cx="1143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E475FA8-3BAE-4B5F-8EF2-A954FC4168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4169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12192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28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43800" y="6248400"/>
            <a:ext cx="1143000" cy="457200"/>
          </a:xfrm>
        </p:spPr>
        <p:txBody>
          <a:bodyPr/>
          <a:lstStyle>
            <a:lvl1pPr>
              <a:defRPr/>
            </a:lvl1pPr>
          </a:lstStyle>
          <a:p>
            <a:fld id="{C5356F4F-E7DF-424F-B4CD-C2C71F58F8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7468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e for slides with Softwar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22313" y="1905000"/>
            <a:ext cx="8040688" cy="193899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34691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5" descr="7-00029_BAK_v03TOP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0" y="6008687"/>
            <a:ext cx="9159875" cy="849313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0" y="6356350"/>
            <a:ext cx="6115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6300" y="6356350"/>
            <a:ext cx="590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C3BD0B2-4DCF-427C-BA49-77A489312D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377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11" r:id="rId14"/>
  </p:sldLayoutIdLst>
  <p:transition>
    <p:fade/>
  </p:transition>
  <p:hf hdr="0" dt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>
            <a:gsLst>
              <a:gs pos="0">
                <a:srgbClr val="2E59B0"/>
              </a:gs>
              <a:gs pos="49000">
                <a:srgbClr val="161D32"/>
              </a:gs>
              <a:gs pos="100000">
                <a:srgbClr val="000000"/>
              </a:gs>
            </a:gsLst>
            <a:lin ang="5400000" scaled="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9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9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9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9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ite rectangle.png"/>
          <p:cNvPicPr>
            <a:picLocks noChangeAspect="1"/>
          </p:cNvPicPr>
          <p:nvPr/>
        </p:nvPicPr>
        <p:blipFill>
          <a:blip r:embed="rId4"/>
          <a:srcRect b="10453"/>
          <a:stretch>
            <a:fillRect/>
          </a:stretch>
        </p:blipFill>
        <p:spPr>
          <a:xfrm>
            <a:off x="0" y="1299706"/>
            <a:ext cx="9144000" cy="555829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2" y="1905000"/>
            <a:ext cx="8040688" cy="2108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139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ransition>
    <p:fade/>
  </p:transition>
  <p:hf hdr="0" dt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25" dirty="0" smtClean="0">
          <a:ln w="3175">
            <a:noFill/>
          </a:ln>
          <a:gradFill>
            <a:gsLst>
              <a:gs pos="0">
                <a:srgbClr val="2E59B0"/>
              </a:gs>
              <a:gs pos="49000">
                <a:srgbClr val="161D32"/>
              </a:gs>
              <a:gs pos="100000">
                <a:srgbClr val="000000"/>
              </a:gs>
            </a:gsLst>
            <a:lin ang="5400000" scaled="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0" indent="0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30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1pPr>
      <a:lvl2pPr marL="384954" indent="-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8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2pPr>
      <a:lvl3pPr marL="761970" indent="-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3pPr>
      <a:lvl4pPr marL="1094009" indent="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4pPr>
      <a:lvl5pPr marL="1426047" indent="0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emf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r>
              <a:rPr lang="en-US" altLang="en-US" sz="3600"/>
              <a:t>Use Case Descriptions</a:t>
            </a:r>
          </a:p>
        </p:txBody>
      </p:sp>
      <p:sp>
        <p:nvSpPr>
          <p:cNvPr id="28262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229600" cy="91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Write a </a:t>
            </a:r>
            <a:r>
              <a:rPr lang="en-US" altLang="en-US" sz="2800" i="1"/>
              <a:t>brief description</a:t>
            </a:r>
            <a:r>
              <a:rPr lang="en-US" altLang="en-US" sz="2800"/>
              <a:t> as shown in Chapter 3 for most use cases. </a:t>
            </a:r>
            <a:endParaRPr lang="en-GB" altLang="en-US" sz="2800"/>
          </a:p>
        </p:txBody>
      </p:sp>
      <p:pic>
        <p:nvPicPr>
          <p:cNvPr id="2826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514600"/>
            <a:ext cx="8001000" cy="2763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r>
              <a:rPr lang="en-US" altLang="en-US" sz="3600"/>
              <a:t>Use Case Descriptions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990600"/>
            <a:ext cx="8229600" cy="453662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Write a </a:t>
            </a:r>
            <a:r>
              <a:rPr lang="en-US" altLang="en-US" sz="2400" i="1" dirty="0"/>
              <a:t>fully developed use case description</a:t>
            </a:r>
            <a:r>
              <a:rPr lang="en-US" altLang="en-US" sz="2400" dirty="0"/>
              <a:t> for more complex use cases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Typical use case description templates include: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200" dirty="0"/>
          </a:p>
          <a:p>
            <a:pPr lvl="1">
              <a:lnSpc>
                <a:spcPct val="80000"/>
              </a:lnSpc>
            </a:pPr>
            <a:r>
              <a:rPr lang="en-GB" altLang="en-US" sz="2000" dirty="0"/>
              <a:t>Use case name</a:t>
            </a:r>
          </a:p>
          <a:p>
            <a:pPr lvl="1">
              <a:lnSpc>
                <a:spcPct val="80000"/>
              </a:lnSpc>
            </a:pPr>
            <a:r>
              <a:rPr lang="en-GB" altLang="en-US" sz="2000" dirty="0"/>
              <a:t>Scenario (if needed)</a:t>
            </a:r>
          </a:p>
          <a:p>
            <a:pPr lvl="1">
              <a:lnSpc>
                <a:spcPct val="80000"/>
              </a:lnSpc>
            </a:pPr>
            <a:r>
              <a:rPr lang="en-GB" altLang="en-US" sz="2000" dirty="0"/>
              <a:t>Triggering event</a:t>
            </a:r>
          </a:p>
          <a:p>
            <a:pPr lvl="1">
              <a:lnSpc>
                <a:spcPct val="80000"/>
              </a:lnSpc>
            </a:pPr>
            <a:r>
              <a:rPr lang="en-GB" altLang="en-US" sz="2000" dirty="0"/>
              <a:t>Brief description</a:t>
            </a:r>
          </a:p>
          <a:p>
            <a:pPr lvl="1">
              <a:lnSpc>
                <a:spcPct val="80000"/>
              </a:lnSpc>
            </a:pPr>
            <a:r>
              <a:rPr lang="en-GB" altLang="en-US" sz="2000" dirty="0"/>
              <a:t>Actors</a:t>
            </a:r>
          </a:p>
          <a:p>
            <a:pPr lvl="1">
              <a:lnSpc>
                <a:spcPct val="80000"/>
              </a:lnSpc>
            </a:pPr>
            <a:r>
              <a:rPr lang="en-GB" altLang="en-US" sz="2000" dirty="0"/>
              <a:t>Related use cases (&lt;&lt;includes&gt;&gt; / &lt;&lt;extends&gt;&gt;)</a:t>
            </a:r>
          </a:p>
          <a:p>
            <a:pPr lvl="1">
              <a:lnSpc>
                <a:spcPct val="80000"/>
              </a:lnSpc>
            </a:pPr>
            <a:r>
              <a:rPr lang="en-GB" altLang="en-US" sz="2000" dirty="0"/>
              <a:t>Stakeholders</a:t>
            </a:r>
          </a:p>
          <a:p>
            <a:pPr lvl="1">
              <a:lnSpc>
                <a:spcPct val="80000"/>
              </a:lnSpc>
            </a:pPr>
            <a:r>
              <a:rPr lang="en-GB" altLang="en-US" sz="2000" dirty="0"/>
              <a:t>Preconditions</a:t>
            </a:r>
          </a:p>
          <a:p>
            <a:pPr lvl="1">
              <a:lnSpc>
                <a:spcPct val="80000"/>
              </a:lnSpc>
            </a:pPr>
            <a:r>
              <a:rPr lang="en-GB" altLang="en-US" sz="2000" dirty="0" err="1"/>
              <a:t>Postconditions</a:t>
            </a:r>
            <a:endParaRPr lang="en-GB" altLang="en-US" sz="2000" dirty="0"/>
          </a:p>
          <a:p>
            <a:pPr lvl="1">
              <a:lnSpc>
                <a:spcPct val="80000"/>
              </a:lnSpc>
            </a:pPr>
            <a:r>
              <a:rPr lang="en-GB" altLang="en-US" sz="2000" dirty="0"/>
              <a:t>Flow of activities</a:t>
            </a:r>
          </a:p>
          <a:p>
            <a:pPr lvl="1">
              <a:lnSpc>
                <a:spcPct val="80000"/>
              </a:lnSpc>
            </a:pPr>
            <a:r>
              <a:rPr lang="en-GB" altLang="en-US" sz="2000" dirty="0"/>
              <a:t>Exception conditions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Use Case Description Details</a:t>
            </a:r>
            <a:endParaRPr lang="en-US" altLang="en-US" sz="3200"/>
          </a:p>
        </p:txBody>
      </p:sp>
      <p:sp>
        <p:nvSpPr>
          <p:cNvPr id="2887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990600"/>
            <a:ext cx="8382000" cy="47593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800" dirty="0"/>
              <a:t>Use case name</a:t>
            </a:r>
          </a:p>
          <a:p>
            <a:pPr lvl="1">
              <a:lnSpc>
                <a:spcPct val="90000"/>
              </a:lnSpc>
            </a:pPr>
            <a:r>
              <a:rPr lang="en-GB" altLang="en-US" sz="2500" dirty="0"/>
              <a:t>Verb-noun</a:t>
            </a:r>
          </a:p>
          <a:p>
            <a:pPr>
              <a:lnSpc>
                <a:spcPct val="90000"/>
              </a:lnSpc>
            </a:pPr>
            <a:r>
              <a:rPr lang="en-GB" altLang="en-US" sz="2800" dirty="0"/>
              <a:t>Scenario (if needed)</a:t>
            </a:r>
          </a:p>
          <a:p>
            <a:pPr lvl="1">
              <a:lnSpc>
                <a:spcPct val="90000"/>
              </a:lnSpc>
            </a:pPr>
            <a:r>
              <a:rPr lang="en-GB" altLang="en-US" sz="2500" dirty="0"/>
              <a:t>A use case can have more than one scenario (special case or more specific path)</a:t>
            </a:r>
          </a:p>
          <a:p>
            <a:pPr>
              <a:lnSpc>
                <a:spcPct val="90000"/>
              </a:lnSpc>
            </a:pPr>
            <a:r>
              <a:rPr lang="en-GB" altLang="en-US" sz="2800" dirty="0"/>
              <a:t>Triggering event</a:t>
            </a:r>
          </a:p>
          <a:p>
            <a:pPr lvl="1">
              <a:lnSpc>
                <a:spcPct val="90000"/>
              </a:lnSpc>
            </a:pPr>
            <a:r>
              <a:rPr lang="en-GB" altLang="en-US" sz="2500" dirty="0"/>
              <a:t>Based on event decomposition technique</a:t>
            </a:r>
          </a:p>
          <a:p>
            <a:pPr>
              <a:lnSpc>
                <a:spcPct val="90000"/>
              </a:lnSpc>
            </a:pPr>
            <a:r>
              <a:rPr lang="en-GB" altLang="en-US" sz="2800" dirty="0"/>
              <a:t>Brief description</a:t>
            </a:r>
          </a:p>
          <a:p>
            <a:pPr lvl="1">
              <a:lnSpc>
                <a:spcPct val="90000"/>
              </a:lnSpc>
            </a:pPr>
            <a:r>
              <a:rPr lang="en-GB" altLang="en-US" sz="2500" dirty="0"/>
              <a:t>Written previously when use case was identified</a:t>
            </a:r>
          </a:p>
          <a:p>
            <a:pPr>
              <a:lnSpc>
                <a:spcPct val="90000"/>
              </a:lnSpc>
            </a:pPr>
            <a:r>
              <a:rPr lang="en-GB" altLang="en-US" sz="2800" dirty="0"/>
              <a:t>Actors</a:t>
            </a:r>
          </a:p>
          <a:p>
            <a:pPr lvl="1">
              <a:lnSpc>
                <a:spcPct val="90000"/>
              </a:lnSpc>
            </a:pPr>
            <a:r>
              <a:rPr lang="en-GB" altLang="en-US" dirty="0"/>
              <a:t>One or more users from use case diagrams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– Chapter 5                                                      ©2016. Cengage Learning.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17A830-C71C-4188-953F-A3B44CB94184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Use Case Description Details</a:t>
            </a:r>
            <a:endParaRPr lang="en-US" altLang="en-US" sz="3200"/>
          </a:p>
        </p:txBody>
      </p:sp>
      <p:sp>
        <p:nvSpPr>
          <p:cNvPr id="3491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382000" cy="47593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altLang="en-US" sz="2600" dirty="0"/>
              <a:t>Related use cases &lt;&lt;includes&gt;&gt;, &lt;&lt;extends&gt;&gt;</a:t>
            </a:r>
          </a:p>
          <a:p>
            <a:pPr lvl="1">
              <a:lnSpc>
                <a:spcPct val="80000"/>
              </a:lnSpc>
            </a:pPr>
            <a:r>
              <a:rPr lang="en-GB" altLang="en-US" sz="2200" dirty="0"/>
              <a:t>If one use case invokes another</a:t>
            </a:r>
          </a:p>
          <a:p>
            <a:pPr>
              <a:lnSpc>
                <a:spcPct val="80000"/>
              </a:lnSpc>
            </a:pPr>
            <a:r>
              <a:rPr lang="en-GB" altLang="en-US" sz="2600" dirty="0"/>
              <a:t>Stakeholders</a:t>
            </a:r>
          </a:p>
          <a:p>
            <a:pPr lvl="1">
              <a:lnSpc>
                <a:spcPct val="80000"/>
              </a:lnSpc>
            </a:pPr>
            <a:r>
              <a:rPr lang="en-GB" altLang="en-US" sz="2200" dirty="0"/>
              <a:t>Anyone with an interest in the use case</a:t>
            </a:r>
          </a:p>
          <a:p>
            <a:pPr>
              <a:lnSpc>
                <a:spcPct val="80000"/>
              </a:lnSpc>
            </a:pPr>
            <a:r>
              <a:rPr lang="en-GB" altLang="en-US" sz="2600" dirty="0"/>
              <a:t>Preconditions</a:t>
            </a:r>
          </a:p>
          <a:p>
            <a:pPr lvl="1">
              <a:lnSpc>
                <a:spcPct val="80000"/>
              </a:lnSpc>
            </a:pPr>
            <a:r>
              <a:rPr lang="en-GB" altLang="en-US" sz="2200" dirty="0"/>
              <a:t>What must be true before the use case begins</a:t>
            </a:r>
          </a:p>
          <a:p>
            <a:pPr>
              <a:lnSpc>
                <a:spcPct val="80000"/>
              </a:lnSpc>
            </a:pPr>
            <a:r>
              <a:rPr lang="en-GB" altLang="en-US" sz="2600" dirty="0"/>
              <a:t>Post conditions</a:t>
            </a:r>
          </a:p>
          <a:p>
            <a:pPr lvl="1">
              <a:lnSpc>
                <a:spcPct val="80000"/>
              </a:lnSpc>
            </a:pPr>
            <a:r>
              <a:rPr lang="en-GB" altLang="en-US" sz="2200" dirty="0"/>
              <a:t>What must be true when the use case is completed</a:t>
            </a:r>
          </a:p>
          <a:p>
            <a:pPr lvl="1">
              <a:lnSpc>
                <a:spcPct val="80000"/>
              </a:lnSpc>
            </a:pPr>
            <a:r>
              <a:rPr lang="en-GB" altLang="en-US" sz="2200" dirty="0"/>
              <a:t>Use for planning test case expected results </a:t>
            </a:r>
          </a:p>
          <a:p>
            <a:pPr>
              <a:lnSpc>
                <a:spcPct val="80000"/>
              </a:lnSpc>
            </a:pPr>
            <a:r>
              <a:rPr lang="en-GB" altLang="en-US" sz="2600" dirty="0"/>
              <a:t>Flow of activities</a:t>
            </a:r>
          </a:p>
          <a:p>
            <a:pPr lvl="1">
              <a:lnSpc>
                <a:spcPct val="80000"/>
              </a:lnSpc>
            </a:pPr>
            <a:r>
              <a:rPr lang="en-GB" altLang="en-US" sz="2200" dirty="0"/>
              <a:t>The activities that go on between actor and the system</a:t>
            </a:r>
          </a:p>
          <a:p>
            <a:pPr>
              <a:lnSpc>
                <a:spcPct val="80000"/>
              </a:lnSpc>
            </a:pPr>
            <a:r>
              <a:rPr lang="en-GB" altLang="en-US" sz="2600" dirty="0"/>
              <a:t>Exception conditions</a:t>
            </a:r>
          </a:p>
          <a:p>
            <a:pPr lvl="1">
              <a:lnSpc>
                <a:spcPct val="80000"/>
              </a:lnSpc>
            </a:pPr>
            <a:r>
              <a:rPr lang="en-GB" altLang="en-US" sz="2200" dirty="0"/>
              <a:t>Where and what can go wrong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– Chapter 5                                                      ©2016. Cengage Learning.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17A830-C71C-4188-953F-A3B44CB94184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2667000" cy="3916363"/>
          </a:xfrm>
        </p:spPr>
        <p:txBody>
          <a:bodyPr/>
          <a:lstStyle/>
          <a:p>
            <a:r>
              <a:rPr lang="en-US" altLang="en-US" sz="3200"/>
              <a:t>Fully Developed Use Case Description</a:t>
            </a:r>
            <a:br>
              <a:rPr lang="en-US" altLang="en-US" sz="3200"/>
            </a:br>
            <a:br>
              <a:rPr lang="en-US" altLang="en-US" sz="3200"/>
            </a:br>
            <a:r>
              <a:rPr lang="en-US" altLang="en-US" sz="2400"/>
              <a:t>Use case:</a:t>
            </a:r>
            <a:r>
              <a:rPr lang="en-US" altLang="en-US" sz="3200"/>
              <a:t> </a:t>
            </a:r>
            <a:r>
              <a:rPr lang="en-US" altLang="en-US" sz="2400" i="1"/>
              <a:t>Create customer account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922" y="-19664"/>
            <a:ext cx="5903528" cy="6172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96962"/>
          </a:xfrm>
        </p:spPr>
        <p:txBody>
          <a:bodyPr/>
          <a:lstStyle/>
          <a:p>
            <a:r>
              <a:rPr lang="en-US" altLang="en-US" sz="3000"/>
              <a:t>Fully Developed Use Case Description </a:t>
            </a:r>
            <a:r>
              <a:rPr lang="en-US" altLang="en-US" sz="3000" i="1"/>
              <a:t>Create customer account</a:t>
            </a:r>
            <a:r>
              <a:rPr lang="en-US" altLang="en-US" sz="3000"/>
              <a:t> (part 1 )</a:t>
            </a:r>
          </a:p>
        </p:txBody>
      </p:sp>
      <p:pic>
        <p:nvPicPr>
          <p:cNvPr id="2836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8686800" cy="431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96962"/>
          </a:xfrm>
        </p:spPr>
        <p:txBody>
          <a:bodyPr/>
          <a:lstStyle/>
          <a:p>
            <a:r>
              <a:rPr lang="en-US" altLang="en-US" sz="3000"/>
              <a:t>Fully Developed Use Case Description </a:t>
            </a:r>
            <a:r>
              <a:rPr lang="en-US" altLang="en-US" sz="3000" i="1"/>
              <a:t>Create customer account</a:t>
            </a:r>
            <a:r>
              <a:rPr lang="en-US" altLang="en-US" sz="3000"/>
              <a:t> (part 2 )</a:t>
            </a:r>
          </a:p>
        </p:txBody>
      </p:sp>
      <p:pic>
        <p:nvPicPr>
          <p:cNvPr id="3471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8534400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30188"/>
            <a:ext cx="2743200" cy="2970212"/>
          </a:xfrm>
        </p:spPr>
        <p:txBody>
          <a:bodyPr/>
          <a:lstStyle/>
          <a:p>
            <a:r>
              <a:rPr lang="en-US" altLang="en-US" sz="3200" dirty="0"/>
              <a:t>Another Fully Developed Use Case Description Example</a:t>
            </a:r>
            <a:br>
              <a:rPr lang="en-US" altLang="en-US" sz="3200" dirty="0"/>
            </a:br>
            <a:br>
              <a:rPr lang="en-US" altLang="en-US" sz="3200" dirty="0"/>
            </a:br>
            <a:r>
              <a:rPr lang="en-US" altLang="en-US" sz="2400" dirty="0"/>
              <a:t>Use case</a:t>
            </a:r>
            <a:br>
              <a:rPr lang="en-US" altLang="en-US" sz="2400" dirty="0"/>
            </a:br>
            <a:r>
              <a:rPr lang="en-US" altLang="en-US" sz="2400" i="1" dirty="0"/>
              <a:t>Ship items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– Chapter 5                                                      ©2016. Cengage Learning.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17A830-C71C-4188-953F-A3B44CB94184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287752" name="Rectangle 8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3200400"/>
            <a:ext cx="8001000" cy="2971800"/>
          </a:xfrm>
          <a:noFill/>
          <a:ln/>
        </p:spPr>
        <p:txBody>
          <a:bodyPr/>
          <a:lstStyle/>
          <a:p>
            <a:endParaRPr lang="en-GB" altLang="en-US" sz="2600" dirty="0"/>
          </a:p>
          <a:p>
            <a:endParaRPr lang="en-GB" altLang="en-US" sz="2800" dirty="0"/>
          </a:p>
        </p:txBody>
      </p:sp>
      <p:sp>
        <p:nvSpPr>
          <p:cNvPr id="287753" name="Rectangle 9"/>
          <p:cNvSpPr>
            <a:spLocks noChangeArrowheads="1"/>
          </p:cNvSpPr>
          <p:nvPr/>
        </p:nvSpPr>
        <p:spPr bwMode="auto">
          <a:xfrm>
            <a:off x="609600" y="1600200"/>
            <a:ext cx="80010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endParaRPr lang="en-GB" altLang="en-US" sz="28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1134"/>
            <a:ext cx="5509526" cy="613156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30997"/>
          </a:xfrm>
        </p:spPr>
        <p:txBody>
          <a:bodyPr/>
          <a:lstStyle/>
          <a:p>
            <a:r>
              <a:rPr lang="en-US" altLang="en-US" sz="3000" dirty="0"/>
              <a:t>Fully Developed Use Case Description  </a:t>
            </a:r>
            <a:br>
              <a:rPr lang="en-US" altLang="en-US" sz="3000" dirty="0"/>
            </a:br>
            <a:r>
              <a:rPr lang="en-US" altLang="en-US" sz="3000" i="1" dirty="0"/>
              <a:t>Ship items</a:t>
            </a:r>
            <a:r>
              <a:rPr lang="en-US" altLang="en-US" sz="3000" dirty="0"/>
              <a:t> (part 1 )</a:t>
            </a:r>
          </a:p>
        </p:txBody>
      </p:sp>
      <p:pic>
        <p:nvPicPr>
          <p:cNvPr id="3502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8610600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30997"/>
          </a:xfrm>
        </p:spPr>
        <p:txBody>
          <a:bodyPr/>
          <a:lstStyle/>
          <a:p>
            <a:r>
              <a:rPr lang="en-US" altLang="en-US" sz="3000" dirty="0"/>
              <a:t>Fully Developed Use Case Description </a:t>
            </a:r>
            <a:br>
              <a:rPr lang="en-US" altLang="en-US" sz="3000" dirty="0"/>
            </a:br>
            <a:r>
              <a:rPr lang="en-US" altLang="en-US" sz="3000" i="1" dirty="0"/>
              <a:t>Ship items</a:t>
            </a:r>
            <a:r>
              <a:rPr lang="en-US" altLang="en-US" sz="3000" dirty="0"/>
              <a:t> (part 2 )</a:t>
            </a:r>
          </a:p>
        </p:txBody>
      </p:sp>
      <p:pic>
        <p:nvPicPr>
          <p:cNvPr id="3512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14400"/>
            <a:ext cx="8305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0" y="6246812"/>
            <a:ext cx="4514669" cy="611188"/>
          </a:xfrm>
        </p:spPr>
        <p:txBody>
          <a:bodyPr/>
          <a:lstStyle/>
          <a:p>
            <a:r>
              <a:rPr lang="en-US" altLang="en-US" dirty="0"/>
              <a:t>Systems Analysis and Design in a Changing World, 6th Edition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62D1F3AD-F42E-4399-814D-A0FC92D17066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Documenting Workflows with Activity Diagrams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67112"/>
            <a:ext cx="8229600" cy="4191000"/>
          </a:xfrm>
        </p:spPr>
        <p:txBody>
          <a:bodyPr/>
          <a:lstStyle/>
          <a:p>
            <a:r>
              <a:rPr lang="en-US" sz="2800" dirty="0"/>
              <a:t>Workflow– sequence of processing steps that completely handles one business transaction or customer request</a:t>
            </a:r>
          </a:p>
          <a:p>
            <a:r>
              <a:rPr lang="en-US" sz="2800" dirty="0"/>
              <a:t>Activity Diagram– describes user and system activities, the actor who does each activity, and the sequential flow of these activities</a:t>
            </a:r>
          </a:p>
          <a:p>
            <a:pPr lvl="1"/>
            <a:r>
              <a:rPr lang="en-US" sz="2400" dirty="0"/>
              <a:t>Useful for showing a graphical model of a workflow</a:t>
            </a:r>
          </a:p>
          <a:p>
            <a:pPr lvl="1"/>
            <a:r>
              <a:rPr lang="en-US" sz="2400" dirty="0"/>
              <a:t>A UML diagram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6083112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12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1000"/>
            <a:ext cx="3359187" cy="2493480"/>
          </a:xfrm>
          <a:prstGeom prst="rect">
            <a:avLst/>
          </a:prstGeom>
        </p:spPr>
      </p:pic>
      <p:sp>
        <p:nvSpPr>
          <p:cNvPr id="5" name="Content Placeholder 4"/>
          <p:cNvSpPr txBox="1">
            <a:spLocks/>
          </p:cNvSpPr>
          <p:nvPr/>
        </p:nvSpPr>
        <p:spPr>
          <a:xfrm>
            <a:off x="237836" y="3227387"/>
            <a:ext cx="3495964" cy="874085"/>
          </a:xfrm>
          <a:prstGeom prst="rect">
            <a:avLst/>
          </a:prstGeo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3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4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8888" indent="-344488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4963" indent="-3460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1513" indent="-33655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400"/>
              <a:t>Note: this shows flow of activities only</a:t>
            </a:r>
          </a:p>
          <a:p>
            <a:pPr marL="0" indent="0" fontAlgn="auto">
              <a:spcAft>
                <a:spcPts val="0"/>
              </a:spcAft>
              <a:buFontTx/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0"/>
            <a:ext cx="4385869" cy="592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7366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Systems Analysis and Design in a Changing World, 7th edition – Chapter 5                                                      ©2016. Cengage Learning.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Title 5"/>
          <p:cNvSpPr txBox="1">
            <a:spLocks/>
          </p:cNvSpPr>
          <p:nvPr/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/>
          <a:lstStyle>
            <a:lvl1pPr algn="l" defTabSz="9143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50" dirty="0" smtClean="0">
                <a:ln w="3175">
                  <a:noFill/>
                </a:ln>
                <a:gradFill>
                  <a:gsLst>
                    <a:gs pos="0">
                      <a:srgbClr val="2E59B0"/>
                    </a:gs>
                    <a:gs pos="49000">
                      <a:srgbClr val="161D32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Arial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600"/>
              <a:t>Activity Diagram for </a:t>
            </a:r>
            <a:br>
              <a:rPr lang="en-US" sz="3600"/>
            </a:br>
            <a:r>
              <a:rPr lang="en-US" sz="3600" i="1"/>
              <a:t>Ship Items </a:t>
            </a:r>
            <a:r>
              <a:rPr lang="en-US" sz="3600"/>
              <a:t>Use Case</a:t>
            </a:r>
          </a:p>
        </p:txBody>
      </p:sp>
      <p:sp>
        <p:nvSpPr>
          <p:cNvPr id="5" name="Content Placeholder 7"/>
          <p:cNvSpPr txBox="1">
            <a:spLocks/>
          </p:cNvSpPr>
          <p:nvPr/>
        </p:nvSpPr>
        <p:spPr>
          <a:xfrm>
            <a:off x="381000" y="1412874"/>
            <a:ext cx="3352800" cy="1477328"/>
          </a:xfrm>
          <a:prstGeom prst="rect">
            <a:avLst/>
          </a:prstGeo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8888" indent="-344488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4963" indent="-3460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1513" indent="-33655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400"/>
              <a:t>Note:</a:t>
            </a:r>
          </a:p>
          <a:p>
            <a:pPr lvl="1" fontAlgn="auto">
              <a:spcAft>
                <a:spcPts val="0"/>
              </a:spcAft>
            </a:pPr>
            <a:r>
              <a:rPr lang="en-US" sz="2400"/>
              <a:t>Synchronization bar for loop</a:t>
            </a:r>
          </a:p>
          <a:p>
            <a:pPr lvl="1" fontAlgn="auto">
              <a:spcAft>
                <a:spcPts val="0"/>
              </a:spcAft>
            </a:pPr>
            <a:r>
              <a:rPr lang="en-US" sz="2400"/>
              <a:t>Decision diamond</a:t>
            </a:r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352" y="-31955"/>
            <a:ext cx="4849369" cy="605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7237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FD33A-AA15-42F7-9561-26271F24114C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627" y="309563"/>
            <a:ext cx="5486400" cy="628650"/>
          </a:xfrm>
        </p:spPr>
        <p:txBody>
          <a:bodyPr>
            <a:normAutofit/>
          </a:bodyPr>
          <a:lstStyle/>
          <a:p>
            <a:r>
              <a:rPr lang="en-US" sz="2400" dirty="0"/>
              <a:t>Use Case Diagrams</a:t>
            </a:r>
            <a:br>
              <a:rPr lang="en-US" sz="2400" dirty="0"/>
            </a:br>
            <a:r>
              <a:rPr lang="en-US" sz="1800" dirty="0"/>
              <a:t>The &lt;&lt;Includes&gt;&gt;/&lt;&lt;excludes&gt;&gt; relationships</a:t>
            </a:r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428625" indent="-428625"/>
            <a:endParaRPr lang="en-GB" sz="1800"/>
          </a:p>
          <a:p>
            <a:pPr marL="428625" indent="-428625"/>
            <a:endParaRPr lang="en-GB"/>
          </a:p>
        </p:txBody>
      </p:sp>
      <p:sp>
        <p:nvSpPr>
          <p:cNvPr id="278532" name="Rectangle 4"/>
          <p:cNvSpPr>
            <a:spLocks noChangeArrowheads="1"/>
          </p:cNvSpPr>
          <p:nvPr/>
        </p:nvSpPr>
        <p:spPr bwMode="auto">
          <a:xfrm>
            <a:off x="1600200" y="2000250"/>
            <a:ext cx="6172200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71500" indent="-5715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39788" indent="-4953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31888" indent="-4381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0013" indent="-3810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63700" indent="-3810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1209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781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0353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925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endParaRPr lang="en-GB" sz="1800"/>
          </a:p>
        </p:txBody>
      </p:sp>
      <p:sp>
        <p:nvSpPr>
          <p:cNvPr id="278535" name="Rectangle 7"/>
          <p:cNvSpPr>
            <a:spLocks noChangeArrowheads="1"/>
          </p:cNvSpPr>
          <p:nvPr/>
        </p:nvSpPr>
        <p:spPr bwMode="auto">
          <a:xfrm>
            <a:off x="838200" y="985838"/>
            <a:ext cx="56007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71500" indent="-5715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39788" indent="-4953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31888" indent="-4381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0013" indent="-3810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63700" indent="-3810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1209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781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0353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925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GB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E70191-5E9C-4D04-8A3F-A2D97C8DF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1114425"/>
            <a:ext cx="69723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51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27812"/>
            <a:ext cx="6115050" cy="93663"/>
          </a:xfrm>
        </p:spPr>
        <p:txBody>
          <a:bodyPr/>
          <a:lstStyle/>
          <a:p>
            <a:r>
              <a:rPr lang="en-US" dirty="0"/>
              <a:t>Systems Analysis and Design in a Changing World, 7th edition – Chapter 5                                                      ©2016. Cengage Learning.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BD0B2-4DCF-427C-BA49-77A489312DD0}" type="slidenum">
              <a:rPr lang="en-US" smtClean="0"/>
              <a:t>15</a:t>
            </a:fld>
            <a:endParaRPr 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381000" y="230188"/>
            <a:ext cx="2971800" cy="2492990"/>
          </a:xfrm>
          <a:prstGeom prst="rect">
            <a:avLst/>
          </a:prstGeom>
        </p:spPr>
        <p:txBody>
          <a:bodyPr/>
          <a:lstStyle>
            <a:lvl1pPr algn="l" defTabSz="9143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50" dirty="0" smtClean="0">
                <a:ln w="3175">
                  <a:noFill/>
                </a:ln>
                <a:gradFill>
                  <a:gsLst>
                    <a:gs pos="0">
                      <a:srgbClr val="2E59B0"/>
                    </a:gs>
                    <a:gs pos="49000">
                      <a:srgbClr val="161D32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Arial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sz="3200"/>
              <a:t>UML Activity Diagram for Use Case</a:t>
            </a:r>
            <a:br>
              <a:rPr lang="en-US" altLang="en-US" sz="3200"/>
            </a:br>
            <a:br>
              <a:rPr lang="en-US" altLang="en-US" sz="3200"/>
            </a:br>
            <a:r>
              <a:rPr lang="en-US" altLang="en-US" sz="2800" i="1"/>
              <a:t>Fill shopping cart</a:t>
            </a:r>
            <a:br>
              <a:rPr lang="en-US" altLang="en-US" sz="2800"/>
            </a:br>
            <a:endParaRPr lang="en-US" altLang="en-US" sz="2400" i="1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51270" y="2706186"/>
            <a:ext cx="2743200" cy="2323014"/>
          </a:xfrm>
          <a:prstGeom prst="rect">
            <a:avLst/>
          </a:prstGeom>
          <a:noFill/>
          <a:ln/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8888" indent="-344488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4963" indent="-3460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1513" indent="-33655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lang="en-GB" altLang="en-US" sz="2600" dirty="0"/>
          </a:p>
          <a:p>
            <a:pPr fontAlgn="auto">
              <a:spcAft>
                <a:spcPts val="0"/>
              </a:spcAft>
            </a:pPr>
            <a:r>
              <a:rPr lang="en-GB" altLang="en-US" sz="2400" dirty="0"/>
              <a:t>Note: this shows a use case with &lt;&lt;includes&gt;&gt; and &lt;&lt;extends&gt;&gt; relationships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CE7717-0B12-4B49-A6BC-ADB40F0BB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-25400"/>
            <a:ext cx="4769175" cy="612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6848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CDF1B4-2A87-40B3-A470-038CFF0B6AB2}" type="slidenum">
              <a:rPr lang="en-US"/>
              <a:pPr/>
              <a:t>16</a:t>
            </a:fld>
            <a:endParaRPr 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When to Use Activity Diagrams</a:t>
            </a:r>
            <a:r>
              <a:rPr lang="en-US"/>
              <a:t>   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458200" cy="304391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>
                <a:latin typeface="ArialMT" charset="0"/>
              </a:rPr>
              <a:t>The main reason  to use activity diagrams is to model the workflow behind the system being  designed.</a:t>
            </a:r>
            <a:r>
              <a:rPr lang="en-US" sz="2000" dirty="0"/>
              <a:t> </a:t>
            </a:r>
            <a:r>
              <a:rPr lang="en-US" sz="2000" dirty="0">
                <a:latin typeface="ArialMT" charset="0"/>
              </a:rPr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dirty="0">
              <a:latin typeface="ArialMT" charset="0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latin typeface="ArialMT" charset="0"/>
              </a:rPr>
              <a:t>Activity Diagrams are also useful for: 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ArialMT" charset="0"/>
              </a:rPr>
              <a:t>analyzing a use case by describing what actions need to take place and when they should occur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ArialMT" charset="0"/>
              </a:rPr>
              <a:t>describing a complicated sequential algorithm</a:t>
            </a:r>
            <a:r>
              <a:rPr lang="en-US" sz="1800" dirty="0"/>
              <a:t> </a:t>
            </a:r>
            <a:r>
              <a:rPr lang="en-US" sz="1800" dirty="0">
                <a:latin typeface="ArialMT" charset="0"/>
              </a:rPr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dirty="0">
              <a:latin typeface="ArialMT" charset="0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latin typeface="ArialMT" charset="0"/>
              </a:rPr>
              <a:t>Activity diagrams do not give detail about how objects behave or how objects collaborate.</a:t>
            </a:r>
            <a:endParaRPr lang="en-US" sz="2000" dirty="0">
              <a:solidFill>
                <a:srgbClr val="0000EE"/>
              </a:solidFill>
              <a:latin typeface="Arial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58980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826D0A-C03D-440C-9ECF-8814F9F44BC4}" type="slidenum">
              <a:rPr lang="en-US"/>
              <a:pPr/>
              <a:t>17</a:t>
            </a:fld>
            <a:endParaRPr 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94986"/>
            <a:ext cx="8534400" cy="4191917"/>
          </a:xfrm>
        </p:spPr>
        <p:txBody>
          <a:bodyPr/>
          <a:lstStyle/>
          <a:p>
            <a:r>
              <a:rPr lang="en-US" dirty="0">
                <a:latin typeface="Times-Roman" charset="0"/>
              </a:rPr>
              <a:t>An </a:t>
            </a:r>
            <a:r>
              <a:rPr lang="en-US" i="1" dirty="0">
                <a:latin typeface="Times-Roman" charset="0"/>
              </a:rPr>
              <a:t>activity</a:t>
            </a:r>
            <a:r>
              <a:rPr lang="en-US" dirty="0">
                <a:latin typeface="Times-Roman" charset="0"/>
              </a:rPr>
              <a:t> is an ongoing execution of a step in a workflow (such as an operation or transaction)</a:t>
            </a:r>
          </a:p>
          <a:p>
            <a:pPr lvl="1"/>
            <a:r>
              <a:rPr lang="en-US" dirty="0">
                <a:latin typeface="Times-Roman" charset="0"/>
              </a:rPr>
              <a:t>Represented with a rounded rectangle. </a:t>
            </a:r>
          </a:p>
          <a:p>
            <a:pPr lvl="1"/>
            <a:r>
              <a:rPr lang="en-US" dirty="0">
                <a:latin typeface="Times-Roman" charset="0"/>
              </a:rPr>
              <a:t>Text in the activity box should represent an activity (verb phrase in present tense). </a:t>
            </a:r>
          </a:p>
          <a:p>
            <a:r>
              <a:rPr lang="en-US" dirty="0">
                <a:latin typeface="Times-Roman" charset="0"/>
              </a:rPr>
              <a:t>Swim lanes – the vertical columns where the activities of the actor and the system are shown</a:t>
            </a:r>
          </a:p>
          <a:p>
            <a:r>
              <a:rPr lang="en-US" dirty="0">
                <a:latin typeface="Times-Roman" charset="0"/>
              </a:rPr>
              <a:t>Process Flow – the sequence in which the activities occur</a:t>
            </a:r>
          </a:p>
        </p:txBody>
      </p:sp>
    </p:spTree>
    <p:extLst>
      <p:ext uri="{BB962C8B-B14F-4D97-AF65-F5344CB8AC3E}">
        <p14:creationId xmlns:p14="http://schemas.microsoft.com/office/powerpoint/2010/main" val="86383965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B40D5D-971A-48E7-BBB0-FE34B1944739}" type="slidenum">
              <a:rPr lang="en-US"/>
              <a:pPr/>
              <a:t>18</a:t>
            </a:fld>
            <a:endParaRPr 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How to Draw an Activity Diagram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574088" cy="257609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>
                <a:latin typeface="ArialMT" charset="0"/>
              </a:rPr>
              <a:t>Diagrams are read from top to bottom and have branches to describe conditions and parallel activities.</a:t>
            </a:r>
            <a:r>
              <a:rPr lang="en-US" sz="2000" dirty="0"/>
              <a:t> </a:t>
            </a:r>
            <a:r>
              <a:rPr lang="en-US" sz="2000" dirty="0">
                <a:latin typeface="ArialMT" charset="0"/>
              </a:rPr>
              <a:t> </a:t>
            </a:r>
            <a:endParaRPr lang="en-US" sz="1800" dirty="0">
              <a:latin typeface="ArialMT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sz="1800" dirty="0">
              <a:latin typeface="ArialMT" charset="0"/>
            </a:endParaRP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ArialMT" charset="0"/>
              </a:rPr>
              <a:t>A </a:t>
            </a:r>
            <a:r>
              <a:rPr lang="en-US" sz="1800" u="sng" dirty="0">
                <a:latin typeface="ArialMT" charset="0"/>
              </a:rPr>
              <a:t>branch</a:t>
            </a:r>
            <a:r>
              <a:rPr lang="en-US" sz="1800" dirty="0">
                <a:latin typeface="ArialMT" charset="0"/>
              </a:rPr>
              <a:t> describes what activities will take place based on a set of conditions.</a:t>
            </a:r>
            <a:r>
              <a:rPr lang="en-US" sz="1800" dirty="0"/>
              <a:t> </a:t>
            </a:r>
            <a:r>
              <a:rPr lang="en-US" sz="1800" dirty="0">
                <a:latin typeface="ArialMT" charset="0"/>
              </a:rPr>
              <a:t> 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sz="1800" dirty="0">
              <a:latin typeface="ArialMT" charset="0"/>
            </a:endParaRP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ArialMT" charset="0"/>
              </a:rPr>
              <a:t>All the YES/NO flows from branches will </a:t>
            </a:r>
            <a:r>
              <a:rPr lang="en-US" sz="1800" u="sng" dirty="0">
                <a:latin typeface="ArialMT" charset="0"/>
              </a:rPr>
              <a:t>merge</a:t>
            </a:r>
            <a:r>
              <a:rPr lang="en-US" sz="1800" dirty="0">
                <a:latin typeface="ArialMT" charset="0"/>
              </a:rPr>
              <a:t> together at some point to  indicate the end of the conditional behavior started by that  branch.</a:t>
            </a:r>
            <a:r>
              <a:rPr lang="en-US" sz="1800" dirty="0"/>
              <a:t> </a:t>
            </a:r>
            <a:endParaRPr lang="en-US" sz="1800" dirty="0">
              <a:latin typeface="ArialMT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sz="1800" dirty="0">
              <a:latin typeface="Arial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58093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lueShadeWithBar">
  <a:themeElements>
    <a:clrScheme name="Custom 2">
      <a:dk1>
        <a:sysClr val="windowText" lastClr="000000"/>
      </a:dk1>
      <a:lt1>
        <a:sysClr val="window" lastClr="FFFFFF"/>
      </a:lt1>
      <a:dk2>
        <a:srgbClr val="212121"/>
      </a:dk2>
      <a:lt2>
        <a:srgbClr val="A5A5A5"/>
      </a:lt2>
      <a:accent1>
        <a:srgbClr val="B68D1F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chemeClr val="tx1"/>
            </a:solidFill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lueShadeWithBar" id="{04066C2A-6173-4F54-AD2B-AFDA31B2A820}" vid="{70AC8400-E288-4A32-931A-110C32A5F7D1}"/>
    </a:ext>
  </a:extLst>
</a:theme>
</file>

<file path=ppt/theme/theme2.xml><?xml version="1.0" encoding="utf-8"?>
<a:theme xmlns:a="http://schemas.openxmlformats.org/drawingml/2006/main" name="White with Courier font for code slides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FF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09728" tIns="54864" rIns="109728" bIns="54864" numCol="1" rtlCol="0" anchor="ctr" anchorCtr="0" compatLnSpc="1">
        <a:prstTxWarp prst="textNoShape">
          <a:avLst/>
        </a:prstTxWarp>
      </a:bodyPr>
      <a:lstStyle>
        <a:defPPr marL="0" marR="0" indent="0" algn="ctr" defTabSz="10969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BlueShadeWithBar</Template>
  <TotalTime>6410</TotalTime>
  <Words>950</Words>
  <Application>Microsoft Office PowerPoint</Application>
  <PresentationFormat>On-screen Show (4:3)</PresentationFormat>
  <Paragraphs>115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ArialMT</vt:lpstr>
      <vt:lpstr>Calibri</vt:lpstr>
      <vt:lpstr>Courier New</vt:lpstr>
      <vt:lpstr>Times-Roman</vt:lpstr>
      <vt:lpstr>Wingdings</vt:lpstr>
      <vt:lpstr>BlueShadeWithBar</vt:lpstr>
      <vt:lpstr>White with Courier font for code slides</vt:lpstr>
      <vt:lpstr>Use Case Descriptions</vt:lpstr>
      <vt:lpstr>Use Case Descriptions</vt:lpstr>
      <vt:lpstr>Use Case Description Details</vt:lpstr>
      <vt:lpstr>Use Case Description Details</vt:lpstr>
      <vt:lpstr>Fully Developed Use Case Description  Use case: Create customer account</vt:lpstr>
      <vt:lpstr>Fully Developed Use Case Description Create customer account (part 1 )</vt:lpstr>
      <vt:lpstr>Fully Developed Use Case Description Create customer account (part 2 )</vt:lpstr>
      <vt:lpstr>Another Fully Developed Use Case Description Example  Use case Ship items</vt:lpstr>
      <vt:lpstr>Fully Developed Use Case Description   Ship items (part 1 )</vt:lpstr>
      <vt:lpstr>Fully Developed Use Case Description  Ship items (part 2 )</vt:lpstr>
      <vt:lpstr>Documenting Workflows with Activity Diagrams</vt:lpstr>
      <vt:lpstr>PowerPoint Presentation</vt:lpstr>
      <vt:lpstr>PowerPoint Presentation</vt:lpstr>
      <vt:lpstr>Use Case Diagrams The &lt;&lt;Includes&gt;&gt;/&lt;&lt;excludes&gt;&gt; relationships</vt:lpstr>
      <vt:lpstr>PowerPoint Presentation</vt:lpstr>
      <vt:lpstr>When to Use Activity Diagrams   </vt:lpstr>
      <vt:lpstr>Components</vt:lpstr>
      <vt:lpstr>How to Draw an Activity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From bla to bla</dc:title>
  <dc:creator>John</dc:creator>
  <cp:lastModifiedBy>Ravi Vatrapu</cp:lastModifiedBy>
  <cp:revision>142</cp:revision>
  <cp:lastPrinted>1601-01-01T00:00:00Z</cp:lastPrinted>
  <dcterms:created xsi:type="dcterms:W3CDTF">2011-10-31T16:54:53Z</dcterms:created>
  <dcterms:modified xsi:type="dcterms:W3CDTF">2026-02-01T16:15:23Z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4</vt:i4>
  </property>
</Properties>
</file>